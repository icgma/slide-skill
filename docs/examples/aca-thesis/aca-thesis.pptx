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3238500"/>
            <a:ext cx="7238999" cy="7238999"/>
          </a:xfrm>
          <a:prstGeom prst="ellipse">
            <a:avLst/>
          </a:prstGeom>
          <a:gradFill>
            <a:gsLst>
              <a:gs pos="0">
                <a:srgbClr val="4B0082"/>
              </a:gs>
              <a:gs pos="100000">
                <a:srgbClr val="4B008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33499" y="4000500"/>
            <a:ext cx="4952999" cy="4952999"/>
          </a:xfrm>
          <a:prstGeom prst="ellipse">
            <a:avLst/>
          </a:prstGeom>
          <a:gradFill>
            <a:gsLst>
              <a:gs pos="0">
                <a:srgbClr val="4B0082"/>
              </a:gs>
              <a:gs pos="100000">
                <a:srgbClr val="4B008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8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D4D0E8"/>
                </a:solidFill>
                <a:latin typeface="Cambria"/>
                <a:ea typeface="Songti SC"/>
              </a:rPr>
              <a:t>01 / 07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399" y="2362199"/>
            <a:ext cx="571499" cy="28575"/>
          </a:xfrm>
          <a:prstGeom prst="rect">
            <a:avLst/>
          </a:prstGeom>
          <a:gradFill>
            <a:gsLst>
              <a:gs pos="0">
                <a:srgbClr val="4B0082"/>
              </a:gs>
              <a:gs pos="100000">
                <a:srgbClr val="4B0082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299" y="2296667"/>
            <a:ext cx="100964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49" b="0">
                <a:solidFill>
                  <a:srgbClr val="4B0082"/>
                </a:solidFill>
                <a:latin typeface="Cambria"/>
                <a:ea typeface="Songti SC"/>
              </a:rPr>
              <a:t>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399" y="3000755"/>
            <a:ext cx="10820399" cy="4524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50" b="1">
                <a:solidFill>
                  <a:srgbClr val="1A1A2E"/>
                </a:solidFill>
                <a:latin typeface="Cambria"/>
                <a:ea typeface="Songti SC"/>
              </a:rPr>
              <a:t>毕业论文答辩 · 基于多模态融合的医疗影像辅助诊断研究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399" y="5943600"/>
            <a:ext cx="380999" cy="1905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9699" y="5895594"/>
            <a:ext cx="103250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D4D0E8"/>
                </a:solidFill>
                <a:latin typeface="Cambria"/>
                <a:ea typeface="Songti SC"/>
              </a:rPr>
              <a:t>07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4B0082"/>
              </a:gs>
              <a:gs pos="100000">
                <a:srgbClr val="4B008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4B0082"/>
              </a:gs>
              <a:gs pos="100000">
                <a:srgbClr val="4B008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8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D4D0E8"/>
                </a:solidFill>
                <a:latin typeface="Cambria"/>
                <a:ea typeface="Songti SC"/>
              </a:rPr>
              <a:t>02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648081"/>
            <a:ext cx="10820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>
                <a:solidFill>
                  <a:srgbClr val="4B0082"/>
                </a:solidFill>
                <a:latin typeface="Cambria"/>
                <a:ea typeface="Songti SC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9" y="747521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1A1A2E"/>
                </a:solidFill>
                <a:latin typeface="Cambria"/>
                <a:ea typeface="Songti SC"/>
              </a:rPr>
              <a:t>选题背景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399" y="1409699"/>
            <a:ext cx="761999" cy="381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1904999"/>
            <a:ext cx="3400424" cy="3619499"/>
          </a:xfrm>
          <a:prstGeom prst="roundRect">
            <a:avLst/>
          </a:prstGeom>
          <a:solidFill>
            <a:srgbClr val="F8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999" y="1904999"/>
            <a:ext cx="3400424" cy="5715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8699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4899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4B0082"/>
                </a:solidFill>
                <a:latin typeface="Cambria"/>
                <a:ea typeface="Songti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99" y="3288792"/>
            <a:ext cx="3009900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1A1A2E"/>
                </a:solidFill>
                <a:latin typeface="Cambria"/>
                <a:ea typeface="Songti SC"/>
              </a:rPr>
              <a:t>全球放射科医师缺口超过 20 万,中国基层</a:t>
            </a:r>
          </a:p>
          <a:p>
            <a:r>
              <a:rPr sz="1200" b="0">
                <a:solidFill>
                  <a:srgbClr val="1A1A2E"/>
                </a:solidFill>
                <a:latin typeface="Cambria"/>
                <a:ea typeface="Songti SC"/>
              </a:rPr>
              <a:t>尤其突出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90699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74557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4B0082"/>
                </a:solidFill>
                <a:latin typeface="Cambria"/>
                <a:ea typeface="Songti SC"/>
              </a:rPr>
              <a:t>POINT 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1024" y="1904999"/>
            <a:ext cx="3400424" cy="3619499"/>
          </a:xfrm>
          <a:prstGeom prst="roundRect">
            <a:avLst/>
          </a:prstGeom>
          <a:solidFill>
            <a:srgbClr val="F8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91024" y="1904999"/>
            <a:ext cx="3400424" cy="57150"/>
          </a:xfrm>
          <a:prstGeom prst="rect">
            <a:avLst/>
          </a:prstGeom>
          <a:solidFill>
            <a:srgbClr val="230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57724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3924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23005A"/>
                </a:solidFill>
                <a:latin typeface="Cambria"/>
                <a:ea typeface="Songti SC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9624" y="3288792"/>
            <a:ext cx="3047999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1A1A2E"/>
                </a:solidFill>
                <a:latin typeface="Cambria"/>
                <a:ea typeface="Songti SC"/>
              </a:rPr>
              <a:t>单模态深度学习模型在跨中心场景下泛化不</a:t>
            </a:r>
          </a:p>
          <a:p>
            <a:r>
              <a:rPr sz="1200" b="0">
                <a:solidFill>
                  <a:srgbClr val="1A1A2E"/>
                </a:solidFill>
                <a:latin typeface="Cambria"/>
                <a:ea typeface="Songti SC"/>
              </a:rPr>
              <a:t>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19724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3582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23005A"/>
                </a:solidFill>
                <a:latin typeface="Cambria"/>
                <a:ea typeface="Songti SC"/>
              </a:rPr>
              <a:t>POINT 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0049" y="1904999"/>
            <a:ext cx="3400424" cy="3619499"/>
          </a:xfrm>
          <a:prstGeom prst="roundRect">
            <a:avLst/>
          </a:prstGeom>
          <a:solidFill>
            <a:srgbClr val="F8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0049" y="1904999"/>
            <a:ext cx="3400424" cy="57150"/>
          </a:xfrm>
          <a:prstGeom prst="rect">
            <a:avLst/>
          </a:prstGeom>
          <a:solidFill>
            <a:srgbClr val="7D3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86749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2949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7D32B4"/>
                </a:solidFill>
                <a:latin typeface="Cambria"/>
                <a:ea typeface="Songti SC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8649" y="3288792"/>
            <a:ext cx="2956560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1A1A2E"/>
                </a:solidFill>
                <a:latin typeface="Cambria"/>
                <a:ea typeface="Songti SC"/>
              </a:rPr>
              <a:t>多模态(影像 + 文本 + 结构化数据)融合</a:t>
            </a:r>
          </a:p>
          <a:p>
            <a:r>
              <a:rPr sz="1200" b="0">
                <a:solidFill>
                  <a:srgbClr val="1A1A2E"/>
                </a:solidFill>
                <a:latin typeface="Cambria"/>
                <a:ea typeface="Songti SC"/>
              </a:rPr>
              <a:t>是下一个突破口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8749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32607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7D32B4"/>
                </a:solidFill>
                <a:latin typeface="Cambria"/>
                <a:ea typeface="Songti SC"/>
              </a:rPr>
              <a:t>POINT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4B0082"/>
              </a:gs>
              <a:gs pos="100000">
                <a:srgbClr val="4B008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4B0082"/>
              </a:gs>
              <a:gs pos="100000">
                <a:srgbClr val="4B008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8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D4D0E8"/>
                </a:solidFill>
                <a:latin typeface="Cambria"/>
                <a:ea typeface="Songti SC"/>
              </a:rPr>
              <a:t>03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648081"/>
            <a:ext cx="10820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>
                <a:solidFill>
                  <a:srgbClr val="4B0082"/>
                </a:solidFill>
                <a:latin typeface="Cambria"/>
                <a:ea typeface="Songti SC"/>
              </a:rPr>
              <a:t>研究问题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4899" y="1703069"/>
            <a:ext cx="2362199" cy="1904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999" b="1">
                <a:solidFill>
                  <a:srgbClr val="4B0082"/>
                </a:solidFill>
                <a:latin typeface="Georgia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1159" y="3034284"/>
            <a:ext cx="8869680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1A1A2E"/>
                </a:solidFill>
                <a:latin typeface="Cambria"/>
                <a:ea typeface="Songti SC"/>
              </a:rPr>
              <a:t>如何在标注稀缺场景下,构建可解释的多模态医疗影像诊断模型?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10249" y="3943350"/>
            <a:ext cx="571500" cy="0"/>
          </a:xfrm>
          <a:prstGeom prst="line">
            <a:avLst/>
          </a:prstGeom>
          <a:ln w="25400">
            <a:solidFill>
              <a:srgbClr val="4B0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4B0082"/>
              </a:gs>
              <a:gs pos="100000">
                <a:srgbClr val="4B008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4B0082"/>
              </a:gs>
              <a:gs pos="100000">
                <a:srgbClr val="4B008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8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D4D0E8"/>
                </a:solidFill>
                <a:latin typeface="Cambria"/>
                <a:ea typeface="Songti SC"/>
              </a:rPr>
              <a:t>04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1A1A2E"/>
                </a:solidFill>
                <a:latin typeface="Cambria"/>
                <a:ea typeface="Songti SC"/>
              </a:rPr>
              <a:t>方法与数据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485900"/>
            <a:ext cx="10667999" cy="2667000"/>
          </a:xfrm>
          <a:prstGeom prst="roundRect">
            <a:avLst/>
          </a:prstGeom>
          <a:gradFill>
            <a:gsLst>
              <a:gs pos="0">
                <a:srgbClr val="F8F6FF"/>
              </a:gs>
              <a:gs pos="100000">
                <a:srgbClr val="D4D0E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1999" y="1485900"/>
            <a:ext cx="38099" cy="26670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799" y="1674113"/>
            <a:ext cx="527018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3F3F5E"/>
                </a:solidFill>
                <a:latin typeface="Cambria"/>
                <a:ea typeface="Songti SC"/>
              </a:rPr>
              <a:t>1、数据收集:三家三甲医院 8.6 万例胸部 CT + 报告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799" y="2131314"/>
            <a:ext cx="455771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3F3F5E"/>
                </a:solidFill>
                <a:latin typeface="Cambria"/>
                <a:ea typeface="Songti SC"/>
              </a:rPr>
              <a:t>2、预处理:标准化窗宽窗位 + 文本结构化抽取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799" y="2588514"/>
            <a:ext cx="434816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3F3F5E"/>
                </a:solidFill>
                <a:latin typeface="Cambria"/>
                <a:ea typeface="Songti SC"/>
              </a:rPr>
              <a:t>3、模型设计:跨模态对比学习 + 弱监督引导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799" y="3045714"/>
            <a:ext cx="400240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3F3F5E"/>
                </a:solidFill>
                <a:latin typeface="Cambria"/>
                <a:ea typeface="Songti SC"/>
              </a:rPr>
              <a:t>4、可解释模块:基于注意力的病灶可视化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799" y="3502913"/>
            <a:ext cx="518636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3F3F5E"/>
                </a:solidFill>
                <a:latin typeface="Cambria"/>
                <a:ea typeface="Songti SC"/>
              </a:rPr>
              <a:t>5、评估方案:三家医院交叉验证 + 临床医师双盲评审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4B0082"/>
              </a:gs>
              <a:gs pos="100000">
                <a:srgbClr val="4B008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4B0082"/>
              </a:gs>
              <a:gs pos="100000">
                <a:srgbClr val="4B008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8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D4D0E8"/>
                </a:solidFill>
                <a:latin typeface="Cambria"/>
                <a:ea typeface="Songti SC"/>
              </a:rPr>
              <a:t>05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648081"/>
            <a:ext cx="10820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>
                <a:solidFill>
                  <a:srgbClr val="4B0082"/>
                </a:solidFill>
                <a:latin typeface="Cambria"/>
                <a:ea typeface="Songti SC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9" y="747521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1A1A2E"/>
                </a:solidFill>
                <a:latin typeface="Cambria"/>
                <a:ea typeface="Songti SC"/>
              </a:rPr>
              <a:t>核心创新点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399" y="1409699"/>
            <a:ext cx="761999" cy="381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1904999"/>
            <a:ext cx="3400424" cy="3619499"/>
          </a:xfrm>
          <a:prstGeom prst="roundRect">
            <a:avLst/>
          </a:prstGeom>
          <a:solidFill>
            <a:srgbClr val="F8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999" y="1904999"/>
            <a:ext cx="3400424" cy="5715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8699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4899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4B0082"/>
                </a:solidFill>
                <a:latin typeface="Cambria"/>
                <a:ea typeface="Songti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99" y="3288792"/>
            <a:ext cx="3025140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1A1A2E"/>
                </a:solidFill>
                <a:latin typeface="Cambria"/>
                <a:ea typeface="Songti SC"/>
              </a:rPr>
              <a:t>创新一:跨中心一致性约束损失函数(CCC-L</a:t>
            </a:r>
          </a:p>
          <a:p>
            <a:r>
              <a:rPr sz="1200" b="0">
                <a:solidFill>
                  <a:srgbClr val="1A1A2E"/>
                </a:solidFill>
                <a:latin typeface="Cambria"/>
                <a:ea typeface="Songti SC"/>
              </a:rPr>
              <a:t>oss)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90699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74557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4B0082"/>
                </a:solidFill>
                <a:latin typeface="Cambria"/>
                <a:ea typeface="Songti SC"/>
              </a:rPr>
              <a:t>POINT 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1024" y="1904999"/>
            <a:ext cx="3400424" cy="3619499"/>
          </a:xfrm>
          <a:prstGeom prst="roundRect">
            <a:avLst/>
          </a:prstGeom>
          <a:solidFill>
            <a:srgbClr val="F8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91024" y="1904999"/>
            <a:ext cx="3400424" cy="57150"/>
          </a:xfrm>
          <a:prstGeom prst="rect">
            <a:avLst/>
          </a:prstGeom>
          <a:solidFill>
            <a:srgbClr val="230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57724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3924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23005A"/>
                </a:solidFill>
                <a:latin typeface="Cambria"/>
                <a:ea typeface="Songti SC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9624" y="3288792"/>
            <a:ext cx="3063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1A1A2E"/>
                </a:solidFill>
                <a:latin typeface="Cambria"/>
                <a:ea typeface="Songti SC"/>
              </a:rPr>
              <a:t>创新二:文本-影像对齐的弱监督预训练范式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19724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3582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23005A"/>
                </a:solidFill>
                <a:latin typeface="Cambria"/>
                <a:ea typeface="Songti SC"/>
              </a:rPr>
              <a:t>POINT 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0049" y="1904999"/>
            <a:ext cx="3400424" cy="3619499"/>
          </a:xfrm>
          <a:prstGeom prst="roundRect">
            <a:avLst/>
          </a:prstGeom>
          <a:solidFill>
            <a:srgbClr val="F8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0049" y="1904999"/>
            <a:ext cx="3400424" cy="57150"/>
          </a:xfrm>
          <a:prstGeom prst="rect">
            <a:avLst/>
          </a:prstGeom>
          <a:solidFill>
            <a:srgbClr val="7D3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86749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2949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7D32B4"/>
                </a:solidFill>
                <a:latin typeface="Cambria"/>
                <a:ea typeface="Songti SC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8649" y="3288792"/>
            <a:ext cx="26746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1A1A2E"/>
                </a:solidFill>
                <a:latin typeface="Cambria"/>
                <a:ea typeface="Songti SC"/>
              </a:rPr>
              <a:t>创新三:面向临床的多粒度可解释输出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8749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32607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7D32B4"/>
                </a:solidFill>
                <a:latin typeface="Cambria"/>
                <a:ea typeface="Songti SC"/>
              </a:rPr>
              <a:t>POINT 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4B0082"/>
              </a:gs>
              <a:gs pos="100000">
                <a:srgbClr val="4B008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4B0082"/>
              </a:gs>
              <a:gs pos="100000">
                <a:srgbClr val="4B008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8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D4D0E8"/>
                </a:solidFill>
                <a:latin typeface="Cambria"/>
                <a:ea typeface="Songti SC"/>
              </a:rPr>
              <a:t>06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1A1A2E"/>
                </a:solidFill>
                <a:latin typeface="Cambria"/>
                <a:ea typeface="Songti SC"/>
              </a:rPr>
              <a:t>实验结果 vs 现有方法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600200"/>
            <a:ext cx="10667999" cy="3619499"/>
          </a:xfrm>
          <a:prstGeom prst="roundRect">
            <a:avLst/>
          </a:prstGeom>
          <a:gradFill>
            <a:gsLst>
              <a:gs pos="0">
                <a:srgbClr val="F8F6FF"/>
              </a:gs>
              <a:gs pos="100000">
                <a:srgbClr val="D4D0E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1600200"/>
            <a:ext cx="10667999" cy="57150"/>
          </a:xfrm>
          <a:prstGeom prst="round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67399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0082"/>
                </a:solidFill>
                <a:latin typeface="Cambria"/>
                <a:ea typeface="Songti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6349" y="2785110"/>
            <a:ext cx="20193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1A1A2E"/>
                </a:solidFill>
                <a:latin typeface="Cambria"/>
                <a:ea typeface="Songti SC"/>
              </a:rPr>
              <a:t>37%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79" y="4622292"/>
            <a:ext cx="405384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3F3F5E"/>
                </a:solidFill>
                <a:latin typeface="Cambria"/>
                <a:ea typeface="Songti SC"/>
              </a:rPr>
              <a:t>| 方法 | 指标 |</a:t>
            </a:r>
          </a:p>
          <a:p>
            <a:pPr algn="ctr"/>
            <a:r>
              <a:rPr sz="1200" b="0">
                <a:solidFill>
                  <a:srgbClr val="3F3F5E"/>
                </a:solidFill>
                <a:latin typeface="Cambria"/>
                <a:ea typeface="Songti SC"/>
              </a:rPr>
              <a:t>| ResNet50 单模态 | AUC 0.842,跨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4B0082"/>
              </a:gs>
              <a:gs pos="100000">
                <a:srgbClr val="4B008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4B0082"/>
              </a:gs>
              <a:gs pos="100000">
                <a:srgbClr val="4B008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8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D4D0E8"/>
                </a:solidFill>
                <a:latin typeface="Cambria"/>
                <a:ea typeface="Songti SC"/>
              </a:rPr>
              <a:t>07 / 07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91199" y="2381250"/>
            <a:ext cx="609600" cy="0"/>
          </a:xfrm>
          <a:prstGeom prst="line">
            <a:avLst/>
          </a:prstGeom>
          <a:ln w="25400">
            <a:solidFill>
              <a:srgbClr val="4B0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52899" y="2547366"/>
            <a:ext cx="3886200" cy="809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99" b="1">
                <a:solidFill>
                  <a:srgbClr val="1A1A2E"/>
                </a:solidFill>
                <a:latin typeface="Cambria"/>
                <a:ea typeface="Songti SC"/>
              </a:rPr>
              <a:t>不足与展望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1317" y="3521964"/>
            <a:ext cx="634936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3F3F5E"/>
                </a:solidFill>
                <a:latin typeface="Cambria"/>
                <a:ea typeface="Songti SC"/>
              </a:rPr>
              <a:t>&amp;gt; 三家医院仍属东部地区,后续将引入西部样本验证泛化能力。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