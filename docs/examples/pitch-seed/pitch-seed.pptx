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3238500"/>
            <a:ext cx="7238999" cy="7238999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33499" y="4000500"/>
            <a:ext cx="4952999" cy="4952999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0E7FF"/>
                </a:solidFill>
                <a:latin typeface="Poppins"/>
                <a:ea typeface="PingFang SC"/>
              </a:rPr>
              <a:t>01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99" y="2362199"/>
            <a:ext cx="571499" cy="28575"/>
          </a:xfrm>
          <a:prstGeom prst="rect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299" y="2296667"/>
            <a:ext cx="100964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49" b="0">
                <a:solidFill>
                  <a:srgbClr val="6366F1"/>
                </a:solidFill>
                <a:latin typeface="Poppins"/>
                <a:ea typeface="PingFang SC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2948177"/>
            <a:ext cx="10820399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E1B4B"/>
                </a:solidFill>
                <a:latin typeface="Poppins"/>
                <a:ea typeface="PingFang SC"/>
              </a:rPr>
              <a:t>Lumen · 让小团队拥有大公司的数据感知力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99" y="5943600"/>
            <a:ext cx="380999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699" y="5895594"/>
            <a:ext cx="103250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E0E7FF"/>
                </a:solidFill>
                <a:latin typeface="Poppins"/>
                <a:ea typeface="PingFang SC"/>
              </a:rPr>
              <a:t>07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0E7FF"/>
                </a:solidFill>
                <a:latin typeface="Poppins"/>
                <a:ea typeface="PingFang SC"/>
              </a:rP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6366F1"/>
                </a:solidFill>
                <a:latin typeface="Poppins"/>
                <a:ea typeface="PingFang SC"/>
              </a:rP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899" y="1474469"/>
            <a:ext cx="2362199" cy="1904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999" b="1">
                <a:solidFill>
                  <a:srgbClr val="6366F1"/>
                </a:solidFill>
                <a:latin typeface="Georgia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9259" y="2805684"/>
            <a:ext cx="8793480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1E1B4B"/>
                </a:solidFill>
                <a:latin typeface="Poppins"/>
                <a:ea typeface="PingFang SC"/>
              </a:rPr>
              <a:t>中小公司每年在数据工具上花掉 8000 美金,却没人真的看懂报</a:t>
            </a:r>
          </a:p>
          <a:p>
            <a:pPr algn="ctr"/>
            <a:r>
              <a:rPr sz="2400" b="0">
                <a:solidFill>
                  <a:srgbClr val="1E1B4B"/>
                </a:solidFill>
                <a:latin typeface="Poppins"/>
                <a:ea typeface="PingFang SC"/>
              </a:rPr>
              <a:t>表。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10249" y="4171950"/>
            <a:ext cx="57150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0E7FF"/>
                </a:solidFill>
                <a:latin typeface="Poppins"/>
                <a:ea typeface="PingFang SC"/>
              </a:rP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6366F1"/>
                </a:solidFill>
                <a:latin typeface="Poppins"/>
                <a:ea typeface="PingFang SC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747521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1E1B4B"/>
                </a:solidFill>
                <a:latin typeface="Poppins"/>
                <a:ea typeface="PingFang SC"/>
              </a:rPr>
              <a:t>我们的洞察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399" y="1409699"/>
            <a:ext cx="761999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99" y="1904999"/>
            <a:ext cx="3400424" cy="5715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869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489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6366F1"/>
                </a:solidFill>
                <a:latin typeface="Poppins"/>
                <a:ea typeface="PingFang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99" y="3288792"/>
            <a:ext cx="304038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1E1B4B"/>
                </a:solidFill>
                <a:latin typeface="Poppins"/>
                <a:ea typeface="PingFang SC"/>
              </a:rPr>
              <a:t>数据团队只占员工 2%,却在替 98% 的人翻</a:t>
            </a:r>
          </a:p>
          <a:p>
            <a:r>
              <a:rPr sz="1200" b="0">
                <a:solidFill>
                  <a:srgbClr val="1E1B4B"/>
                </a:solidFill>
                <a:latin typeface="Poppins"/>
                <a:ea typeface="PingFang SC"/>
              </a:rPr>
              <a:t>译数字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069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455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6366F1"/>
                </a:solidFill>
                <a:latin typeface="Poppins"/>
                <a:ea typeface="PingFang SC"/>
              </a:rPr>
              <a:t>POINT 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1024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1024" y="1904999"/>
            <a:ext cx="3400424" cy="57150"/>
          </a:xfrm>
          <a:prstGeom prst="rect">
            <a:avLst/>
          </a:prstGeom>
          <a:solidFill>
            <a:srgbClr val="3B3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57724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3924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3B3EC9"/>
                </a:solidFill>
                <a:latin typeface="Poppins"/>
                <a:ea typeface="PingFang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4" y="3288792"/>
            <a:ext cx="306324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1E1B4B"/>
                </a:solidFill>
                <a:latin typeface="Poppins"/>
                <a:ea typeface="PingFang SC"/>
              </a:rPr>
              <a:t>业务一线需要的不是更多图表,而是"为什么</a:t>
            </a:r>
          </a:p>
          <a:p>
            <a:r>
              <a:rPr sz="1200" b="0">
                <a:solidFill>
                  <a:srgbClr val="1E1B4B"/>
                </a:solidFill>
                <a:latin typeface="Poppins"/>
                <a:ea typeface="PingFang SC"/>
              </a:rPr>
              <a:t>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9724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3582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3B3EC9"/>
                </a:solidFill>
                <a:latin typeface="Poppins"/>
                <a:ea typeface="PingFang SC"/>
              </a:rPr>
              <a:t>POINT 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0049" y="1904999"/>
            <a:ext cx="3400424" cy="36194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0049" y="1904999"/>
            <a:ext cx="3400424" cy="57150"/>
          </a:xfrm>
          <a:prstGeom prst="rect">
            <a:avLst/>
          </a:prstGeom>
          <a:solidFill>
            <a:srgbClr val="959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4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294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9598FF"/>
                </a:solidFill>
                <a:latin typeface="Poppins"/>
                <a:ea typeface="PingFang S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649" y="3288792"/>
            <a:ext cx="3009900" cy="380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1E1B4B"/>
                </a:solidFill>
                <a:latin typeface="Poppins"/>
                <a:ea typeface="PingFang SC"/>
              </a:rPr>
              <a:t>现有 BI 产品都在为分析师设计,而不是为</a:t>
            </a:r>
          </a:p>
          <a:p>
            <a:r>
              <a:rPr sz="1200" b="0">
                <a:solidFill>
                  <a:srgbClr val="1E1B4B"/>
                </a:solidFill>
                <a:latin typeface="Poppins"/>
                <a:ea typeface="PingFang SC"/>
              </a:rPr>
              <a:t>决策者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874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260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9598FF"/>
                </a:solidFill>
                <a:latin typeface="Poppins"/>
                <a:ea typeface="PingFang SC"/>
              </a:rPr>
              <a:t>POINT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0E7FF"/>
                </a:solidFill>
                <a:latin typeface="Poppins"/>
                <a:ea typeface="PingFang SC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1E1B4B"/>
                </a:solidFill>
                <a:latin typeface="Poppins"/>
                <a:ea typeface="PingFang SC"/>
              </a:rPr>
              <a:t>解决方案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10667999" cy="361949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0E7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10667999" cy="571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6739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366F1"/>
                </a:solidFill>
                <a:latin typeface="Poppins"/>
                <a:ea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634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1E1B4B"/>
                </a:solidFill>
                <a:latin typeface="Poppins"/>
                <a:ea typeface="PingFang SC"/>
              </a:rP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3309" y="4622292"/>
            <a:ext cx="494538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4485"/>
                </a:solidFill>
                <a:latin typeface="Poppins"/>
                <a:ea typeface="PingFang SC"/>
              </a:rPr>
              <a:t>1、连接业务系统(15 分钟内完成 OAuth 接入)</a:t>
            </a:r>
          </a:p>
          <a:p>
            <a:pPr algn="ctr"/>
            <a:r>
              <a:rPr sz="1200" b="0">
                <a:solidFill>
                  <a:srgbClr val="4A4485"/>
                </a:solidFill>
                <a:latin typeface="Poppins"/>
                <a:ea typeface="PingFang SC"/>
              </a:rPr>
              <a:t>2、自动建模(无需 SQ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0E7FF"/>
                </a:solidFill>
                <a:latin typeface="Poppins"/>
                <a:ea typeface="PingFang SC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1E1B4B"/>
                </a:solidFill>
                <a:latin typeface="Poppins"/>
                <a:ea typeface="PingFang SC"/>
              </a:rPr>
              <a:t>市场规模 TAM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667000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0E7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667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412813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4485"/>
                </a:solidFill>
                <a:latin typeface="Poppins"/>
                <a:ea typeface="PingFang SC"/>
              </a:rPr>
              <a:t>- 全球中小企业 SaaS 市场 4200 亿美元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475678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4485"/>
                </a:solidFill>
                <a:latin typeface="Poppins"/>
                <a:ea typeface="PingFang SC"/>
              </a:rPr>
              <a:t>- 数据分析品类年增 24%,5 年内达 870 亿美元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395001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4485"/>
                </a:solidFill>
                <a:latin typeface="Poppins"/>
                <a:ea typeface="PingFang SC"/>
              </a:rPr>
              <a:t>- 中国中小企业数字化预算 1.8 万亿元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47777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4485"/>
                </a:solidFill>
                <a:latin typeface="Poppins"/>
                <a:ea typeface="PingFang SC"/>
              </a:rPr>
              <a:t>- 我们的目标 SAM 中国 + 东南亚 = 60 亿美元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288131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4485"/>
                </a:solidFill>
                <a:latin typeface="Poppins"/>
                <a:ea typeface="PingFang SC"/>
              </a:rPr>
              <a:t>- 三年可触达客户数 8 万家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0E7FF"/>
                </a:solidFill>
                <a:latin typeface="Poppins"/>
                <a:ea typeface="PingFang SC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1E1B4B"/>
                </a:solidFill>
                <a:latin typeface="Poppins"/>
                <a:ea typeface="PingFang SC"/>
              </a:rPr>
              <a:t>Traction 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5219699" cy="361949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0E7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5219699" cy="571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32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366F1"/>
                </a:solidFill>
                <a:latin typeface="Poppins"/>
                <a:ea typeface="PingFang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219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1E1B4B"/>
                </a:solidFill>
                <a:latin typeface="Poppins"/>
                <a:ea typeface="PingFang SC"/>
              </a:rPr>
              <a:t>37%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739" y="4622292"/>
            <a:ext cx="480822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4485"/>
                </a:solidFill>
                <a:latin typeface="Poppins"/>
                <a:ea typeface="PingFang SC"/>
              </a:rPr>
              <a:t>上线 4 个月,付费客户 142 家</a:t>
            </a:r>
          </a:p>
          <a:p>
            <a:pPr algn="ctr"/>
            <a:r>
              <a:rPr sz="1200" b="0">
                <a:solidFill>
                  <a:srgbClr val="4A4485"/>
                </a:solidFill>
                <a:latin typeface="Poppins"/>
                <a:ea typeface="PingFang SC"/>
              </a:rPr>
              <a:t>- 月度经常性收入 MRR 28 万美元,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299" y="1600200"/>
            <a:ext cx="5219699" cy="361949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E0E7FF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299" y="1600200"/>
            <a:ext cx="5219699" cy="5715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15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366F1"/>
                </a:solidFill>
                <a:latin typeface="Poppins"/>
                <a:ea typeface="PingFang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0949" y="2785110"/>
            <a:ext cx="24384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1E1B4B"/>
                </a:solidFill>
                <a:latin typeface="Poppins"/>
                <a:ea typeface="PingFang SC"/>
              </a:rPr>
              <a:t>134%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1939" y="4622292"/>
            <a:ext cx="18364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4485"/>
                </a:solidFill>
                <a:latin typeface="Poppins"/>
                <a:ea typeface="PingFang SC"/>
              </a:rPr>
              <a:t>NPS 62,客户净留存 NDR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6366F1"/>
              </a:gs>
              <a:gs pos="100000">
                <a:srgbClr val="6366F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0E7FF"/>
                </a:solidFill>
                <a:latin typeface="Poppins"/>
                <a:ea typeface="PingFang SC"/>
              </a:rPr>
              <a:t>07 / 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199" y="2381250"/>
            <a:ext cx="60960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11979" y="2547366"/>
            <a:ext cx="3368039" cy="809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99" b="1">
                <a:solidFill>
                  <a:srgbClr val="1E1B4B"/>
                </a:solidFill>
                <a:latin typeface="Poppins"/>
                <a:ea typeface="PingFang SC"/>
              </a:rPr>
              <a:t>融资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4416" y="3521964"/>
            <a:ext cx="2483167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4A4485"/>
                </a:solidFill>
                <a:latin typeface="Poppins"/>
                <a:ea typeface="PingFang SC"/>
              </a:rPr>
              <a:t>- 本轮融资 800 万美元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