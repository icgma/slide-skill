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3238500"/>
            <a:ext cx="7238999" cy="7238999"/>
          </a:xfrm>
          <a:prstGeom prst="ellipse">
            <a:avLst/>
          </a:prstGeom>
          <a:gradFill>
            <a:gsLst>
              <a:gs pos="0">
                <a:srgbClr val="69A297"/>
              </a:gs>
              <a:gs pos="100000">
                <a:srgbClr val="69A29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33499" y="4000500"/>
            <a:ext cx="4952999" cy="4952999"/>
          </a:xfrm>
          <a:prstGeom prst="ellipse">
            <a:avLst/>
          </a:prstGeom>
          <a:gradFill>
            <a:gsLst>
              <a:gs pos="0">
                <a:srgbClr val="69A297"/>
              </a:gs>
              <a:gs pos="100000">
                <a:srgbClr val="69A29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4B59F"/>
                </a:solidFill>
                <a:latin typeface="Open Sans"/>
                <a:ea typeface="PingFang SC"/>
              </a:rPr>
              <a:t>01 / 07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399" y="2362199"/>
            <a:ext cx="571499" cy="28575"/>
          </a:xfrm>
          <a:prstGeom prst="rect">
            <a:avLst/>
          </a:prstGeom>
          <a:gradFill>
            <a:gsLst>
              <a:gs pos="0">
                <a:srgbClr val="69A297"/>
              </a:gs>
              <a:gs pos="100000">
                <a:srgbClr val="69A297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299" y="2296667"/>
            <a:ext cx="100964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49" b="0">
                <a:solidFill>
                  <a:srgbClr val="69A297"/>
                </a:solidFill>
                <a:latin typeface="Open Sans"/>
                <a:ea typeface="PingFang SC"/>
              </a:rPr>
              <a:t>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399" y="2702814"/>
            <a:ext cx="10820399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5400" b="1">
                <a:solidFill>
                  <a:srgbClr val="2A3D33"/>
                </a:solidFill>
                <a:latin typeface="Open Sans"/>
                <a:ea typeface="PingFang SC"/>
              </a:rPr>
              <a:t>欢迎加入 · 新员工入职第一课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399" y="5943600"/>
            <a:ext cx="380999" cy="19050"/>
          </a:xfrm>
          <a:prstGeom prst="rect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09699" y="5895594"/>
            <a:ext cx="103250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84B59F"/>
                </a:solidFill>
                <a:latin typeface="Open Sans"/>
                <a:ea typeface="PingFang SC"/>
              </a:rPr>
              <a:t>07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81999" y="-2476499"/>
            <a:ext cx="6095999" cy="6095999"/>
          </a:xfrm>
          <a:prstGeom prst="ellipse">
            <a:avLst/>
          </a:prstGeom>
          <a:gradFill>
            <a:gsLst>
              <a:gs pos="0">
                <a:srgbClr val="69A297"/>
              </a:gs>
              <a:gs pos="100000">
                <a:srgbClr val="69A29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2999" y="4000500"/>
            <a:ext cx="3428999" cy="3429000"/>
          </a:xfrm>
          <a:prstGeom prst="ellipse">
            <a:avLst/>
          </a:prstGeom>
          <a:gradFill>
            <a:gsLst>
              <a:gs pos="0">
                <a:srgbClr val="69A297"/>
              </a:gs>
              <a:gs pos="100000">
                <a:srgbClr val="69A29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4B59F"/>
                </a:solidFill>
                <a:latin typeface="Open Sans"/>
                <a:ea typeface="PingFang SC"/>
              </a:rPr>
              <a:t>02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99" y="648081"/>
            <a:ext cx="108203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75" b="1">
                <a:solidFill>
                  <a:srgbClr val="69A297"/>
                </a:solidFill>
                <a:latin typeface="Open Sans"/>
                <a:ea typeface="PingFang SC"/>
              </a:rPr>
              <a:t>欢迎你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14899" y="1474469"/>
            <a:ext cx="2362199" cy="1904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999" b="1">
                <a:solidFill>
                  <a:srgbClr val="69A297"/>
                </a:solidFill>
                <a:latin typeface="Georgia"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1159" y="2805684"/>
            <a:ext cx="8869680" cy="76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2A3D33"/>
                </a:solidFill>
                <a:latin typeface="Open Sans"/>
                <a:ea typeface="PingFang SC"/>
              </a:rPr>
              <a:t>从今天起,你不只是来上班,而是和我们共同书写一段值得回忆的</a:t>
            </a:r>
          </a:p>
          <a:p>
            <a:pPr algn="ctr"/>
            <a:r>
              <a:rPr sz="2400" b="0">
                <a:solidFill>
                  <a:srgbClr val="2A3D33"/>
                </a:solidFill>
                <a:latin typeface="Open Sans"/>
                <a:ea typeface="PingFang SC"/>
              </a:rPr>
              <a:t>旅程。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10249" y="4171950"/>
            <a:ext cx="571500" cy="0"/>
          </a:xfrm>
          <a:prstGeom prst="line">
            <a:avLst/>
          </a:prstGeom>
          <a:ln w="25400">
            <a:solidFill>
              <a:srgbClr val="69A2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81999" y="-2476499"/>
            <a:ext cx="6095999" cy="6095999"/>
          </a:xfrm>
          <a:prstGeom prst="ellipse">
            <a:avLst/>
          </a:prstGeom>
          <a:gradFill>
            <a:gsLst>
              <a:gs pos="0">
                <a:srgbClr val="69A297"/>
              </a:gs>
              <a:gs pos="100000">
                <a:srgbClr val="69A29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2999" y="4000500"/>
            <a:ext cx="3428999" cy="3429000"/>
          </a:xfrm>
          <a:prstGeom prst="ellipse">
            <a:avLst/>
          </a:prstGeom>
          <a:gradFill>
            <a:gsLst>
              <a:gs pos="0">
                <a:srgbClr val="69A297"/>
              </a:gs>
              <a:gs pos="100000">
                <a:srgbClr val="69A29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4B59F"/>
                </a:solidFill>
                <a:latin typeface="Open Sans"/>
                <a:ea typeface="PingFang SC"/>
              </a:rPr>
              <a:t>03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99" y="648081"/>
            <a:ext cx="108203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75" b="1">
                <a:solidFill>
                  <a:srgbClr val="69A297"/>
                </a:solidFill>
                <a:latin typeface="Open Sans"/>
                <a:ea typeface="PingFang SC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399" y="747521"/>
            <a:ext cx="10820399" cy="6667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199" b="1">
                <a:solidFill>
                  <a:srgbClr val="2A3D33"/>
                </a:solidFill>
                <a:latin typeface="Open Sans"/>
                <a:ea typeface="PingFang SC"/>
              </a:rPr>
              <a:t>公司概览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399" y="1409699"/>
            <a:ext cx="761999" cy="38100"/>
          </a:xfrm>
          <a:prstGeom prst="rect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1999" y="1904999"/>
            <a:ext cx="3400424" cy="361949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1999" y="1904999"/>
            <a:ext cx="3400424" cy="57150"/>
          </a:xfrm>
          <a:prstGeom prst="rect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28699" y="2343150"/>
            <a:ext cx="609599" cy="609600"/>
          </a:xfrm>
          <a:prstGeom prst="ellipse">
            <a:avLst/>
          </a:prstGeom>
          <a:solidFill>
            <a:schemeClr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4899" y="2531364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69A297"/>
                </a:solidFill>
                <a:latin typeface="Open Sans"/>
                <a:ea typeface="PingFang SC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599" y="3288792"/>
            <a:ext cx="2956559" cy="380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2A3D33"/>
                </a:solidFill>
                <a:latin typeface="Open Sans"/>
                <a:ea typeface="PingFang SC"/>
              </a:rPr>
              <a:t>成立于 2014 年,总部上海,在五个国家设</a:t>
            </a:r>
          </a:p>
          <a:p>
            <a:r>
              <a:rPr sz="1200" b="0">
                <a:solidFill>
                  <a:srgbClr val="2A3D33"/>
                </a:solidFill>
                <a:latin typeface="Open Sans"/>
                <a:ea typeface="PingFang SC"/>
              </a:rPr>
              <a:t>有研发中心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90699" y="5105400"/>
            <a:ext cx="1333499" cy="228600"/>
          </a:xfrm>
          <a:prstGeom prst="roundRect">
            <a:avLst/>
          </a:prstGeom>
          <a:solidFill>
            <a:schemeClr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74557" y="5161407"/>
            <a:ext cx="5657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25" b="1">
                <a:solidFill>
                  <a:srgbClr val="69A297"/>
                </a:solidFill>
                <a:latin typeface="Open Sans"/>
                <a:ea typeface="PingFang SC"/>
              </a:rPr>
              <a:t>POINT 01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91024" y="1904999"/>
            <a:ext cx="3400424" cy="361949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91024" y="1904999"/>
            <a:ext cx="3400424" cy="57150"/>
          </a:xfrm>
          <a:prstGeom prst="rect">
            <a:avLst/>
          </a:prstGeom>
          <a:solidFill>
            <a:srgbClr val="41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657724" y="2343150"/>
            <a:ext cx="609599" cy="609600"/>
          </a:xfrm>
          <a:prstGeom prst="ellipse">
            <a:avLst/>
          </a:prstGeom>
          <a:solidFill>
            <a:schemeClr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33924" y="2531364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417A6F"/>
                </a:solidFill>
                <a:latin typeface="Open Sans"/>
                <a:ea typeface="PingFang SC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9624" y="3288792"/>
            <a:ext cx="25984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2A3D33"/>
                </a:solidFill>
                <a:latin typeface="Open Sans"/>
                <a:ea typeface="PingFang SC"/>
              </a:rPr>
              <a:t>全球员工 1860 人,平均年龄 29 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19724" y="5105400"/>
            <a:ext cx="1333499" cy="228600"/>
          </a:xfrm>
          <a:prstGeom prst="roundRect">
            <a:avLst/>
          </a:prstGeom>
          <a:solidFill>
            <a:schemeClr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03582" y="5161407"/>
            <a:ext cx="5657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25" b="1">
                <a:solidFill>
                  <a:srgbClr val="417A6F"/>
                </a:solidFill>
                <a:latin typeface="Open Sans"/>
                <a:ea typeface="PingFang SC"/>
              </a:rPr>
              <a:t>POINT 02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0049" y="1904999"/>
            <a:ext cx="3400424" cy="361949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20049" y="1904999"/>
            <a:ext cx="3400424" cy="57150"/>
          </a:xfrm>
          <a:prstGeom prst="rect">
            <a:avLst/>
          </a:prstGeom>
          <a:solidFill>
            <a:srgbClr val="9BD4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86749" y="2343150"/>
            <a:ext cx="609599" cy="609600"/>
          </a:xfrm>
          <a:prstGeom prst="ellipse">
            <a:avLst/>
          </a:prstGeom>
          <a:solidFill>
            <a:schemeClr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2949" y="2531364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9BD4C9"/>
                </a:solidFill>
                <a:latin typeface="Open Sans"/>
                <a:ea typeface="PingFang SC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8649" y="3288792"/>
            <a:ext cx="29870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2A3D33"/>
                </a:solidFill>
                <a:latin typeface="Open Sans"/>
                <a:ea typeface="PingFang SC"/>
              </a:rPr>
              <a:t>服务客户超过 12000 家,覆盖 36 个行业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48749" y="5105400"/>
            <a:ext cx="1333499" cy="228600"/>
          </a:xfrm>
          <a:prstGeom prst="roundRect">
            <a:avLst/>
          </a:prstGeom>
          <a:solidFill>
            <a:schemeClr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32607" y="5161407"/>
            <a:ext cx="5657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25" b="1">
                <a:solidFill>
                  <a:srgbClr val="9BD4C9"/>
                </a:solidFill>
                <a:latin typeface="Open Sans"/>
                <a:ea typeface="PingFang SC"/>
              </a:rPr>
              <a:t>POINT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81999" y="-2476499"/>
            <a:ext cx="6095999" cy="6095999"/>
          </a:xfrm>
          <a:prstGeom prst="ellipse">
            <a:avLst/>
          </a:prstGeom>
          <a:gradFill>
            <a:gsLst>
              <a:gs pos="0">
                <a:srgbClr val="69A297"/>
              </a:gs>
              <a:gs pos="100000">
                <a:srgbClr val="69A29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2999" y="4000500"/>
            <a:ext cx="3428999" cy="3429000"/>
          </a:xfrm>
          <a:prstGeom prst="ellipse">
            <a:avLst/>
          </a:prstGeom>
          <a:gradFill>
            <a:gsLst>
              <a:gs pos="0">
                <a:srgbClr val="69A297"/>
              </a:gs>
              <a:gs pos="100000">
                <a:srgbClr val="69A29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4B59F"/>
                </a:solidFill>
                <a:latin typeface="Open Sans"/>
                <a:ea typeface="PingFang SC"/>
              </a:rPr>
              <a:t>04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99" y="537972"/>
            <a:ext cx="10820399" cy="6667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199" b="1">
                <a:solidFill>
                  <a:srgbClr val="2A3D33"/>
                </a:solidFill>
                <a:latin typeface="Open Sans"/>
                <a:ea typeface="PingFang SC"/>
              </a:rPr>
              <a:t>团队结构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399" y="1143000"/>
            <a:ext cx="761999" cy="38100"/>
          </a:xfrm>
          <a:prstGeom prst="rect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1999" y="1485900"/>
            <a:ext cx="10667999" cy="266700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84B59F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1999" y="1485900"/>
            <a:ext cx="38099" cy="2667000"/>
          </a:xfrm>
          <a:prstGeom prst="rect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6799" y="1674113"/>
            <a:ext cx="400240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50808E"/>
                </a:solidFill>
                <a:latin typeface="Open Sans"/>
                <a:ea typeface="PingFang SC"/>
              </a:rPr>
              <a:t>1、产品研发线:负责核心产品与技术中台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799" y="2131314"/>
            <a:ext cx="400240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50808E"/>
                </a:solidFill>
                <a:latin typeface="Open Sans"/>
                <a:ea typeface="PingFang SC"/>
              </a:rPr>
              <a:t>2、市场销售线:负责客户成功与市场推广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799" y="2588514"/>
            <a:ext cx="421195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50808E"/>
                </a:solidFill>
                <a:latin typeface="Open Sans"/>
                <a:ea typeface="PingFang SC"/>
              </a:rPr>
              <a:t>3、客户成功线:服务全球客户的实施与支持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799" y="3045714"/>
            <a:ext cx="4788217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50808E"/>
                </a:solidFill>
                <a:latin typeface="Open Sans"/>
                <a:ea typeface="PingFang SC"/>
              </a:rPr>
              <a:t>4、职能支持线:HR、财务、法务、IT 等支撑团队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6799" y="3502913"/>
            <a:ext cx="379285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50808E"/>
                </a:solidFill>
                <a:latin typeface="Open Sans"/>
                <a:ea typeface="PingFang SC"/>
              </a:rPr>
              <a:t>5、战略与新业务:孵化下一条增长曲线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81999" y="-2476499"/>
            <a:ext cx="6095999" cy="6095999"/>
          </a:xfrm>
          <a:prstGeom prst="ellipse">
            <a:avLst/>
          </a:prstGeom>
          <a:gradFill>
            <a:gsLst>
              <a:gs pos="0">
                <a:srgbClr val="69A297"/>
              </a:gs>
              <a:gs pos="100000">
                <a:srgbClr val="69A29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2999" y="4000500"/>
            <a:ext cx="3428999" cy="3429000"/>
          </a:xfrm>
          <a:prstGeom prst="ellipse">
            <a:avLst/>
          </a:prstGeom>
          <a:gradFill>
            <a:gsLst>
              <a:gs pos="0">
                <a:srgbClr val="69A297"/>
              </a:gs>
              <a:gs pos="100000">
                <a:srgbClr val="69A29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4B59F"/>
                </a:solidFill>
                <a:latin typeface="Open Sans"/>
                <a:ea typeface="PingFang SC"/>
              </a:rPr>
              <a:t>05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99" y="537972"/>
            <a:ext cx="10820399" cy="6667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199" b="1">
                <a:solidFill>
                  <a:srgbClr val="2A3D33"/>
                </a:solidFill>
                <a:latin typeface="Open Sans"/>
                <a:ea typeface="PingFang SC"/>
              </a:rPr>
              <a:t>工作 vs 文化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399" y="1143000"/>
            <a:ext cx="761999" cy="38100"/>
          </a:xfrm>
          <a:prstGeom prst="rect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1999" y="1485900"/>
            <a:ext cx="10667999" cy="266700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84B59F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1999" y="1485900"/>
            <a:ext cx="38099" cy="2667000"/>
          </a:xfrm>
          <a:prstGeom prst="rect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6799" y="1674113"/>
            <a:ext cx="2902267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50808E"/>
                </a:solidFill>
                <a:latin typeface="Open Sans"/>
                <a:ea typeface="PingFang SC"/>
              </a:rPr>
              <a:t>| 维度 | 我们的工作方式 |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799" y="2131314"/>
            <a:ext cx="418052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50808E"/>
                </a:solidFill>
                <a:latin typeface="Open Sans"/>
                <a:ea typeface="PingFang SC"/>
              </a:rPr>
              <a:t>| 决策 | 数据驱动,允许试错,快速复盘 |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799" y="2588514"/>
            <a:ext cx="418052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50808E"/>
                </a:solidFill>
                <a:latin typeface="Open Sans"/>
                <a:ea typeface="PingFang SC"/>
              </a:rPr>
              <a:t>| 协作 | 异步优先,周会精简,文档先行 |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799" y="3045714"/>
            <a:ext cx="364617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50808E"/>
                </a:solidFill>
                <a:latin typeface="Open Sans"/>
                <a:ea typeface="PingFang SC"/>
              </a:rPr>
              <a:t>| 反馈 | 双周一对一,开放且具体 |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6799" y="3502913"/>
            <a:ext cx="4830127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50808E"/>
                </a:solidFill>
                <a:latin typeface="Open Sans"/>
                <a:ea typeface="PingFang SC"/>
              </a:rPr>
              <a:t>| 成长 | 每年 1 万元学习预算,内部讲师生态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81999" y="-2476499"/>
            <a:ext cx="6095999" cy="6095999"/>
          </a:xfrm>
          <a:prstGeom prst="ellipse">
            <a:avLst/>
          </a:prstGeom>
          <a:gradFill>
            <a:gsLst>
              <a:gs pos="0">
                <a:srgbClr val="69A297"/>
              </a:gs>
              <a:gs pos="100000">
                <a:srgbClr val="69A29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2999" y="4000500"/>
            <a:ext cx="3428999" cy="3429000"/>
          </a:xfrm>
          <a:prstGeom prst="ellipse">
            <a:avLst/>
          </a:prstGeom>
          <a:gradFill>
            <a:gsLst>
              <a:gs pos="0">
                <a:srgbClr val="69A297"/>
              </a:gs>
              <a:gs pos="100000">
                <a:srgbClr val="69A29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4B59F"/>
                </a:solidFill>
                <a:latin typeface="Open Sans"/>
                <a:ea typeface="PingFang SC"/>
              </a:rPr>
              <a:t>06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99" y="648081"/>
            <a:ext cx="108203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75" b="1">
                <a:solidFill>
                  <a:srgbClr val="69A297"/>
                </a:solidFill>
                <a:latin typeface="Open Sans"/>
                <a:ea typeface="PingFang SC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399" y="747521"/>
            <a:ext cx="10820399" cy="6667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199" b="1">
                <a:solidFill>
                  <a:srgbClr val="2A3D33"/>
                </a:solidFill>
                <a:latin typeface="Open Sans"/>
                <a:ea typeface="PingFang SC"/>
              </a:rPr>
              <a:t>常用工具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399" y="1409699"/>
            <a:ext cx="761999" cy="38100"/>
          </a:xfrm>
          <a:prstGeom prst="rect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1999" y="1904999"/>
            <a:ext cx="3400424" cy="361949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1999" y="1904999"/>
            <a:ext cx="3400424" cy="57150"/>
          </a:xfrm>
          <a:prstGeom prst="rect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28699" y="2343150"/>
            <a:ext cx="609599" cy="609600"/>
          </a:xfrm>
          <a:prstGeom prst="ellipse">
            <a:avLst/>
          </a:prstGeom>
          <a:solidFill>
            <a:schemeClr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4899" y="2531364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69A297"/>
                </a:solidFill>
                <a:latin typeface="Open Sans"/>
                <a:ea typeface="PingFang SC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599" y="3288792"/>
            <a:ext cx="28727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2A3D33"/>
                </a:solidFill>
                <a:latin typeface="Open Sans"/>
                <a:ea typeface="PingFang SC"/>
              </a:rPr>
              <a:t>飞书:即时沟通 + 在线文档 + 视频会议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90699" y="5105400"/>
            <a:ext cx="1333499" cy="228600"/>
          </a:xfrm>
          <a:prstGeom prst="roundRect">
            <a:avLst/>
          </a:prstGeom>
          <a:solidFill>
            <a:schemeClr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74557" y="5161407"/>
            <a:ext cx="5657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25" b="1">
                <a:solidFill>
                  <a:srgbClr val="69A297"/>
                </a:solidFill>
                <a:latin typeface="Open Sans"/>
                <a:ea typeface="PingFang SC"/>
              </a:rPr>
              <a:t>POINT 01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91024" y="1904999"/>
            <a:ext cx="3400424" cy="361949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91024" y="1904999"/>
            <a:ext cx="3400424" cy="57150"/>
          </a:xfrm>
          <a:prstGeom prst="rect">
            <a:avLst/>
          </a:prstGeom>
          <a:solidFill>
            <a:srgbClr val="41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657724" y="2343150"/>
            <a:ext cx="609599" cy="609600"/>
          </a:xfrm>
          <a:prstGeom prst="ellipse">
            <a:avLst/>
          </a:prstGeom>
          <a:solidFill>
            <a:schemeClr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33924" y="2531364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417A6F"/>
                </a:solidFill>
                <a:latin typeface="Open Sans"/>
                <a:ea typeface="PingFang SC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9624" y="3288792"/>
            <a:ext cx="19431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2A3D33"/>
                </a:solidFill>
                <a:latin typeface="Open Sans"/>
                <a:ea typeface="PingFang SC"/>
              </a:rPr>
              <a:t>Jira:项目跟踪与版本管理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19724" y="5105400"/>
            <a:ext cx="1333499" cy="228600"/>
          </a:xfrm>
          <a:prstGeom prst="roundRect">
            <a:avLst/>
          </a:prstGeom>
          <a:solidFill>
            <a:schemeClr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03582" y="5161407"/>
            <a:ext cx="5657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25" b="1">
                <a:solidFill>
                  <a:srgbClr val="417A6F"/>
                </a:solidFill>
                <a:latin typeface="Open Sans"/>
                <a:ea typeface="PingFang SC"/>
              </a:rPr>
              <a:t>POINT 02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0049" y="1904999"/>
            <a:ext cx="3400424" cy="361949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20049" y="1904999"/>
            <a:ext cx="3400424" cy="57150"/>
          </a:xfrm>
          <a:prstGeom prst="rect">
            <a:avLst/>
          </a:prstGeom>
          <a:solidFill>
            <a:srgbClr val="9BD4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86749" y="2343150"/>
            <a:ext cx="609599" cy="609600"/>
          </a:xfrm>
          <a:prstGeom prst="ellipse">
            <a:avLst/>
          </a:prstGeom>
          <a:solidFill>
            <a:schemeClr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2949" y="2531364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9BD4C9"/>
                </a:solidFill>
                <a:latin typeface="Open Sans"/>
                <a:ea typeface="PingFang SC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8649" y="3288792"/>
            <a:ext cx="20040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2A3D33"/>
                </a:solidFill>
                <a:latin typeface="Open Sans"/>
                <a:ea typeface="PingFang SC"/>
              </a:rPr>
              <a:t>GitHub:代码协作与 CI/CD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48749" y="5105400"/>
            <a:ext cx="1333499" cy="228600"/>
          </a:xfrm>
          <a:prstGeom prst="roundRect">
            <a:avLst/>
          </a:prstGeom>
          <a:solidFill>
            <a:schemeClr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32607" y="5161407"/>
            <a:ext cx="5657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25" b="1">
                <a:solidFill>
                  <a:srgbClr val="9BD4C9"/>
                </a:solidFill>
                <a:latin typeface="Open Sans"/>
                <a:ea typeface="PingFang SC"/>
              </a:rPr>
              <a:t>POINT 03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81999" y="-2476499"/>
            <a:ext cx="6095999" cy="6095999"/>
          </a:xfrm>
          <a:prstGeom prst="ellipse">
            <a:avLst/>
          </a:prstGeom>
          <a:gradFill>
            <a:gsLst>
              <a:gs pos="0">
                <a:srgbClr val="69A297"/>
              </a:gs>
              <a:gs pos="100000">
                <a:srgbClr val="69A29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2999" y="4000500"/>
            <a:ext cx="3428999" cy="3429000"/>
          </a:xfrm>
          <a:prstGeom prst="ellipse">
            <a:avLst/>
          </a:prstGeom>
          <a:gradFill>
            <a:gsLst>
              <a:gs pos="0">
                <a:srgbClr val="69A297"/>
              </a:gs>
              <a:gs pos="100000">
                <a:srgbClr val="69A29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4B59F"/>
                </a:solidFill>
                <a:latin typeface="Open Sans"/>
                <a:ea typeface="PingFang SC"/>
              </a:rPr>
              <a:t>07 / 07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791199" y="2381250"/>
            <a:ext cx="609600" cy="0"/>
          </a:xfrm>
          <a:prstGeom prst="line">
            <a:avLst/>
          </a:prstGeom>
          <a:ln w="25400">
            <a:solidFill>
              <a:srgbClr val="69A2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829049" y="2547366"/>
            <a:ext cx="4533900" cy="809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099" b="1">
                <a:solidFill>
                  <a:srgbClr val="2A3D33"/>
                </a:solidFill>
                <a:latin typeface="Open Sans"/>
                <a:ea typeface="PingFang SC"/>
              </a:rPr>
              <a:t>你可以联系谁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76951" y="3521964"/>
            <a:ext cx="7638097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50" b="0">
                <a:solidFill>
                  <a:srgbClr val="50808E"/>
                </a:solidFill>
                <a:latin typeface="Open Sans"/>
                <a:ea typeface="PingFang SC"/>
              </a:rPr>
              <a:t>&amp;gt; 入职导师 · HR 伙伴 · 部门负责人 — 任何困惑,直接说出来,我们都在。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