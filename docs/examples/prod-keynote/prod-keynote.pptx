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1C7293"/>
                </a:solidFill>
                <a:latin typeface="Roboto"/>
                <a:ea typeface="PingFang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948177"/>
            <a:ext cx="10820399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E0F2FE"/>
                </a:solidFill>
                <a:latin typeface="Roboto"/>
                <a:ea typeface="PingFang SC"/>
              </a:rPr>
              <a:t>Aurora Pro · 重新定义专业创作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1C7293"/>
                </a:solidFill>
                <a:latin typeface="Roboto"/>
                <a:ea typeface="PingFang SC"/>
              </a:rPr>
              <a:t>重新想象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7030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1C7293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979" y="3034284"/>
            <a:ext cx="565404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E0F2FE"/>
                </a:solidFill>
                <a:latin typeface="Roboto"/>
                <a:ea typeface="PingFang SC"/>
              </a:rPr>
              <a:t>当算力不再是瓶颈,创意便不再有等待。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3943350"/>
            <a:ext cx="5715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1C7293"/>
                </a:solidFill>
                <a:latin typeface="Roboto"/>
                <a:ea typeface="PingFang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性能数据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7293"/>
                </a:solidFill>
                <a:latin typeface="Roboto"/>
                <a:ea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1638299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E0F2FE"/>
                </a:solidFill>
                <a:latin typeface="Roboto"/>
                <a:ea typeface="PingFang SC"/>
              </a:rPr>
              <a:t>渲染速度提升 4.2 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1C7293"/>
                </a:solidFill>
                <a:latin typeface="Roboto"/>
                <a:ea typeface="PingFang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00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4A6B"/>
                </a:solidFill>
                <a:latin typeface="Roboto"/>
                <a:ea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1402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E0F2FE"/>
                </a:solidFill>
                <a:latin typeface="Roboto"/>
                <a:ea typeface="PingFang SC"/>
              </a:rPr>
              <a:t>内存占用降低 38%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04A6B"/>
                </a:solidFill>
                <a:latin typeface="Roboto"/>
                <a:ea typeface="PingFang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4EA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EA4C5"/>
                </a:solidFill>
                <a:latin typeface="Roboto"/>
                <a:ea typeface="PingFang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1402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E0F2FE"/>
                </a:solidFill>
                <a:latin typeface="Roboto"/>
                <a:ea typeface="PingFang SC"/>
              </a:rPr>
              <a:t>续航突破 22 小时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4EA4C5"/>
                </a:solidFill>
                <a:latin typeface="Roboto"/>
                <a:ea typeface="PingFang SC"/>
              </a:rPr>
              <a:t>POINT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旧版 vs 新版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28708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| 维度 | Aurora 经典版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91394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| 性能 | M2 芯片,渲染 4K 视频耗时 12 分钟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22002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| 续航 | 14 小时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2689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| 重量 | 1.6 公斤,机身较厚 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264033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| 价格 | 1899 美元起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三大全新体验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1752599"/>
          </a:xfrm>
          <a:prstGeom prst="roundRect">
            <a:avLst/>
          </a:prstGeom>
          <a:gradFill>
            <a:gsLst>
              <a:gs pos="0">
                <a:srgbClr val="102A43"/>
              </a:gs>
              <a:gs pos="100000">
                <a:srgbClr val="21295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1752599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5786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1、原生 AI 协作:本地推理大模型,创意零延迟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390810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2、空间显示:裸眼三维预览,所见即所得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84060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3、跨设备无缝:手机、平板、桌面共享创作上下文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1C7293"/>
                </a:solidFill>
                <a:latin typeface="Roboto"/>
                <a:ea typeface="PingFang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E0F2FE"/>
                </a:solidFill>
                <a:latin typeface="Roboto"/>
                <a:ea typeface="PingFang SC"/>
              </a:rPr>
              <a:t>上市节奏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7293"/>
                </a:solidFill>
                <a:latin typeface="Roboto"/>
                <a:ea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16078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E0F2FE"/>
                </a:solidFill>
                <a:latin typeface="Roboto"/>
                <a:ea typeface="PingFang SC"/>
              </a:rPr>
              <a:t>今天起:全球预订开启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1C7293"/>
                </a:solidFill>
                <a:latin typeface="Roboto"/>
                <a:ea typeface="PingFang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00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4A6B"/>
                </a:solidFill>
                <a:latin typeface="Roboto"/>
                <a:ea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25679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E0F2FE"/>
                </a:solidFill>
                <a:latin typeface="Roboto"/>
                <a:ea typeface="PingFang SC"/>
              </a:rPr>
              <a:t>11 月 8 日:北美、日本、欧洲首发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04A6B"/>
                </a:solidFill>
                <a:latin typeface="Roboto"/>
                <a:ea typeface="PingFang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4EA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EA4C5"/>
                </a:solidFill>
                <a:latin typeface="Roboto"/>
                <a:ea typeface="PingFang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956559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E0F2FE"/>
                </a:solidFill>
                <a:latin typeface="Roboto"/>
                <a:ea typeface="PingFang SC"/>
              </a:rPr>
              <a:t>11 月 22 日:中国大陆与港澳台同步发售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4EA4C5"/>
                </a:solidFill>
                <a:latin typeface="Roboto"/>
                <a:ea typeface="PingFang SC"/>
              </a:rPr>
              <a:t>POINT 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1C7293"/>
              </a:gs>
              <a:gs pos="100000">
                <a:srgbClr val="1C729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21295C"/>
                </a:solidFill>
                <a:latin typeface="Roboto"/>
                <a:ea typeface="PingFang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76749" y="2547366"/>
            <a:ext cx="3238499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E0F2FE"/>
                </a:solidFill>
                <a:latin typeface="Roboto"/>
                <a:ea typeface="PingFang SC"/>
              </a:rPr>
              <a:t>今天上市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4742" y="3521964"/>
            <a:ext cx="488251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94B3CC"/>
                </a:solidFill>
                <a:latin typeface="Roboto"/>
                <a:ea typeface="PingFang SC"/>
              </a:rPr>
              <a:t>&amp;gt; 技术存在的意义,是让每个人都能创造非凡。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