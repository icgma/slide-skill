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3238500"/>
            <a:ext cx="7238999" cy="7238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33499" y="4000500"/>
            <a:ext cx="4952999" cy="4952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01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99" y="2362199"/>
            <a:ext cx="571499" cy="28575"/>
          </a:xfrm>
          <a:prstGeom prst="rect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299" y="2296667"/>
            <a:ext cx="100964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49" b="0">
                <a:solidFill>
                  <a:srgbClr val="0284C7"/>
                </a:solidFill>
                <a:latin typeface="Roboto"/>
                <a:ea typeface="Microsoft YaHei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2948177"/>
            <a:ext cx="10820399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0F172A"/>
                </a:solidFill>
                <a:latin typeface="Roboto"/>
                <a:ea typeface="Microsoft YaHei"/>
              </a:rPr>
              <a:t>微积分基础 · 第七讲:链式法则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99" y="5943600"/>
            <a:ext cx="380999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699" y="5895594"/>
            <a:ext cx="103250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07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0284C7"/>
                </a:solidFill>
                <a:latin typeface="Roboto"/>
                <a:ea typeface="Microsoft YaHei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747521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0F172A"/>
                </a:solidFill>
                <a:latin typeface="Roboto"/>
                <a:ea typeface="Microsoft YaHei"/>
              </a:rPr>
              <a:t>本节目标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399" y="1409699"/>
            <a:ext cx="76199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99" y="1904999"/>
            <a:ext cx="3400424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869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489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0284C7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99" y="3288792"/>
            <a:ext cx="2133599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理解复合函数求导的几何直观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069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455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0284C7"/>
                </a:solidFill>
                <a:latin typeface="Roboto"/>
                <a:ea typeface="Microsoft YaHei"/>
              </a:rPr>
              <a:t>POINT 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1024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1024" y="1904999"/>
            <a:ext cx="3400424" cy="57150"/>
          </a:xfrm>
          <a:prstGeom prst="rect">
            <a:avLst/>
          </a:prstGeom>
          <a:solidFill>
            <a:srgbClr val="00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57724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3924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005C9F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4" y="3288792"/>
            <a:ext cx="2286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掌握链式法则的标准写法与变形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9724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3582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005C9F"/>
                </a:solidFill>
                <a:latin typeface="Roboto"/>
                <a:ea typeface="Microsoft YaHei"/>
              </a:rPr>
              <a:t>POINT 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0049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0049" y="1904999"/>
            <a:ext cx="3400424" cy="57150"/>
          </a:xfrm>
          <a:prstGeom prst="rect">
            <a:avLst/>
          </a:prstGeom>
          <a:solidFill>
            <a:srgbClr val="34B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4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294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34B6F9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649" y="3288792"/>
            <a:ext cx="2133599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能识别复合层级并按顺序拆解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874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260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34B6F9"/>
                </a:solidFill>
                <a:latin typeface="Roboto"/>
                <a:ea typeface="Microsoft YaHei"/>
              </a:rPr>
              <a:t>POINT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0F172A"/>
                </a:solidFill>
                <a:latin typeface="Roboto"/>
                <a:ea typeface="Microsoft YaHei"/>
              </a:rPr>
              <a:t>知识回顾 vs 本节新概念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20980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209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204311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| 已学:基本求导 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423291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| 幂函数、指数、对数、三角函数的导数 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339471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| 加减法则、乘积法则、商法则 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350996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| 一阶导数的几何意义:切线斜率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0F172A"/>
                </a:solidFill>
                <a:latin typeface="Roboto"/>
                <a:ea typeface="Microsoft YaHei"/>
              </a:rPr>
              <a:t>推导过程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66700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667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4526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1、设 y = f(u),u = g(x),则 y = f(g(x))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549021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2、自变量 x 微小变化 Δx,导致 u 变化 Δu = g'(x)Δx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470439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3、u 的变化进一步导致 y 变化 Δy ≈ f'(u)Δu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480917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4、合并两步,得 Δy ≈ f'(g(x)) · g'(x) · Δx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425386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5、取极限得 dy/dx = f'(g(x)) · g'(x)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0284C7"/>
                </a:solidFill>
                <a:latin typeface="Roboto"/>
                <a:ea typeface="Microsoft YaHei"/>
              </a:rPr>
              <a:t>PROCESS → 5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747521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0F172A"/>
                </a:solidFill>
                <a:latin typeface="Roboto"/>
                <a:ea typeface="Microsoft YaHei"/>
              </a:rPr>
              <a:t>经典例题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399" y="1409699"/>
            <a:ext cx="76199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2571750"/>
            <a:ext cx="1943099" cy="2095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99" y="2571750"/>
            <a:ext cx="1943099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85899" y="2895600"/>
            <a:ext cx="495299" cy="495299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4949" y="304419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F1F5F9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99" y="3669791"/>
            <a:ext cx="156210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例 1:y = sin(2x +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1)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199" y="3619499"/>
            <a:ext cx="133350" cy="0"/>
          </a:xfrm>
          <a:prstGeom prst="line">
            <a:avLst/>
          </a:prstGeom>
          <a:ln w="381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custGeom>
            <a:pathLst>
              <a:path w="76199" h="114300">
                <a:moveTo>
                  <a:pt x="0" y="0"/>
                </a:moveTo>
                <a:lnTo>
                  <a:pt x="76199" y="57150"/>
                </a:lnTo>
                <a:lnTo>
                  <a:pt x="0" y="114300"/>
                </a:lnTo>
                <a:close/>
              </a:path>
            </a:pathLst>
          </a:custGeom>
          <a:xfrm>
            <a:off x="2876549" y="3562349"/>
            <a:ext cx="76199" cy="114300"/>
          </a:xfr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33699" y="2571750"/>
            <a:ext cx="1943099" cy="2095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33699" y="2571750"/>
            <a:ext cx="1943099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57599" y="2895600"/>
            <a:ext cx="495299" cy="495299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6649" y="304419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F1F5F9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6579" y="3669791"/>
            <a:ext cx="1577339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dy/dx = 2cos(2x +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1)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14899" y="3619499"/>
            <a:ext cx="133350" cy="0"/>
          </a:xfrm>
          <a:prstGeom prst="line">
            <a:avLst/>
          </a:prstGeom>
          <a:ln w="381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custGeom>
            <a:pathLst>
              <a:path w="76199" h="114300">
                <a:moveTo>
                  <a:pt x="0" y="0"/>
                </a:moveTo>
                <a:lnTo>
                  <a:pt x="76199" y="57150"/>
                </a:lnTo>
                <a:lnTo>
                  <a:pt x="0" y="114300"/>
                </a:lnTo>
                <a:close/>
              </a:path>
            </a:pathLst>
          </a:custGeom>
          <a:xfrm>
            <a:off x="5048249" y="3562349"/>
            <a:ext cx="76199" cy="114300"/>
          </a:xfr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05399" y="2571750"/>
            <a:ext cx="1943099" cy="2095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05399" y="2571750"/>
            <a:ext cx="1943099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29299" y="2895600"/>
            <a:ext cx="495299" cy="495299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48349" y="304419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F1F5F9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3989" y="3669791"/>
            <a:ext cx="164592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例 2:y = (3x² + 1)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⁵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86599" y="3619499"/>
            <a:ext cx="133350" cy="0"/>
          </a:xfrm>
          <a:prstGeom prst="line">
            <a:avLst/>
          </a:prstGeom>
          <a:ln w="381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custGeom>
            <a:pathLst>
              <a:path w="76199" h="114300">
                <a:moveTo>
                  <a:pt x="0" y="0"/>
                </a:moveTo>
                <a:lnTo>
                  <a:pt x="76199" y="57150"/>
                </a:lnTo>
                <a:lnTo>
                  <a:pt x="0" y="114300"/>
                </a:lnTo>
                <a:close/>
              </a:path>
            </a:pathLst>
          </a:custGeom>
          <a:xfrm>
            <a:off x="7219949" y="3562349"/>
            <a:ext cx="76199" cy="114300"/>
          </a:xfr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77099" y="2571750"/>
            <a:ext cx="1943099" cy="2095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77099" y="2571750"/>
            <a:ext cx="1943099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00999" y="2895600"/>
            <a:ext cx="495299" cy="495299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20049" y="304419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F1F5F9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9979" y="3669791"/>
            <a:ext cx="1577339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dy/dx = 30x(3x² +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1)⁴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58299" y="3619499"/>
            <a:ext cx="133350" cy="0"/>
          </a:xfrm>
          <a:prstGeom prst="line">
            <a:avLst/>
          </a:prstGeom>
          <a:ln w="381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custGeom>
            <a:pathLst>
              <a:path w="76199" h="114300">
                <a:moveTo>
                  <a:pt x="0" y="0"/>
                </a:moveTo>
                <a:lnTo>
                  <a:pt x="76199" y="57150"/>
                </a:lnTo>
                <a:lnTo>
                  <a:pt x="0" y="114300"/>
                </a:lnTo>
                <a:close/>
              </a:path>
            </a:pathLst>
          </a:custGeom>
          <a:xfrm>
            <a:off x="9391649" y="3562349"/>
            <a:ext cx="76199" cy="114300"/>
          </a:xfr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48799" y="2571750"/>
            <a:ext cx="1943099" cy="2095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48799" y="2571750"/>
            <a:ext cx="1943099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72699" y="2895600"/>
            <a:ext cx="495299" cy="495299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91749" y="304419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F1F5F9"/>
                </a:solidFill>
                <a:latin typeface="Roboto"/>
                <a:ea typeface="Microsoft YaHei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81209" y="3669791"/>
            <a:ext cx="1478279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例 3:y = e^(-x²)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0284C7"/>
                </a:solidFill>
                <a:latin typeface="Roboto"/>
                <a:ea typeface="Microsoft YaHei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747521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0F172A"/>
                </a:solidFill>
                <a:latin typeface="Roboto"/>
                <a:ea typeface="Microsoft YaHei"/>
              </a:rPr>
              <a:t>数值验证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399" y="1409699"/>
            <a:ext cx="76199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99" y="1904999"/>
            <a:ext cx="3400424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869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489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0284C7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99" y="3288792"/>
            <a:ext cx="1813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取 y = (2x+1)³,x =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069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455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0284C7"/>
                </a:solidFill>
                <a:latin typeface="Roboto"/>
                <a:ea typeface="Microsoft YaHei"/>
              </a:rPr>
              <a:t>POINT 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1024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1024" y="1904999"/>
            <a:ext cx="3400424" cy="57150"/>
          </a:xfrm>
          <a:prstGeom prst="rect">
            <a:avLst/>
          </a:prstGeom>
          <a:solidFill>
            <a:srgbClr val="00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57724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3924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005C9F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4" y="3288792"/>
            <a:ext cx="302514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链式法则:dy/dx = 3(2x+1)² · 2 = 6 ·</a:t>
            </a:r>
          </a:p>
          <a:p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9 = 54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9724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3582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005C9F"/>
                </a:solidFill>
                <a:latin typeface="Roboto"/>
                <a:ea typeface="Microsoft YaHei"/>
              </a:rPr>
              <a:t>POINT 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0049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0049" y="1904999"/>
            <a:ext cx="3400424" cy="57150"/>
          </a:xfrm>
          <a:prstGeom prst="rect">
            <a:avLst/>
          </a:prstGeom>
          <a:solidFill>
            <a:srgbClr val="34B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4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294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34B6F9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649" y="3288792"/>
            <a:ext cx="307848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数值差分(Δx=0.001):差值 / Δx ≈ 54.01</a:t>
            </a:r>
          </a:p>
          <a:p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874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260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34B6F9"/>
                </a:solidFill>
                <a:latin typeface="Roboto"/>
                <a:ea typeface="Microsoft YaHei"/>
              </a:rPr>
              <a:t>POINT 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0284C7"/>
              </a:gs>
              <a:gs pos="100000">
                <a:srgbClr val="0284C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2E8F0"/>
                </a:solidFill>
                <a:latin typeface="Roboto"/>
                <a:ea typeface="Microsoft YaHei"/>
              </a:rPr>
              <a:t>07 / 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199" y="2381250"/>
            <a:ext cx="609600" cy="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76749" y="2547366"/>
            <a:ext cx="3238499" cy="809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99" b="1">
                <a:solidFill>
                  <a:srgbClr val="0F172A"/>
                </a:solidFill>
                <a:latin typeface="Roboto"/>
                <a:ea typeface="Microsoft YaHei"/>
              </a:rPr>
              <a:t>课后练习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8002" y="3521964"/>
            <a:ext cx="60559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&amp;gt; 完成讲义第 87 页 1 - 12 题,周三课前提交至学习通。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