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3238500"/>
            <a:ext cx="7238999" cy="7238999"/>
          </a:xfrm>
          <a:prstGeom prst="ellipse">
            <a:avLst/>
          </a:prstGeom>
          <a:gradFill>
            <a:gsLst>
              <a:gs pos="0">
                <a:srgbClr val="B22222"/>
              </a:gs>
              <a:gs pos="100000">
                <a:srgbClr val="B2222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33499" y="4000500"/>
            <a:ext cx="4952999" cy="4952999"/>
          </a:xfrm>
          <a:prstGeom prst="ellipse">
            <a:avLst/>
          </a:prstGeom>
          <a:gradFill>
            <a:gsLst>
              <a:gs pos="0">
                <a:srgbClr val="B22222"/>
              </a:gs>
              <a:gs pos="100000">
                <a:srgbClr val="B2222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B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E8D7D3"/>
                </a:solidFill>
                <a:latin typeface="Source Han Serif SC"/>
                <a:ea typeface="Source Han Serif SC"/>
              </a:rPr>
              <a:t>01 / 07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399" y="2362199"/>
            <a:ext cx="571499" cy="28575"/>
          </a:xfrm>
          <a:prstGeom prst="rect">
            <a:avLst/>
          </a:prstGeom>
          <a:gradFill>
            <a:gsLst>
              <a:gs pos="0">
                <a:srgbClr val="B22222"/>
              </a:gs>
              <a:gs pos="100000">
                <a:srgbClr val="B22222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299" y="2296667"/>
            <a:ext cx="100964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49" b="0">
                <a:solidFill>
                  <a:srgbClr val="B22222"/>
                </a:solidFill>
                <a:latin typeface="Source Han Serif SC"/>
                <a:ea typeface="Source Han Serif SC"/>
              </a:rPr>
              <a:t>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399" y="2948177"/>
            <a:ext cx="10820399" cy="523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300" b="1">
                <a:solidFill>
                  <a:srgbClr val="1A1A1A"/>
                </a:solidFill>
                <a:latin typeface="Source Han Serif SC"/>
                <a:ea typeface="Source Han Serif SC"/>
              </a:rPr>
              <a:t>2025 年度工作总结暨 2026 年工作部署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399" y="5943600"/>
            <a:ext cx="380999" cy="1905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09699" y="5895594"/>
            <a:ext cx="103250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E8D7D3"/>
                </a:solidFill>
                <a:latin typeface="Source Han Serif SC"/>
                <a:ea typeface="Source Han Serif SC"/>
              </a:rPr>
              <a:t>07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B22222"/>
              </a:gs>
              <a:gs pos="100000">
                <a:srgbClr val="B2222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B22222"/>
              </a:gs>
              <a:gs pos="100000">
                <a:srgbClr val="B2222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B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E8D7D3"/>
                </a:solidFill>
                <a:latin typeface="Source Han Serif SC"/>
                <a:ea typeface="Source Han Serif SC"/>
              </a:rPr>
              <a:t>02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648081"/>
            <a:ext cx="108203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1">
                <a:solidFill>
                  <a:srgbClr val="B22222"/>
                </a:solidFill>
                <a:latin typeface="Source Han Serif SC"/>
                <a:ea typeface="Source Han Serif SC"/>
              </a:rPr>
              <a:t>指导思想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4899" y="1474469"/>
            <a:ext cx="2362199" cy="1904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999" b="1">
                <a:solidFill>
                  <a:srgbClr val="B22222"/>
                </a:solidFill>
                <a:latin typeface="Georgia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7339" y="2805684"/>
            <a:ext cx="9037320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1A1A1A"/>
                </a:solidFill>
                <a:latin typeface="Source Han Serif SC"/>
                <a:ea typeface="Source Han Serif SC"/>
              </a:rPr>
              <a:t>以高质量发展为主线,坚持稳中求进,持续优化营商环境,服务好辖</a:t>
            </a:r>
          </a:p>
          <a:p>
            <a:pPr algn="ctr"/>
            <a:r>
              <a:rPr sz="2400" b="0">
                <a:solidFill>
                  <a:srgbClr val="1A1A1A"/>
                </a:solidFill>
                <a:latin typeface="Source Han Serif SC"/>
                <a:ea typeface="Source Han Serif SC"/>
              </a:rPr>
              <a:t>区企业与群众。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10249" y="4171950"/>
            <a:ext cx="571500" cy="0"/>
          </a:xfrm>
          <a:prstGeom prst="line">
            <a:avLst/>
          </a:prstGeom>
          <a:ln w="25400">
            <a:solidFill>
              <a:srgbClr val="B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B22222"/>
              </a:gs>
              <a:gs pos="100000">
                <a:srgbClr val="B2222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B22222"/>
              </a:gs>
              <a:gs pos="100000">
                <a:srgbClr val="B2222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B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E8D7D3"/>
                </a:solidFill>
                <a:latin typeface="Source Han Serif SC"/>
                <a:ea typeface="Source Han Serif SC"/>
              </a:rPr>
              <a:t>03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537972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1A1A1A"/>
                </a:solidFill>
                <a:latin typeface="Source Han Serif SC"/>
                <a:ea typeface="Source Han Serif SC"/>
              </a:rPr>
              <a:t>主要成绩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399" y="1143000"/>
            <a:ext cx="761999" cy="3810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1999" y="1600200"/>
            <a:ext cx="3400424" cy="3619499"/>
          </a:xfrm>
          <a:prstGeom prst="roundRect">
            <a:avLst/>
          </a:prstGeom>
          <a:gradFill>
            <a:gsLst>
              <a:gs pos="0">
                <a:srgbClr val="FBF3F1"/>
              </a:gs>
              <a:gs pos="100000">
                <a:srgbClr val="E8D7D3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1999" y="1600200"/>
            <a:ext cx="3400424" cy="57150"/>
          </a:xfrm>
          <a:prstGeom prst="round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28849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22222"/>
                </a:solidFill>
                <a:latin typeface="Source Han Serif SC"/>
                <a:ea typeface="Source Han Serif S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8249" y="2785110"/>
            <a:ext cx="24384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1A1A1A"/>
                </a:solidFill>
                <a:latin typeface="Source Han Serif SC"/>
                <a:ea typeface="Source Han Serif SC"/>
              </a:rPr>
              <a:t>6.8%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9699" y="4622292"/>
            <a:ext cx="20954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Source Han Serif SC"/>
                <a:ea typeface="Source Han Serif SC"/>
              </a:rPr>
              <a:t>地区生产总值 GDP 同比增长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1024" y="1600200"/>
            <a:ext cx="3400424" cy="3619499"/>
          </a:xfrm>
          <a:prstGeom prst="roundRect">
            <a:avLst/>
          </a:prstGeom>
          <a:gradFill>
            <a:gsLst>
              <a:gs pos="0">
                <a:srgbClr val="FBF3F1"/>
              </a:gs>
              <a:gs pos="100000">
                <a:srgbClr val="E8D7D3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91024" y="1600200"/>
            <a:ext cx="3400424" cy="57150"/>
          </a:xfrm>
          <a:prstGeom prst="round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7874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22222"/>
                </a:solidFill>
                <a:latin typeface="Source Han Serif SC"/>
                <a:ea typeface="Source Han Serif S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7274" y="2785110"/>
            <a:ext cx="24384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1A1A1A"/>
                </a:solidFill>
                <a:latin typeface="Source Han Serif SC"/>
                <a:ea typeface="Source Han Serif SC"/>
              </a:rPr>
              <a:t>9.4%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9494" y="4622292"/>
            <a:ext cx="501396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Source Han Serif SC"/>
                <a:ea typeface="Source Han Serif SC"/>
              </a:rPr>
              <a:t>,超额完成年度目标</a:t>
            </a:r>
          </a:p>
          <a:p>
            <a:pPr algn="ctr"/>
            <a:r>
              <a:rPr sz="1200" b="0">
                <a:solidFill>
                  <a:srgbClr val="4A4A4A"/>
                </a:solidFill>
                <a:latin typeface="Source Han Serif SC"/>
                <a:ea typeface="Source Han Serif SC"/>
              </a:rPr>
              <a:t>- 规上工业企业新增 142 家,累计达到 2380 家</a:t>
            </a:r>
          </a:p>
          <a:p>
            <a:pPr algn="ctr"/>
            <a:r>
              <a:rPr sz="1200" b="0">
                <a:solidFill>
                  <a:srgbClr val="4A4A4A"/>
                </a:solidFill>
                <a:latin typeface="Source Han Serif SC"/>
                <a:ea typeface="Source Han Serif SC"/>
              </a:rPr>
              <a:t>-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0049" y="1600200"/>
            <a:ext cx="3400424" cy="3619499"/>
          </a:xfrm>
          <a:prstGeom prst="roundRect">
            <a:avLst/>
          </a:prstGeom>
          <a:gradFill>
            <a:gsLst>
              <a:gs pos="0">
                <a:srgbClr val="FBF3F1"/>
              </a:gs>
              <a:gs pos="100000">
                <a:srgbClr val="E8D7D3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20049" y="1600200"/>
            <a:ext cx="3400424" cy="57150"/>
          </a:xfrm>
          <a:prstGeom prst="round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86899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22222"/>
                </a:solidFill>
                <a:latin typeface="Source Han Serif SC"/>
                <a:ea typeface="Source Han Serif SC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849" y="2785110"/>
            <a:ext cx="20193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1A1A1A"/>
                </a:solidFill>
                <a:latin typeface="Source Han Serif SC"/>
                <a:ea typeface="Source Han Serif SC"/>
              </a:rPr>
              <a:t>78%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71359" y="4622292"/>
            <a:ext cx="528828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Source Han Serif SC"/>
                <a:ea typeface="Source Han Serif SC"/>
              </a:rPr>
              <a:t>居民人均可支配收入 5.2 万元,城乡差距缩小至 1.78</a:t>
            </a:r>
          </a:p>
          <a:p>
            <a:pPr algn="ctr"/>
            <a:r>
              <a:rPr sz="1200" b="0">
                <a:solidFill>
                  <a:srgbClr val="4A4A4A"/>
                </a:solidFill>
                <a:latin typeface="Source Han Serif SC"/>
                <a:ea typeface="Source Han Serif SC"/>
              </a:rPr>
              <a:t>- 民生投入占财政支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B22222"/>
              </a:gs>
              <a:gs pos="100000">
                <a:srgbClr val="B2222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B22222"/>
              </a:gs>
              <a:gs pos="100000">
                <a:srgbClr val="B2222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B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E8D7D3"/>
                </a:solidFill>
                <a:latin typeface="Source Han Serif SC"/>
                <a:ea typeface="Source Han Serif SC"/>
              </a:rPr>
              <a:t>04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537972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1A1A1A"/>
                </a:solidFill>
                <a:latin typeface="Source Han Serif SC"/>
                <a:ea typeface="Source Han Serif SC"/>
              </a:rPr>
              <a:t>关键数据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399" y="1143000"/>
            <a:ext cx="761999" cy="3810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1999" y="1485900"/>
            <a:ext cx="10667999" cy="2667000"/>
          </a:xfrm>
          <a:prstGeom prst="roundRect">
            <a:avLst/>
          </a:prstGeom>
          <a:gradFill>
            <a:gsLst>
              <a:gs pos="0">
                <a:srgbClr val="FBF3F1"/>
              </a:gs>
              <a:gs pos="100000">
                <a:srgbClr val="E8D7D3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1999" y="1485900"/>
            <a:ext cx="38099" cy="266700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6799" y="1674113"/>
            <a:ext cx="443198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A4A4A"/>
                </a:solidFill>
                <a:latin typeface="Source Han Serif SC"/>
                <a:ea typeface="Source Han Serif SC"/>
              </a:rPr>
              <a:t>- 新增市场主体 4.6 万户,日均诞生 126 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799" y="2131314"/>
            <a:ext cx="4337685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A4A4A"/>
                </a:solidFill>
                <a:latin typeface="Source Han Serif SC"/>
                <a:ea typeface="Source Han Serif SC"/>
              </a:rPr>
              <a:t>- 高新技术企业数量 1860 家,较上年 +18%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799" y="2588514"/>
            <a:ext cx="439007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A4A4A"/>
                </a:solidFill>
                <a:latin typeface="Source Han Serif SC"/>
                <a:ea typeface="Source Han Serif SC"/>
              </a:rPr>
              <a:t>- 规上服务业营业收入突破千亿,增速 12.3%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799" y="3045714"/>
            <a:ext cx="448437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A4A4A"/>
                </a:solidFill>
                <a:latin typeface="Source Han Serif SC"/>
                <a:ea typeface="Source Han Serif SC"/>
              </a:rPr>
              <a:t>- 全社会研发投入强度达到 3.5%,创历史新高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799" y="3502913"/>
            <a:ext cx="42748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4A4A4A"/>
                </a:solidFill>
                <a:latin typeface="Source Han Serif SC"/>
                <a:ea typeface="Source Han Serif SC"/>
              </a:rPr>
              <a:t>- 城镇调查失业率年均 4.2%,低于年度目标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B22222"/>
              </a:gs>
              <a:gs pos="100000">
                <a:srgbClr val="B2222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B22222"/>
              </a:gs>
              <a:gs pos="100000">
                <a:srgbClr val="B2222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B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E8D7D3"/>
                </a:solidFill>
                <a:latin typeface="Source Han Serif SC"/>
                <a:ea typeface="Source Han Serif SC"/>
              </a:rPr>
              <a:t>05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537972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1A1A1A"/>
                </a:solidFill>
                <a:latin typeface="Source Han Serif SC"/>
                <a:ea typeface="Source Han Serif SC"/>
              </a:rPr>
              <a:t>经验做法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399" y="1143000"/>
            <a:ext cx="761999" cy="3810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1999" y="1600200"/>
            <a:ext cx="5219699" cy="3619499"/>
          </a:xfrm>
          <a:prstGeom prst="roundRect">
            <a:avLst/>
          </a:prstGeom>
          <a:gradFill>
            <a:gsLst>
              <a:gs pos="0">
                <a:srgbClr val="FBF3F1"/>
              </a:gs>
              <a:gs pos="100000">
                <a:srgbClr val="E8D7D3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1999" y="1600200"/>
            <a:ext cx="5219699" cy="57150"/>
          </a:xfrm>
          <a:prstGeom prst="round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43249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22222"/>
                </a:solidFill>
                <a:latin typeface="Source Han Serif SC"/>
                <a:ea typeface="Source Han Serif S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62199" y="2785110"/>
            <a:ext cx="2019300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1A1A1A"/>
                </a:solidFill>
                <a:latin typeface="Source Han Serif SC"/>
                <a:ea typeface="Source Han Serif SC"/>
              </a:rPr>
              <a:t>42%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679" y="4622292"/>
            <a:ext cx="5768340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Source Han Serif SC"/>
                <a:ea typeface="Source Han Serif SC"/>
              </a:rPr>
              <a:t>1、坚持党建引领,锤炼一支能打硬仗的干部队伍</a:t>
            </a:r>
          </a:p>
          <a:p>
            <a:pPr algn="ctr"/>
            <a:r>
              <a:rPr sz="1200" b="0">
                <a:solidFill>
                  <a:srgbClr val="4A4A4A"/>
                </a:solidFill>
                <a:latin typeface="Source Han Serif SC"/>
                <a:ea typeface="Source Han Serif SC"/>
              </a:rPr>
              <a:t>2、深化"放管服"改革,审批事项压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299" y="1600200"/>
            <a:ext cx="5219699" cy="3619499"/>
          </a:xfrm>
          <a:prstGeom prst="roundRect">
            <a:avLst/>
          </a:prstGeom>
          <a:gradFill>
            <a:gsLst>
              <a:gs pos="0">
                <a:srgbClr val="FBF3F1"/>
              </a:gs>
              <a:gs pos="100000">
                <a:srgbClr val="E8D7D3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0299" y="1600200"/>
            <a:ext cx="5219699" cy="57150"/>
          </a:xfrm>
          <a:prstGeom prst="round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1549" y="2066543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22222"/>
                </a:solidFill>
                <a:latin typeface="Source Han Serif SC"/>
                <a:ea typeface="Source Han Serif S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1399" y="2785110"/>
            <a:ext cx="2857499" cy="952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999" b="1">
                <a:solidFill>
                  <a:srgbClr val="1A1A1A"/>
                </a:solidFill>
                <a:latin typeface="Source Han Serif SC"/>
                <a:ea typeface="Source Han Serif SC"/>
              </a:rPr>
              <a:t>98.6%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35979" y="4622292"/>
            <a:ext cx="5768339" cy="380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Source Han Serif SC"/>
                <a:ea typeface="Source Han Serif SC"/>
              </a:rPr>
              <a:t>3、构建"亲清"政商关系,设立企业服务专员制度</a:t>
            </a:r>
          </a:p>
          <a:p>
            <a:pPr algn="ctr"/>
            <a:r>
              <a:rPr sz="1200" b="0">
                <a:solidFill>
                  <a:srgbClr val="4A4A4A"/>
                </a:solidFill>
                <a:latin typeface="Source Han Serif SC"/>
                <a:ea typeface="Source Han Serif SC"/>
              </a:rPr>
              <a:t>4、用好数字技术赋能基层治理,网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B22222"/>
              </a:gs>
              <a:gs pos="100000">
                <a:srgbClr val="B2222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B22222"/>
              </a:gs>
              <a:gs pos="100000">
                <a:srgbClr val="B2222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B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E8D7D3"/>
                </a:solidFill>
                <a:latin typeface="Source Han Serif SC"/>
                <a:ea typeface="Source Han Serif SC"/>
              </a:rPr>
              <a:t>06 /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648081"/>
            <a:ext cx="1082039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1">
                <a:solidFill>
                  <a:srgbClr val="B22222"/>
                </a:solidFill>
                <a:latin typeface="Source Han Serif SC"/>
                <a:ea typeface="Source Han Serif SC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99" y="747521"/>
            <a:ext cx="10820399" cy="6667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199" b="1">
                <a:solidFill>
                  <a:srgbClr val="1A1A1A"/>
                </a:solidFill>
                <a:latin typeface="Source Han Serif SC"/>
                <a:ea typeface="Source Han Serif SC"/>
              </a:rPr>
              <a:t>存在问题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399" y="1409699"/>
            <a:ext cx="761999" cy="3810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1999" y="1904999"/>
            <a:ext cx="3400424" cy="3619499"/>
          </a:xfrm>
          <a:prstGeom prst="roundRect">
            <a:avLst/>
          </a:prstGeom>
          <a:solidFill>
            <a:srgbClr val="FB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1999" y="1904999"/>
            <a:ext cx="3400424" cy="5715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8699" y="2343150"/>
            <a:ext cx="609599" cy="609600"/>
          </a:xfrm>
          <a:prstGeom prst="ellipse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4899" y="253136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B22222"/>
                </a:solidFill>
                <a:latin typeface="Source Han Serif SC"/>
                <a:ea typeface="Source Han Serif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599" y="3288792"/>
            <a:ext cx="28270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Source Han Serif SC"/>
                <a:ea typeface="Source Han Serif SC"/>
              </a:rPr>
              <a:t>县域之间发展不平衡,南北差距仍较明显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90699" y="5105400"/>
            <a:ext cx="1333499" cy="228600"/>
          </a:xfrm>
          <a:prstGeom prst="roundRect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74557" y="5161407"/>
            <a:ext cx="5657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1">
                <a:solidFill>
                  <a:srgbClr val="B22222"/>
                </a:solidFill>
                <a:latin typeface="Source Han Serif SC"/>
                <a:ea typeface="Source Han Serif SC"/>
              </a:rPr>
              <a:t>POINT 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91024" y="1904999"/>
            <a:ext cx="3400424" cy="3619499"/>
          </a:xfrm>
          <a:prstGeom prst="roundRect">
            <a:avLst/>
          </a:prstGeom>
          <a:solidFill>
            <a:srgbClr val="FB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91024" y="1904999"/>
            <a:ext cx="3400424" cy="57150"/>
          </a:xfrm>
          <a:prstGeom prst="rect">
            <a:avLst/>
          </a:prstGeom>
          <a:solidFill>
            <a:srgbClr val="8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57724" y="2343150"/>
            <a:ext cx="609599" cy="609600"/>
          </a:xfrm>
          <a:prstGeom prst="ellipse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3924" y="253136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8A0000"/>
                </a:solidFill>
                <a:latin typeface="Source Han Serif SC"/>
                <a:ea typeface="Source Han Serif SC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9624" y="3288792"/>
            <a:ext cx="2895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Source Han Serif SC"/>
                <a:ea typeface="Source Han Serif SC"/>
              </a:rPr>
              <a:t>战略性新兴产业集群尚未形成全国影响力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19724" y="5105400"/>
            <a:ext cx="1333499" cy="228600"/>
          </a:xfrm>
          <a:prstGeom prst="roundRect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3582" y="5161407"/>
            <a:ext cx="5657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1">
                <a:solidFill>
                  <a:srgbClr val="8A0000"/>
                </a:solidFill>
                <a:latin typeface="Source Han Serif SC"/>
                <a:ea typeface="Source Han Serif SC"/>
              </a:rPr>
              <a:t>POINT 02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0049" y="1904999"/>
            <a:ext cx="3400424" cy="3619499"/>
          </a:xfrm>
          <a:prstGeom prst="roundRect">
            <a:avLst/>
          </a:prstGeom>
          <a:solidFill>
            <a:srgbClr val="FB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0049" y="1904999"/>
            <a:ext cx="3400424" cy="57150"/>
          </a:xfrm>
          <a:prstGeom prst="rect">
            <a:avLst/>
          </a:prstGeom>
          <a:solidFill>
            <a:srgbClr val="E4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86749" y="2343150"/>
            <a:ext cx="609599" cy="609600"/>
          </a:xfrm>
          <a:prstGeom prst="ellipse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2949" y="253136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E45454"/>
                </a:solidFill>
                <a:latin typeface="Source Han Serif SC"/>
                <a:ea typeface="Source Han Serif SC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8649" y="3288792"/>
            <a:ext cx="28956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Source Han Serif SC"/>
                <a:ea typeface="Source Han Serif SC"/>
              </a:rPr>
              <a:t>高层次人才引育与发达城市相比仍有差距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48749" y="5105400"/>
            <a:ext cx="1333499" cy="228600"/>
          </a:xfrm>
          <a:prstGeom prst="roundRect">
            <a:avLst/>
          </a:prstGeom>
          <a:solidFill>
            <a:schemeClr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32607" y="5161407"/>
            <a:ext cx="5657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25" b="1">
                <a:solidFill>
                  <a:srgbClr val="E45454"/>
                </a:solidFill>
                <a:latin typeface="Source Han Serif SC"/>
                <a:ea typeface="Source Han Serif SC"/>
              </a:rPr>
              <a:t>POINT 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81999" y="-2476499"/>
            <a:ext cx="6095999" cy="6095999"/>
          </a:xfrm>
          <a:prstGeom prst="ellipse">
            <a:avLst/>
          </a:prstGeom>
          <a:gradFill>
            <a:gsLst>
              <a:gs pos="0">
                <a:srgbClr val="B22222"/>
              </a:gs>
              <a:gs pos="100000">
                <a:srgbClr val="B2222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42999" y="4000500"/>
            <a:ext cx="3428999" cy="3429000"/>
          </a:xfrm>
          <a:prstGeom prst="ellipse">
            <a:avLst/>
          </a:prstGeom>
          <a:gradFill>
            <a:gsLst>
              <a:gs pos="0">
                <a:srgbClr val="B22222"/>
              </a:gs>
              <a:gs pos="100000">
                <a:srgbClr val="B2222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FB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3244" y="6657594"/>
            <a:ext cx="5543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E8D7D3"/>
                </a:solidFill>
                <a:latin typeface="Source Han Serif SC"/>
                <a:ea typeface="Source Han Serif SC"/>
              </a:rPr>
              <a:t>07 / 07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91199" y="2381250"/>
            <a:ext cx="609600" cy="0"/>
          </a:xfrm>
          <a:prstGeom prst="line">
            <a:avLst/>
          </a:prstGeom>
          <a:ln w="25400">
            <a:solidFill>
              <a:srgbClr val="B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52899" y="2547366"/>
            <a:ext cx="3886200" cy="809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099" b="1">
                <a:solidFill>
                  <a:srgbClr val="1A1A1A"/>
                </a:solidFill>
                <a:latin typeface="Source Han Serif SC"/>
                <a:ea typeface="Source Han Serif SC"/>
              </a:rPr>
              <a:t>下阶段安排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46583" y="3521964"/>
            <a:ext cx="589883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50" b="0">
                <a:solidFill>
                  <a:srgbClr val="4A4A4A"/>
                </a:solidFill>
                <a:latin typeface="Source Han Serif SC"/>
                <a:ea typeface="Source Han Serif SC"/>
              </a:rPr>
              <a:t>- 抓项目:全年开工亿元以上项目 320 个,确保投资增长 12%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