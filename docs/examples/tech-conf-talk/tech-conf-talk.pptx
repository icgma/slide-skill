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3238500"/>
            <a:ext cx="7238999" cy="7238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33499" y="4000500"/>
            <a:ext cx="4952999" cy="4952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01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" y="2362199"/>
            <a:ext cx="571499" cy="28575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299" y="2296667"/>
            <a:ext cx="10096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49" b="0">
                <a:solidFill>
                  <a:srgbClr val="1C7293"/>
                </a:solidFill>
                <a:latin typeface="Roboto"/>
                <a:ea typeface="PingFang SC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948177"/>
            <a:ext cx="10820399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E0F2FE"/>
                </a:solidFill>
                <a:latin typeface="Roboto"/>
                <a:ea typeface="PingFang SC"/>
              </a:rPr>
              <a:t>大型推理服务的成本之战 · QCon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9" y="5943600"/>
            <a:ext cx="380999" cy="1905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699" y="5895594"/>
            <a:ext cx="103250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1C7293"/>
                </a:solidFill>
                <a:latin typeface="Roboto"/>
                <a:ea typeface="PingFang SC"/>
              </a:rPr>
              <a:t>演讲主题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899" y="1703069"/>
            <a:ext cx="2362199" cy="1904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999" b="1">
                <a:solidFill>
                  <a:srgbClr val="1C7293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6879" y="3034284"/>
            <a:ext cx="877824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E0F2FE"/>
                </a:solidFill>
                <a:latin typeface="Roboto"/>
                <a:ea typeface="PingFang SC"/>
              </a:rPr>
              <a:t>把每一次推理调用,从 0.012 美元降到 0.0006 美元的两年。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10249" y="3943350"/>
            <a:ext cx="57150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E0F2FE"/>
                </a:solidFill>
                <a:latin typeface="Roboto"/>
                <a:ea typeface="PingFang SC"/>
              </a:rPr>
              <a:t>我们的痛点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3400424" cy="3619499"/>
          </a:xfrm>
          <a:prstGeom prst="roundRect">
            <a:avLst/>
          </a:prstGeom>
          <a:gradFill>
            <a:gsLst>
              <a:gs pos="0">
                <a:srgbClr val="102A43"/>
              </a:gs>
              <a:gs pos="100000">
                <a:srgbClr val="21295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3400424" cy="5715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88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C7293"/>
                </a:solidFill>
                <a:latin typeface="Roboto"/>
                <a:ea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79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E0F2FE"/>
                </a:solidFill>
                <a:latin typeface="Roboto"/>
                <a:ea typeface="PingFang SC"/>
              </a:rPr>
              <a:t>64%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59" y="4622292"/>
            <a:ext cx="30403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B3CC"/>
                </a:solidFill>
                <a:latin typeface="Roboto"/>
                <a:ea typeface="PingFang SC"/>
              </a:rPr>
              <a:t>推理流量两年增长 87 倍,GPU 账单占成本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1024" y="1600200"/>
            <a:ext cx="3400424" cy="3619499"/>
          </a:xfrm>
          <a:prstGeom prst="roundRect">
            <a:avLst/>
          </a:prstGeom>
          <a:gradFill>
            <a:gsLst>
              <a:gs pos="0">
                <a:srgbClr val="102A43"/>
              </a:gs>
              <a:gs pos="100000">
                <a:srgbClr val="21295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1024" y="1600200"/>
            <a:ext cx="3400424" cy="5715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787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C7293"/>
                </a:solidFill>
                <a:latin typeface="Roboto"/>
                <a:ea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682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E0F2FE"/>
                </a:solidFill>
                <a:latin typeface="Roboto"/>
                <a:ea typeface="PingFang SC"/>
              </a:rPr>
              <a:t>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9494" y="4622292"/>
            <a:ext cx="501396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B3CC"/>
                </a:solidFill>
                <a:latin typeface="Roboto"/>
                <a:ea typeface="PingFang SC"/>
              </a:rPr>
              <a:t>高峰期 P99 延迟突破 1.8 秒,影响用户体验</a:t>
            </a:r>
          </a:p>
          <a:p>
            <a:pPr algn="ctr"/>
            <a:r>
              <a:rPr sz="1200" b="0">
                <a:solidFill>
                  <a:srgbClr val="94B3CC"/>
                </a:solidFill>
                <a:latin typeface="Roboto"/>
                <a:ea typeface="PingFang SC"/>
              </a:rPr>
              <a:t>- 长尾模型种类超过 200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0049" y="1600200"/>
            <a:ext cx="3400424" cy="3619499"/>
          </a:xfrm>
          <a:prstGeom prst="roundRect">
            <a:avLst/>
          </a:prstGeom>
          <a:gradFill>
            <a:gsLst>
              <a:gs pos="0">
                <a:srgbClr val="102A43"/>
              </a:gs>
              <a:gs pos="100000">
                <a:srgbClr val="21295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0049" y="1600200"/>
            <a:ext cx="3400424" cy="5715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689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C7293"/>
                </a:solidFill>
                <a:latin typeface="Roboto"/>
                <a:ea typeface="PingFang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84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E0F2FE"/>
                </a:solidFill>
                <a:latin typeface="Roboto"/>
                <a:ea typeface="PingFang SC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2099" y="4622292"/>
            <a:ext cx="10667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B3CC"/>
                </a:solidFill>
                <a:latin typeface="Roboto"/>
                <a:ea typeface="PingFang SC"/>
              </a:rPr>
              <a:t>多云部署带来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E0F2FE"/>
                </a:solidFill>
                <a:latin typeface="Roboto"/>
                <a:ea typeface="PingFang SC"/>
              </a:rPr>
              <a:t>核心数据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102A43"/>
              </a:gs>
              <a:gs pos="100000">
                <a:srgbClr val="21295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47986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- 单次推理成本下降 95%,从 1.2 分到 0.06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382428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- GPU 平均利用率从 18% 提升到 71%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37928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- P99 延迟从 1820 ms 降到 380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376142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- 模型加载时间从 90 秒压缩到 3 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408622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- 容量弹性窗口从 30 分钟缩短到 90 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E0F2FE"/>
                </a:solidFill>
                <a:latin typeface="Roboto"/>
                <a:ea typeface="PingFang SC"/>
              </a:rPr>
              <a:t>我们的解法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5219699" cy="3619499"/>
          </a:xfrm>
          <a:prstGeom prst="roundRect">
            <a:avLst/>
          </a:prstGeom>
          <a:gradFill>
            <a:gsLst>
              <a:gs pos="0">
                <a:srgbClr val="102A43"/>
              </a:gs>
              <a:gs pos="100000">
                <a:srgbClr val="21295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5219699" cy="5715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32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C7293"/>
                </a:solidFill>
                <a:latin typeface="Roboto"/>
                <a:ea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219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E0F2FE"/>
                </a:solidFill>
                <a:latin typeface="Roboto"/>
                <a:ea typeface="PingFang SC"/>
              </a:rPr>
              <a:t>64%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9729" y="4622292"/>
            <a:ext cx="344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B3CC"/>
                </a:solidFill>
                <a:latin typeface="Roboto"/>
                <a:ea typeface="PingFang SC"/>
              </a:rPr>
              <a:t>1、统一推理网关:KV-Cache 跨请求复用,命中率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299" y="1600200"/>
            <a:ext cx="5219699" cy="3619499"/>
          </a:xfrm>
          <a:prstGeom prst="roundRect">
            <a:avLst/>
          </a:prstGeom>
          <a:gradFill>
            <a:gsLst>
              <a:gs pos="0">
                <a:srgbClr val="102A43"/>
              </a:gs>
              <a:gs pos="100000">
                <a:srgbClr val="21295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299" y="1600200"/>
            <a:ext cx="5219699" cy="5715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15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C7293"/>
                </a:solidFill>
                <a:latin typeface="Roboto"/>
                <a:ea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0049" y="2785110"/>
            <a:ext cx="16002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E0F2FE"/>
                </a:solidFill>
                <a:latin typeface="Roboto"/>
                <a:ea typeface="PingFang SC"/>
              </a:rPr>
              <a:t>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069" y="4622292"/>
            <a:ext cx="432816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B3CC"/>
                </a:solidFill>
                <a:latin typeface="Roboto"/>
                <a:ea typeface="PingFang SC"/>
              </a:rPr>
              <a:t>2、混合精度调度:fp16 / int8 / int4 按 SLA 智能切换</a:t>
            </a:r>
          </a:p>
          <a:p>
            <a:pPr algn="ctr"/>
            <a:r>
              <a:rPr sz="1200" b="0">
                <a:solidFill>
                  <a:srgbClr val="94B3CC"/>
                </a:solidFill>
                <a:latin typeface="Roboto"/>
                <a:ea typeface="PingFang SC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E0F2FE"/>
                </a:solidFill>
                <a:latin typeface="Roboto"/>
                <a:ea typeface="PingFang SC"/>
              </a:rPr>
              <a:t>我们 vs 其他方案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10667999" cy="3619499"/>
          </a:xfrm>
          <a:prstGeom prst="roundRect">
            <a:avLst/>
          </a:prstGeom>
          <a:gradFill>
            <a:gsLst>
              <a:gs pos="0">
                <a:srgbClr val="102A43"/>
              </a:gs>
              <a:gs pos="100000">
                <a:srgbClr val="21295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10667999" cy="5715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6739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C7293"/>
                </a:solidFill>
                <a:latin typeface="Roboto"/>
                <a:ea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634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E0F2FE"/>
                </a:solidFill>
                <a:latin typeface="Roboto"/>
                <a:ea typeface="PingFang SC"/>
              </a:rP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499" y="4622292"/>
            <a:ext cx="4191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B3CC"/>
                </a:solidFill>
                <a:latin typeface="Roboto"/>
                <a:ea typeface="PingFang SC"/>
              </a:rPr>
              <a:t>| 方案 | 单 token 成本 |</a:t>
            </a:r>
          </a:p>
          <a:p>
            <a:pPr algn="ctr"/>
            <a:r>
              <a:rPr sz="1200" b="0">
                <a:solidFill>
                  <a:srgbClr val="94B3CC"/>
                </a:solidFill>
                <a:latin typeface="Roboto"/>
                <a:ea typeface="PingFang SC"/>
              </a:rPr>
              <a:t>| 自建 vLLM 单节点 | 0.00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07 /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199" y="2381250"/>
            <a:ext cx="60960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76749" y="2547366"/>
            <a:ext cx="3238499" cy="809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99" b="1">
                <a:solidFill>
                  <a:srgbClr val="E0F2FE"/>
                </a:solidFill>
                <a:latin typeface="Roboto"/>
                <a:ea typeface="PingFang SC"/>
              </a:rPr>
              <a:t>经验沉淀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3117" y="3521964"/>
            <a:ext cx="80257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&amp;gt; 真正省钱的不是更便宜的硬件,而是把每一比特带宽与显存都用满的工程纪律。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