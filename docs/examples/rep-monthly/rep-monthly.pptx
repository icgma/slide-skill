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0284C7"/>
                </a:solidFill>
                <a:latin typeface="Roboto"/>
                <a:ea typeface="Microsoft YaHei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702814"/>
            <a:ext cx="10820399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0F172A"/>
                </a:solidFill>
                <a:latin typeface="Roboto"/>
                <a:ea typeface="Microsoft YaHei"/>
              </a:rPr>
              <a:t>2026 年 4 月业务月报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北极星指标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249554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2495549" cy="5715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11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284C7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0F172A"/>
                </a:solidFill>
                <a:latin typeface="Roboto"/>
                <a:ea typeface="Microsoft YaHei"/>
              </a:rPr>
              <a:t>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254" y="4622292"/>
            <a:ext cx="2225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月活用户 MAU 480 万,环比 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6149" y="1600200"/>
            <a:ext cx="249554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86149" y="1600200"/>
            <a:ext cx="2495549" cy="5715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532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284C7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4724" y="2785110"/>
            <a:ext cx="24384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0F172A"/>
                </a:solidFill>
                <a:latin typeface="Roboto"/>
                <a:ea typeface="Microsoft YaHei"/>
              </a:rPr>
              <a:t>8.4%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6724" y="46222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付费转化率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299" y="1600200"/>
            <a:ext cx="249554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0299" y="1600200"/>
            <a:ext cx="2495549" cy="5715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94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284C7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0F172A"/>
                </a:solidFill>
                <a:latin typeface="Roboto"/>
                <a:ea typeface="Microsoft YaHei"/>
              </a:rPr>
              <a:t>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1614" y="4622292"/>
            <a:ext cx="431292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,环比 +0.6 pct</a:t>
            </a:r>
          </a:p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- 月度经常性收入 MRR 1240 万元,环比 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4449" y="1600200"/>
            <a:ext cx="249554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34449" y="1600200"/>
            <a:ext cx="2495549" cy="5715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362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284C7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3024" y="2785110"/>
            <a:ext cx="24384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0F172A"/>
                </a:solidFill>
                <a:latin typeface="Roboto"/>
                <a:ea typeface="Microsoft YaHei"/>
              </a:rPr>
              <a:t>119%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6774" y="4622292"/>
            <a:ext cx="33909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净推荐值 NPS 58,创历史新高</a:t>
            </a:r>
          </a:p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- 客户成功 NRR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本月 vs 上月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227361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| 指标 | 上月数据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537495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| 新增付费用户 | 3.2 万,流失 8000,净增 2.4 万 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39395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| 平均客单价 | 312 元,较上月 +9% 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426434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| 渠道获客成本 | 168 元,较上月 -14% 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468344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| 客服首响时长 | 2 分 18 秒,目标 2 分内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三大洞察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521969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5219699" cy="5715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32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284C7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21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0F172A"/>
                </a:solidFill>
                <a:latin typeface="Roboto"/>
                <a:ea typeface="Microsoft YaHei"/>
              </a:rPr>
              <a:t>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259" y="4622292"/>
            <a:ext cx="563118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洞察一:学生群体留存率领先职场用户 22 个百分点</a:t>
            </a:r>
          </a:p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- 洞察二:周末签到打卡功能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299" y="1600200"/>
            <a:ext cx="521969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299" y="1600200"/>
            <a:ext cx="5219699" cy="5715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15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284C7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4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0F172A"/>
                </a:solidFill>
                <a:latin typeface="Roboto"/>
                <a:ea typeface="Microsoft YaHei"/>
              </a:rPr>
              <a:t>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4622292"/>
            <a:ext cx="493014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的次日留存</a:t>
            </a:r>
          </a:p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- 洞察三:东南亚双语用户 ARPU 比国内同类高 1.8 倍</a:t>
            </a:r>
          </a:p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行动项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400240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1、上线学生认证体系,放大学生人群优势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30489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2、签到打卡能力扩展至全场景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325850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3、东南亚双语版本投入产品资源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341566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4、小程序首页改版进入 A/B 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415956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5、推出"老带新"激励 v2,目标转化率翻倍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风险预警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521969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5219699" cy="5715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32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284C7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21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0F172A"/>
                </a:solidFill>
                <a:latin typeface="Roboto"/>
                <a:ea typeface="Microsoft YaHei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2149" y="4622292"/>
            <a:ext cx="2819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苹果广告政策调整,iOS 投放 ROI 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299" y="1600200"/>
            <a:ext cx="521969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299" y="1600200"/>
            <a:ext cx="5219699" cy="5715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15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284C7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4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0F172A"/>
                </a:solidFill>
                <a:latin typeface="Roboto"/>
                <a:ea typeface="Microsoft YaHei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5049" y="4622292"/>
            <a:ext cx="5410199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客服团队压力指数突破阈值,需扩招</a:t>
            </a:r>
          </a:p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- 数据基础设施容量预警,Q3 必须扩容</a:t>
            </a:r>
          </a:p>
          <a:p>
            <a:pPr algn="ctr"/>
            <a:r>
              <a:rPr sz="1200" b="0">
                <a:solidFill>
                  <a:srgbClr val="475569"/>
                </a:solidFill>
                <a:latin typeface="Roboto"/>
                <a:ea typeface="Microsoft YaHei"/>
              </a:rPr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76749" y="2547366"/>
            <a:ext cx="3238499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0F172A"/>
                </a:solidFill>
                <a:latin typeface="Roboto"/>
                <a:ea typeface="Microsoft YaHei"/>
              </a:rPr>
              <a:t>下月重点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2341" y="3521964"/>
            <a:ext cx="520731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&amp;gt; 守住北极星,放大学生市场,完成签到能力升级。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