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3238500"/>
            <a:ext cx="7238999" cy="7238999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33499" y="4000500"/>
            <a:ext cx="4952999" cy="4952999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F9E795"/>
                </a:solidFill>
                <a:latin typeface="Poppins"/>
                <a:ea typeface="PingFang SC"/>
              </a:rPr>
              <a:t>01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99" y="2362199"/>
            <a:ext cx="571499" cy="28575"/>
          </a:xfrm>
          <a:prstGeom prst="rect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299" y="2296667"/>
            <a:ext cx="100964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49" b="0">
                <a:solidFill>
                  <a:srgbClr val="F96167"/>
                </a:solidFill>
                <a:latin typeface="Poppins"/>
                <a:ea typeface="PingFang SC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702814"/>
            <a:ext cx="10820399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F3C7E"/>
                </a:solidFill>
                <a:latin typeface="Poppins"/>
                <a:ea typeface="PingFang SC"/>
              </a:rPr>
              <a:t>「春日新生」整合营销方案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9" y="5943600"/>
            <a:ext cx="380999" cy="1905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699" y="5895594"/>
            <a:ext cx="103250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F9E795"/>
                </a:solidFill>
                <a:latin typeface="Poppins"/>
                <a:ea typeface="PingFang SC"/>
              </a:rPr>
              <a:t>07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F9E795"/>
                </a:solidFill>
                <a:latin typeface="Poppins"/>
                <a:ea typeface="PingFang SC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F3C7E"/>
                </a:solidFill>
                <a:latin typeface="Poppins"/>
                <a:ea typeface="PingFang SC"/>
              </a:rPr>
              <a:t>市场洞察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5219699" cy="3619499"/>
          </a:xfrm>
          <a:prstGeom prst="roundRect">
            <a:avLst/>
          </a:prstGeom>
          <a:gradFill>
            <a:gsLst>
              <a:gs pos="0">
                <a:srgbClr val="FFF5F1"/>
              </a:gs>
              <a:gs pos="100000">
                <a:srgbClr val="F9E79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5219699" cy="5715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32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96167"/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2649" y="2785110"/>
            <a:ext cx="24384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F3C7E"/>
                </a:solidFill>
                <a:latin typeface="Poppins"/>
                <a:ea typeface="PingFang SC"/>
              </a:rPr>
              <a:t>186%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19" y="4622292"/>
            <a:ext cx="520446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Z 世代将"春天"重新定义为情绪修复期</a:t>
            </a:r>
          </a:p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- 小红书 "春日穿搭" 笔记同比 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299" y="1600200"/>
            <a:ext cx="5219699" cy="3619499"/>
          </a:xfrm>
          <a:prstGeom prst="roundRect">
            <a:avLst/>
          </a:prstGeom>
          <a:gradFill>
            <a:gsLst>
              <a:gs pos="0">
                <a:srgbClr val="FFF5F1"/>
              </a:gs>
              <a:gs pos="100000">
                <a:srgbClr val="F9E79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299" y="1600200"/>
            <a:ext cx="5219699" cy="5715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15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96167"/>
                </a:solidFill>
                <a:latin typeface="Poppins"/>
                <a:ea typeface="PingFang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49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F3C7E"/>
                </a:solidFill>
                <a:latin typeface="Poppins"/>
                <a:ea typeface="PingFang SC"/>
              </a:rPr>
              <a:t>78%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8849" y="4622292"/>
            <a:ext cx="55626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用户对"治愈系"内容的停留时长比促销内容高 3.2 倍</a:t>
            </a:r>
          </a:p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- 线下快闪体验成为转化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F9E795"/>
                </a:solidFill>
                <a:latin typeface="Poppins"/>
                <a:ea typeface="PingFang SC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F96167"/>
                </a:solidFill>
                <a:latin typeface="Poppins"/>
                <a:ea typeface="PingFang SC"/>
              </a:rPr>
              <a:t>策略主张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899" y="1703069"/>
            <a:ext cx="2362199" cy="1904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999" b="1">
                <a:solidFill>
                  <a:srgbClr val="F96167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779" y="3034284"/>
            <a:ext cx="504444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2F3C7E"/>
                </a:solidFill>
                <a:latin typeface="Poppins"/>
                <a:ea typeface="PingFang SC"/>
              </a:rPr>
              <a:t>不卖产品,卖一段属于自己的春天。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10249" y="3943350"/>
            <a:ext cx="571500" cy="0"/>
          </a:xfrm>
          <a:prstGeom prst="line">
            <a:avLst/>
          </a:prstGeom>
          <a:ln w="2540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F9E795"/>
                </a:solidFill>
                <a:latin typeface="Poppins"/>
                <a:ea typeface="PingFang SC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F3C7E"/>
                </a:solidFill>
                <a:latin typeface="Poppins"/>
                <a:ea typeface="PingFang SC"/>
              </a:rPr>
              <a:t>创意核心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FFF5F1"/>
              </a:gs>
              <a:gs pos="100000">
                <a:srgbClr val="F9E79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455771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1、一个主视觉:漫画风格的"春日女孩",可二创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442150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2、三支短片:通勤、毕业、约会三种春日时刻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415956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3、五位品牌挚友:生活方式 KOL 真实分享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36042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4、十城快闪:门店改造为"春日邮局"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4693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5、UGC 互动:用户上传"我的春日瞬间"赢取奖品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F9E795"/>
                </a:solidFill>
                <a:latin typeface="Poppins"/>
                <a:ea typeface="PingFang SC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F3C7E"/>
                </a:solidFill>
                <a:latin typeface="Poppins"/>
                <a:ea typeface="PingFang SC"/>
              </a:rPr>
              <a:t>渠道矩阵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3124200"/>
          </a:xfrm>
          <a:prstGeom prst="roundRect">
            <a:avLst/>
          </a:prstGeom>
          <a:gradFill>
            <a:gsLst>
              <a:gs pos="0">
                <a:srgbClr val="FFF5F1"/>
              </a:gs>
              <a:gs pos="100000">
                <a:srgbClr val="F9E79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3124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227361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| 渠道 | 角色定位 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47986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| 小红书 | 主战场,种草 + 话题 + KOC 矩阵 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311181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| 抖音 | 短片首发与挑战赛 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332136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| 微博 | 话题引爆与媒体扩散 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374046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| 线下快闪 | 体验转化与口碑沉淀 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799" y="3960113"/>
            <a:ext cx="389763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| 私域社群 | 老客复购与 UGC 收集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F9E795"/>
                </a:solidFill>
                <a:latin typeface="Poppins"/>
                <a:ea typeface="PingFang SC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2F3C7E"/>
                </a:solidFill>
                <a:latin typeface="Poppins"/>
                <a:ea typeface="PingFang SC"/>
              </a:rPr>
              <a:t>投入预算与 ROI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2495549" cy="3619499"/>
          </a:xfrm>
          <a:prstGeom prst="roundRect">
            <a:avLst/>
          </a:prstGeom>
          <a:gradFill>
            <a:gsLst>
              <a:gs pos="0">
                <a:srgbClr val="FFF5F1"/>
              </a:gs>
              <a:gs pos="100000">
                <a:srgbClr val="F9E79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2495549" cy="5715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117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96167"/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4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F3C7E"/>
                </a:solidFill>
                <a:latin typeface="Poppins"/>
                <a:ea typeface="PingFang SC"/>
              </a:rP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4" y="4622292"/>
            <a:ext cx="386334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总预算 1800 万元,执行周期 8 周</a:t>
            </a:r>
          </a:p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- KOL 与内容制作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86149" y="1600200"/>
            <a:ext cx="2495549" cy="3619499"/>
          </a:xfrm>
          <a:prstGeom prst="roundRect">
            <a:avLst/>
          </a:prstGeom>
          <a:gradFill>
            <a:gsLst>
              <a:gs pos="0">
                <a:srgbClr val="FFF5F1"/>
              </a:gs>
              <a:gs pos="100000">
                <a:srgbClr val="F9E79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86149" y="1600200"/>
            <a:ext cx="2495549" cy="5715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532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96167"/>
                </a:solidFill>
                <a:latin typeface="Poppins"/>
                <a:ea typeface="PingFang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274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F3C7E"/>
                </a:solidFill>
                <a:latin typeface="Poppins"/>
                <a:ea typeface="PingFang SC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7134" y="4622292"/>
            <a:ext cx="197358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,占 810 万元</a:t>
            </a:r>
          </a:p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- 线下快闪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299" y="1600200"/>
            <a:ext cx="2495549" cy="3619499"/>
          </a:xfrm>
          <a:prstGeom prst="roundRect">
            <a:avLst/>
          </a:prstGeom>
          <a:gradFill>
            <a:gsLst>
              <a:gs pos="0">
                <a:srgbClr val="FFF5F1"/>
              </a:gs>
              <a:gs pos="100000">
                <a:srgbClr val="F9E79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0299" y="1600200"/>
            <a:ext cx="2495549" cy="5715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947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96167"/>
                </a:solidFill>
                <a:latin typeface="Poppins"/>
                <a:ea typeface="PingFang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4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F3C7E"/>
                </a:solidFill>
                <a:latin typeface="Poppins"/>
                <a:ea typeface="PingFang SC"/>
              </a:rP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1284" y="4622292"/>
            <a:ext cx="197358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,占 540 万元</a:t>
            </a:r>
          </a:p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- 媒介投放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4449" y="1600200"/>
            <a:ext cx="2495549" cy="3619499"/>
          </a:xfrm>
          <a:prstGeom prst="roundRect">
            <a:avLst/>
          </a:prstGeom>
          <a:gradFill>
            <a:gsLst>
              <a:gs pos="0">
                <a:srgbClr val="FFF5F1"/>
              </a:gs>
              <a:gs pos="100000">
                <a:srgbClr val="F9E79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34449" y="1600200"/>
            <a:ext cx="2495549" cy="5715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5362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96167"/>
                </a:solidFill>
                <a:latin typeface="Poppins"/>
                <a:ea typeface="PingFang S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2124" y="2785110"/>
            <a:ext cx="16002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2F3C7E"/>
                </a:solidFill>
                <a:latin typeface="Poppins"/>
                <a:ea typeface="PingFang SC"/>
              </a:rPr>
              <a:t>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7834" y="4622292"/>
            <a:ext cx="1668779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,占 360 万元</a:t>
            </a:r>
          </a:p>
          <a:p>
            <a:pPr algn="ctr"/>
            <a:r>
              <a:rPr sz="1200" b="0">
                <a:solidFill>
                  <a:srgbClr val="4A5688"/>
                </a:solidFill>
                <a:latin typeface="Poppins"/>
                <a:ea typeface="PingFang SC"/>
              </a:rPr>
              <a:t>- 备用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F96167"/>
              </a:gs>
              <a:gs pos="100000">
                <a:srgbClr val="F9616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F9E795"/>
                </a:solidFill>
                <a:latin typeface="Poppins"/>
                <a:ea typeface="PingFang SC"/>
              </a:rPr>
              <a:t>07 / 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199" y="2381250"/>
            <a:ext cx="609600" cy="0"/>
          </a:xfrm>
          <a:prstGeom prst="line">
            <a:avLst/>
          </a:prstGeom>
          <a:ln w="2540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76749" y="2547366"/>
            <a:ext cx="3238499" cy="809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99" b="1">
                <a:solidFill>
                  <a:srgbClr val="2F3C7E"/>
                </a:solidFill>
                <a:latin typeface="Poppins"/>
                <a:ea typeface="PingFang SC"/>
              </a:rPr>
              <a:t>效果预测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893" y="3521964"/>
            <a:ext cx="246221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4A5688"/>
                </a:solidFill>
                <a:latin typeface="Poppins"/>
                <a:ea typeface="PingFang SC"/>
              </a:rPr>
              <a:t>- 全网曝光 8 亿次以上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