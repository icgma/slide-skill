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005587"/>
                </a:solidFill>
                <a:latin typeface="Arial"/>
                <a:ea typeface="PingFang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948177"/>
            <a:ext cx="10820399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2C3E50"/>
                </a:solidFill>
                <a:latin typeface="Arial"/>
                <a:ea typeface="PingFang SC"/>
              </a:rPr>
              <a:t>2026 战略复盘 · 增长引擎再校准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C3E50"/>
                </a:solidFill>
                <a:latin typeface="Arial"/>
                <a:ea typeface="PingFang SC"/>
              </a:rPr>
              <a:t>核心结论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11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864" y="4622292"/>
            <a:ext cx="23698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三大主线并行推进,营收增速回到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614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8614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3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27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8594" y="4622292"/>
            <a:ext cx="1470659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区间</a:t>
            </a:r>
          </a:p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- 客单价提升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29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29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94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41%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6564" y="4622292"/>
            <a:ext cx="13030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,带动毛利率突破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444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444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36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257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4024" y="4622292"/>
            <a:ext cx="167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海外市场占比首次突破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C3E50"/>
                </a:solidFill>
                <a:latin typeface="Arial"/>
                <a:ea typeface="PingFang SC"/>
              </a:rPr>
              <a:t>三大主线 vs 现状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521969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521969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32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2649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122%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7779" y="4622292"/>
            <a:ext cx="416814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| 战略主线 | 现状判断 |</a:t>
            </a:r>
          </a:p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| 主业务深耕 | 头部客户 NDR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299" y="1600200"/>
            <a:ext cx="521969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299" y="1600200"/>
            <a:ext cx="521969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5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4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39" y="4622292"/>
            <a:ext cx="14554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,但中尾部留存不足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C3E50"/>
                </a:solidFill>
                <a:latin typeface="Arial"/>
                <a:ea typeface="PingFang SC"/>
              </a:rPr>
              <a:t>战略落地路径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36042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D6D7E"/>
                </a:solidFill>
                <a:latin typeface="Arial"/>
                <a:ea typeface="PingFang SC"/>
              </a:rPr>
              <a:t>1、Q1:完成中尾部客户运营体系搭建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693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D6D7E"/>
                </a:solidFill>
                <a:latin typeface="Arial"/>
                <a:ea typeface="PingFang SC"/>
              </a:rPr>
              <a:t>2、Q2:欧洲设立本地化团队,落地 3 个标杆客户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08622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D6D7E"/>
                </a:solidFill>
                <a:latin typeface="Arial"/>
                <a:ea typeface="PingFang SC"/>
              </a:rPr>
              <a:t>3、Q3:AI 业务推出付费版 + 企业版双轨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6042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D6D7E"/>
                </a:solidFill>
                <a:latin typeface="Arial"/>
                <a:ea typeface="PingFang SC"/>
              </a:rPr>
              <a:t>4、Q4:三条业务线财务模型独立核算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395001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D6D7E"/>
                </a:solidFill>
                <a:latin typeface="Arial"/>
                <a:ea typeface="PingFang SC"/>
              </a:rPr>
              <a:t>5、年底:输出可复用的"出海方法论 v2"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C3E50"/>
                </a:solidFill>
                <a:latin typeface="Arial"/>
                <a:ea typeface="PingFang SC"/>
              </a:rPr>
              <a:t>关键指标 OKR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11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364" y="4622292"/>
            <a:ext cx="19888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营收 12.8 亿元,YoY 增长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614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8614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3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5174" y="2785110"/>
            <a:ext cx="2857499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41.5%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9124" y="4622292"/>
            <a:ext cx="60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毛利率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29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29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94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8874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118%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1714" y="4622292"/>
            <a:ext cx="271272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,较去年提升 4.3 pct</a:t>
            </a:r>
          </a:p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- 净留存 NDR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4449" y="1600200"/>
            <a:ext cx="2495549" cy="3619499"/>
          </a:xfrm>
          <a:prstGeom prst="roundRect">
            <a:avLst/>
          </a:prstGeom>
          <a:gradFill>
            <a:gsLst>
              <a:gs pos="0">
                <a:srgbClr val="ECF0F1"/>
              </a:gs>
              <a:gs pos="100000">
                <a:srgbClr val="BDC3C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4449" y="1600200"/>
            <a:ext cx="2495549" cy="5715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36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5587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3024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C3E50"/>
                </a:solidFill>
                <a:latin typeface="Arial"/>
                <a:ea typeface="PingFang SC"/>
              </a:rPr>
              <a:t>125%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1714" y="4622292"/>
            <a:ext cx="5410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Arial"/>
                <a:ea typeface="PingFang SC"/>
              </a:rPr>
              <a:t>,目标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005587"/>
                </a:solidFill>
                <a:latin typeface="Arial"/>
                <a:ea typeface="PingFang SC"/>
              </a:rPr>
              <a:t>PROCESS → 5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C3E50"/>
                </a:solidFill>
                <a:latin typeface="Arial"/>
                <a:ea typeface="PingFang SC"/>
              </a:rPr>
              <a:t>风险与对冲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2571750"/>
            <a:ext cx="1943099" cy="2095499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2571750"/>
            <a:ext cx="1943099" cy="5715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85899" y="2895600"/>
            <a:ext cx="495299" cy="495299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49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FFFFF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39" y="3669791"/>
            <a:ext cx="160782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风险一:海外合规成本</a:t>
            </a:r>
          </a:p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超预期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199" y="3619499"/>
            <a:ext cx="133350" cy="0"/>
          </a:xfrm>
          <a:prstGeom prst="line">
            <a:avLst/>
          </a:prstGeom>
          <a:ln w="381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2876549" y="3562349"/>
            <a:ext cx="76199" cy="114300"/>
          </a:xfr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33699" y="2571750"/>
            <a:ext cx="1943099" cy="2095499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33699" y="2571750"/>
            <a:ext cx="1943099" cy="5715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7599" y="2895600"/>
            <a:ext cx="495299" cy="495299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66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FFFFF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3719" y="3669791"/>
            <a:ext cx="162305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设立专项预算 + 法务</a:t>
            </a:r>
          </a:p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团队前置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14899" y="3619499"/>
            <a:ext cx="133350" cy="0"/>
          </a:xfrm>
          <a:prstGeom prst="line">
            <a:avLst/>
          </a:prstGeom>
          <a:ln w="381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5048249" y="3562349"/>
            <a:ext cx="76199" cy="114300"/>
          </a:xfr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05399" y="2571750"/>
            <a:ext cx="1943099" cy="2095499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05399" y="2571750"/>
            <a:ext cx="1943099" cy="5715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29299" y="2895600"/>
            <a:ext cx="495299" cy="495299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483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FFFFF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3509" y="3669791"/>
            <a:ext cx="170687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风险二:AI 商业化不及</a:t>
            </a:r>
          </a:p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预期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86599" y="3619499"/>
            <a:ext cx="133350" cy="0"/>
          </a:xfrm>
          <a:prstGeom prst="line">
            <a:avLst/>
          </a:prstGeom>
          <a:ln w="381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7219949" y="3562349"/>
            <a:ext cx="76199" cy="114300"/>
          </a:xfr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77099" y="2571750"/>
            <a:ext cx="1943099" cy="2095499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77099" y="2571750"/>
            <a:ext cx="1943099" cy="5715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00999" y="2895600"/>
            <a:ext cx="495299" cy="495299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200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FFFFF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0449" y="3669791"/>
            <a:ext cx="167640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保留三条变现路径并行</a:t>
            </a:r>
          </a:p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测试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8299" y="3619499"/>
            <a:ext cx="133350" cy="0"/>
          </a:xfrm>
          <a:prstGeom prst="line">
            <a:avLst/>
          </a:prstGeom>
          <a:ln w="381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9391649" y="3562349"/>
            <a:ext cx="76199" cy="114300"/>
          </a:xfr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48799" y="2571750"/>
            <a:ext cx="1943099" cy="2095499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48799" y="2571750"/>
            <a:ext cx="1943099" cy="5715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72699" y="2895600"/>
            <a:ext cx="495299" cy="495299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17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FFFFF"/>
                </a:solidFill>
                <a:latin typeface="Arial"/>
                <a:ea typeface="PingFang SC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6439" y="3669791"/>
            <a:ext cx="16078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Arial"/>
                <a:ea typeface="PingFang SC"/>
              </a:rPr>
              <a:t>风险三:核心人才流失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05587"/>
              </a:gs>
              <a:gs pos="100000">
                <a:srgbClr val="00558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BDC3C7"/>
                </a:solidFill>
                <a:latin typeface="Arial"/>
                <a:ea typeface="PingFang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24449" y="2547366"/>
            <a:ext cx="1943100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2C3E50"/>
                </a:solidFill>
                <a:latin typeface="Arial"/>
                <a:ea typeface="PingFang SC"/>
              </a:rPr>
              <a:t>结语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1317" y="3521964"/>
            <a:ext cx="634936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5D6D7E"/>
                </a:solidFill>
                <a:latin typeface="Arial"/>
                <a:ea typeface="PingFang SC"/>
              </a:rPr>
              <a:t>&amp;gt; 战略不是宏大叙事,而是每一个季度兑现一件可被验证的事。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