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3672"/>
            <a:ext cx="10820399" cy="965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800" b="1">
                <a:solidFill>
                  <a:srgbClr val="F1F5F9"/>
                </a:solidFill>
                <a:latin typeface="Arial"/>
              </a:rPr>
              <a:t>AI-Powered Analytics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333500"/>
            <a:ext cx="10667999" cy="838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635389"/>
            <a:ext cx="108203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A next-generation platform for real-time data intelligence and business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F1F5F9"/>
                </a:solidFill>
                <a:latin typeface="Arial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Data silos across 5+ disconnected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Manual reporting takes 40+ hours per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Decision latency averages 72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30% of insights arrive too late to act 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F1F5F9"/>
                </a:solidFill>
                <a:latin typeface="Arial"/>
              </a:rPr>
              <a:t>Our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Unified data ingestion from any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Real-time processing with sub-second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Automated anomaly detection and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Natural language query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F1F5F9"/>
                </a:solidFill>
                <a:latin typeface="Arial"/>
              </a:rPr>
              <a:t>Market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499" y="1740164"/>
            <a:ext cx="107822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Total Addressable Market: 120亿 USD by 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Enterprise analytics: 45%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SMB segment: 30%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Government and public sector: 25%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F1F5F9"/>
                </a:solidFill>
                <a:latin typeface="Arial"/>
              </a:rPr>
              <a:t>Key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98% uptime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10x faster than legacy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60% reduction in analyst workload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500+ enterprise customers onboarded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2879"/>
            <a:ext cx="10820399" cy="111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400" b="1">
                <a:solidFill>
                  <a:srgbClr val="F1F5F9"/>
                </a:solidFill>
                <a:latin typeface="Arial"/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Cloud-native microservices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Apache Kafka for stream 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ML models updated every 24 hours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SOC 2 Type II certified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F1F5F9"/>
                </a:solidFill>
                <a:latin typeface="Arial"/>
              </a:rPr>
              <a:t>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23949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409699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17401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699" y="17401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Q1 2026: Mobile dashboard launch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99" y="2019299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2999" y="23497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9699" y="23497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Q2 2026: Generative AI report writer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99" y="2628900"/>
            <a:ext cx="10667999" cy="53339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2999" y="29593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9699" y="29593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Q3 2026: Edge computing support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999" y="3238500"/>
            <a:ext cx="10667999" cy="533399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568964"/>
            <a:ext cx="105917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3B82F6"/>
                </a:solidFill>
                <a:latin typeface="Arial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699" y="3568964"/>
            <a:ext cx="103250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Q4 2026: International expansion (EU, APAC)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149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53199"/>
            <a:ext cx="12191999" cy="30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77599" y="6761162"/>
            <a:ext cx="4572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Arial"/>
              </a:rPr>
              <a:t>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1021291"/>
            <a:ext cx="10820399" cy="142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600" b="1">
                <a:solidFill>
                  <a:srgbClr val="F1F5F9"/>
                </a:solidFill>
                <a:latin typeface="Arial"/>
              </a:rPr>
              <a:t>Why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399" y="1143000"/>
            <a:ext cx="76199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1999" y="1333500"/>
            <a:ext cx="10667999" cy="838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399" y="1635389"/>
            <a:ext cx="10820399" cy="55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>
                <a:solidFill>
                  <a:srgbClr val="94A3B8"/>
                </a:solidFill>
                <a:latin typeface="Arial"/>
              </a:rPr>
              <a:t>The convergence of affordable cloud compute, mature ML tooling, and regulatory pressure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