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各位评委老师好，我是绿循环团队的陈昊。我们做的事一句话就能讲清楚：用 AI 识别加即时返利，让居民的每一次垃圾分类都有回报。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先看痛点。强制分类政策已经铺开，但社区里真正干活的还是人工督导。我们在试点区拿到的数据：厨余纯净度只有 </a:t>
            </a:r>
            <a:r>
              <a:rPr b="1"/>
              <a:t>62%</a:t>
            </a:r>
            <a:r>
              <a:t>，离 90% 的处置要求差了一大截，而一个小区每月光督导就要花九千块。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这背后是三方都难受：居民分对了没反馈，物业花钱还挨投诉，政府端设施建好了却"吃不饱"。核心矛盾就一句话——分类行为缺少即时、可感知的正向激励。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我们的解法很直接：把回收柜放进小区，AI 自动识别称重，环保金每公斤三毛五实时到账。物业不用掏一分钱，我们还按柜子净收益的 15% 返给物业。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效果怎么样？我们看一个真实小区跑出来的九十天。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杭州倚天花园，1240 户，四台柜子：月分出量从 3.1 吨涨到 10.2 吨，翻了三倍；注册率 71%；物业督导支出从九千降到三千。这一页是我们最有底气的数据。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产品上是"一柜一端一后台"：柜子管识别回收，小程序管激励和排行榜，后台管清运调度，还给政府留了数据接口，三张报表一键导出。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技术上端云协同：端侧 GreenSort 模型 300 毫秒出结果，42 类可回收物准确率 98.2%；云侧做满溢预测和清运路径优化，清运成本降了 31%。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壁垒有三层：专利上已授权 3 项、2 项发明在审；数据上有 380 万张真实投放图像，识别越用越准。这个数据飞轮是竞品短期追不上的。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跟竞品比，最大差异是轻资产：头部厂商自购自营，一台柜子压一台的钱；我们跟物业联营分成，进小区快、扩张成本低。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商业模式三条曲线：物资销售是基本盘，占 78%；政府购买服务和环保金商城正在快速起量。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单位经济算得过账：单柜 1.8 万投入，月净收益约 1256 元，静态回本 14 个月。这个模型每台在运营的柜子都在验证。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市场空间：再生资源回收是三千亿的盘子，我们切的社区智能终端场景 420 亿；近三年聚焦长三角 30 亿可服务市场，2028 年渗透率目标 2%，测算是克制的。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团队三个人正好补齐产业、技术、运营：我做过再生资源集团的区域运营，CTO 是视觉方向博士，COO 带过 40 人地推团队，导师是国家重点研发计划课题负责人。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里程碑：一年时间从模型走到 120 台柜子、8.6 万用户、单月营收 45 万——从 0 到 1 已经验证完毕。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接下来三年：2026 年 510 万营收，2027 年 500 台实现单城盈利，2028 年 1500 台整体盈亏平衡。本轮融资 800 万，六成投柜体扩张。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最后回到开场那句话：绿循环想做的，是让每一次分类都有回报。三年服务 100 万家庭，谢谢各位评委！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457199" y="0"/>
            <a:ext cx="0" cy="6858000"/>
          </a:xfrm>
          <a:prstGeom prst="line">
            <a:avLst/>
          </a:prstGeom>
          <a:ln w="12700">
            <a:solidFill>
              <a:srgbClr val="8644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504950"/>
            <a:ext cx="12191999" cy="0"/>
          </a:xfrm>
          <a:prstGeom prst="line">
            <a:avLst/>
          </a:prstGeom>
          <a:ln w="1270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6095999"/>
            <a:ext cx="12191999" cy="0"/>
          </a:xfrm>
          <a:prstGeom prst="line">
            <a:avLst/>
          </a:prstGeom>
          <a:ln w="1270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457199" y="1504950"/>
            <a:ext cx="11277599" cy="28575"/>
          </a:xfrm>
          <a:prstGeom prst="rect">
            <a:avLst/>
          </a:prstGeom>
          <a:solidFill>
            <a:srgbClr val="864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199" y="867536"/>
            <a:ext cx="11277599" cy="3095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950" b="1">
                <a:solidFill>
                  <a:srgbClr val="8644F7"/>
                </a:solidFill>
                <a:latin typeface="Inter"/>
                <a:ea typeface="PingFang SC"/>
              </a:rPr>
              <a:t>RESEARCH REPORT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199" y="1794890"/>
            <a:ext cx="12225337" cy="809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5099" b="1">
                <a:solidFill>
                  <a:srgbClr val="111827"/>
                </a:solidFill>
                <a:latin typeface="Inter"/>
                <a:ea typeface="PingFang SC"/>
              </a:rPr>
              <a:t>绿循环——智能垃圾分类回收平台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199" y="2265806"/>
            <a:ext cx="14508956" cy="857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6B7280">
                    <a:alpha val="85000"/>
                  </a:srgbClr>
                </a:solidFill>
                <a:latin typeface="Inter"/>
                <a:ea typeface="PingFang SC"/>
              </a:rPr>
              <a:t>让每一次分类都有回报 | 中国国际「互联网+」大学生创新创业大赛 · 校</a:t>
            </a:r>
          </a:p>
          <a:p>
            <a:r>
              <a:rPr sz="2700" b="0">
                <a:solidFill>
                  <a:srgbClr val="6B7280">
                    <a:alpha val="85000"/>
                  </a:srgbClr>
                </a:solidFill>
                <a:latin typeface="Inter"/>
                <a:ea typeface="PingFang SC"/>
              </a:rPr>
              <a:t>赛路演 | 绿循环团队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199" y="6249162"/>
            <a:ext cx="11277599" cy="3095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950" b="0">
                <a:solidFill>
                  <a:srgbClr val="6B7280"/>
                </a:solidFill>
                <a:latin typeface="Inter"/>
                <a:ea typeface="PingFang SC"/>
              </a:rPr>
              <a:t>PAGES: 17 / ACADEMIC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00999" y="-2381250"/>
            <a:ext cx="7619999" cy="5334000"/>
          </a:xfrm>
          <a:prstGeom prst="ellipse">
            <a:avLst/>
          </a:prstGeom>
          <a:gradFill>
            <a:gsLst>
              <a:gs pos="0">
                <a:srgbClr val="7C3AED">
                  <a:alpha val="15000"/>
                </a:srgbClr>
              </a:gs>
              <a:gs pos="100000">
                <a:srgbClr val="7C3AE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95499" y="4667249"/>
            <a:ext cx="5333999" cy="3809999"/>
          </a:xfrm>
          <a:prstGeom prst="ellipse">
            <a:avLst/>
          </a:prstGeom>
          <a:gradFill>
            <a:gsLst>
              <a:gs pos="0">
                <a:srgbClr val="A462FF">
                  <a:alpha val="10000"/>
                </a:srgbClr>
              </a:gs>
              <a:gs pos="100000">
                <a:srgbClr val="A462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 flipH="1">
            <a:off x="10286999" y="0"/>
            <a:ext cx="1905000" cy="1714500"/>
          </a:xfrm>
          <a:prstGeom prst="line">
            <a:avLst/>
          </a:prstGeom>
          <a:ln w="254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10858499" y="0"/>
            <a:ext cx="1333500" cy="1143000"/>
          </a:xfrm>
          <a:prstGeom prst="line">
            <a:avLst/>
          </a:prstGeom>
          <a:ln w="127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0" y="0"/>
            <a:ext cx="114299" cy="6858000"/>
          </a:xfrm>
          <a:prstGeom prst="rect">
            <a:avLst/>
          </a:prstGeom>
          <a:gradFill>
            <a:gsLst>
              <a:gs pos="0">
                <a:srgbClr val="7C3AED">
                  <a:alpha val="40000"/>
                </a:srgbClr>
              </a:gs>
              <a:gs pos="50000">
                <a:srgbClr val="7C3AED">
                  <a:alpha val="90000"/>
                </a:srgbClr>
              </a:gs>
              <a:gs pos="100000">
                <a:srgbClr val="7C3AED">
                  <a:alpha val="4000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93548" y="6216777"/>
            <a:ext cx="1212651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575" b="0">
                <a:solidFill>
                  <a:srgbClr val="6B7280">
                    <a:alpha val="70000"/>
                  </a:srgbClr>
                </a:solidFill>
                <a:latin typeface="Inter"/>
                <a:ea typeface="PingFang SC"/>
              </a:rPr>
              <a:t>02 / 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899" y="136397"/>
            <a:ext cx="11391899" cy="64293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4050" b="1">
                <a:solidFill>
                  <a:srgbClr val="111827"/>
                </a:solidFill>
                <a:latin typeface="Inter"/>
                <a:ea typeface="PingFang SC"/>
              </a:rPr>
              <a:t>痛点：分类落地难在"最后一百米"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899" y="723900"/>
            <a:ext cx="685799" cy="33337"/>
          </a:xfrm>
          <a:prstGeom prst="roundRect">
            <a:avLst/>
          </a:prstGeom>
          <a:solidFill>
            <a:srgbClr val="7C3AED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2899" y="1428750"/>
            <a:ext cx="4876799" cy="323850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solidFill>
            <a:srgbClr val="FAFAFA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6749" y="2087117"/>
            <a:ext cx="11068049" cy="16668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49" b="1">
                <a:solidFill>
                  <a:srgbClr val="7C3AED"/>
                </a:solidFill>
                <a:latin typeface="Inter"/>
                <a:ea typeface="PingFang SC"/>
              </a:rPr>
              <a:t>FRICTION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6749" y="2611373"/>
            <a:ext cx="11068049" cy="6191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900" b="1">
                <a:solidFill>
                  <a:srgbClr val="111827"/>
                </a:solidFill>
                <a:latin typeface="Inter"/>
                <a:ea typeface="PingFang SC"/>
              </a:rPr>
              <a:t>痛点：分类落地难在"最后一百米"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6749" y="4090415"/>
            <a:ext cx="11068049" cy="214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50" b="0">
                <a:solidFill>
                  <a:srgbClr val="6B7280">
                    <a:alpha val="80000"/>
                  </a:srgbClr>
                </a:solidFill>
                <a:latin typeface="Inter"/>
                <a:ea typeface="PingFang SC"/>
              </a:rPr>
              <a:t>4 mapped signals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95999" y="1428750"/>
            <a:ext cx="5362574" cy="91440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solidFill>
            <a:srgbClr val="FAFAFA"/>
          </a:solidFill>
          <a:ln w="19050">
            <a:solidFill>
              <a:srgbClr val="6A2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86499" y="1612391"/>
            <a:ext cx="5448299" cy="1904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1">
                <a:solidFill>
                  <a:srgbClr val="6A28DB"/>
                </a:solidFill>
                <a:latin typeface="Inter"/>
                <a:ea typeface="PingFang SC"/>
              </a:rPr>
              <a:t>! 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86499" y="1939290"/>
            <a:ext cx="5762624" cy="2381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99" b="1">
                <a:solidFill>
                  <a:srgbClr val="111827"/>
                </a:solidFill>
                <a:latin typeface="Inter"/>
                <a:ea typeface="PingFang SC"/>
              </a:rPr>
              <a:t>297 个地级市推行强制分类，社区端仍依赖人工督导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95999" y="2514600"/>
            <a:ext cx="5362574" cy="91440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solidFill>
            <a:srgbClr val="FAFAFA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86499" y="2698242"/>
            <a:ext cx="5448299" cy="1904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1">
                <a:solidFill>
                  <a:srgbClr val="7C3AED"/>
                </a:solidFill>
                <a:latin typeface="Inter"/>
                <a:ea typeface="PingFang SC"/>
              </a:rPr>
              <a:t>! 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86499" y="3033903"/>
            <a:ext cx="6334124" cy="22621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25" b="1">
                <a:solidFill>
                  <a:srgbClr val="111827"/>
                </a:solidFill>
                <a:latin typeface="Inter"/>
                <a:ea typeface="PingFang SC"/>
              </a:rPr>
              <a:t>撤桶并点后高峰投放排队、误投率高，居民参与热情快速回落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95999" y="3600450"/>
            <a:ext cx="5362574" cy="91440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solidFill>
            <a:srgbClr val="FAFAFA"/>
          </a:solidFill>
          <a:ln w="19050">
            <a:solidFill>
              <a:srgbClr val="8E4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86499" y="3784091"/>
            <a:ext cx="5448299" cy="1904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1">
                <a:solidFill>
                  <a:srgbClr val="9A58FF"/>
                </a:solidFill>
                <a:latin typeface="Inter"/>
                <a:ea typeface="PingFang SC"/>
              </a:rPr>
              <a:t>! 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86499" y="4110990"/>
            <a:ext cx="6179343" cy="2381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99" b="1">
                <a:solidFill>
                  <a:srgbClr val="111827"/>
                </a:solidFill>
                <a:latin typeface="Inter"/>
                <a:ea typeface="PingFang SC"/>
              </a:rPr>
              <a:t>某区抽样：厨余分出纯净度仅 62%，远低于 90% 的要求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95999" y="4686300"/>
            <a:ext cx="5362574" cy="91440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solidFill>
            <a:srgbClr val="FAFAFA"/>
          </a:solidFill>
          <a:ln w="19050">
            <a:solidFill>
              <a:srgbClr val="A0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86499" y="4869941"/>
            <a:ext cx="5448299" cy="1904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1">
                <a:solidFill>
                  <a:srgbClr val="9A58FF"/>
                </a:solidFill>
                <a:latin typeface="Inter"/>
                <a:ea typeface="PingFang SC"/>
              </a:rPr>
              <a:t>! 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86499" y="5196840"/>
            <a:ext cx="5917406" cy="2381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99" b="1">
                <a:solidFill>
                  <a:srgbClr val="111827"/>
                </a:solidFill>
                <a:latin typeface="Inter"/>
                <a:ea typeface="PingFang SC"/>
              </a:rPr>
              <a:t>人工督导成本高企：单小区每月督导支出约 9,000 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00999" y="-2381250"/>
            <a:ext cx="7619999" cy="5334000"/>
          </a:xfrm>
          <a:prstGeom prst="ellipse">
            <a:avLst/>
          </a:prstGeom>
          <a:gradFill>
            <a:gsLst>
              <a:gs pos="0">
                <a:srgbClr val="8644F7">
                  <a:alpha val="15000"/>
                </a:srgbClr>
              </a:gs>
              <a:gs pos="100000">
                <a:srgbClr val="8644F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95499" y="4667249"/>
            <a:ext cx="5333999" cy="3809999"/>
          </a:xfrm>
          <a:prstGeom prst="ellipse">
            <a:avLst/>
          </a:prstGeom>
          <a:gradFill>
            <a:gsLst>
              <a:gs pos="0">
                <a:srgbClr val="AE6CFF">
                  <a:alpha val="10000"/>
                </a:srgbClr>
              </a:gs>
              <a:gs pos="100000">
                <a:srgbClr val="AE6C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 flipH="1">
            <a:off x="10286999" y="0"/>
            <a:ext cx="1905000" cy="1714500"/>
          </a:xfrm>
          <a:prstGeom prst="line">
            <a:avLst/>
          </a:prstGeom>
          <a:ln w="25400">
            <a:solidFill>
              <a:srgbClr val="8644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10858499" y="0"/>
            <a:ext cx="1333500" cy="1143000"/>
          </a:xfrm>
          <a:prstGeom prst="line">
            <a:avLst/>
          </a:prstGeom>
          <a:ln w="12700">
            <a:solidFill>
              <a:srgbClr val="8644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0" y="0"/>
            <a:ext cx="114299" cy="6858000"/>
          </a:xfrm>
          <a:prstGeom prst="rect">
            <a:avLst/>
          </a:prstGeom>
          <a:gradFill>
            <a:gsLst>
              <a:gs pos="0">
                <a:srgbClr val="8644F7">
                  <a:alpha val="40000"/>
                </a:srgbClr>
              </a:gs>
              <a:gs pos="50000">
                <a:srgbClr val="8644F7">
                  <a:alpha val="90000"/>
                </a:srgbClr>
              </a:gs>
              <a:gs pos="100000">
                <a:srgbClr val="8644F7">
                  <a:alpha val="4000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93548" y="6216777"/>
            <a:ext cx="1212651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575" b="0">
                <a:solidFill>
                  <a:srgbClr val="6B7280">
                    <a:alpha val="70000"/>
                  </a:srgbClr>
                </a:solidFill>
                <a:latin typeface="Inter"/>
                <a:ea typeface="PingFang SC"/>
              </a:rPr>
              <a:t>03 / 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899" y="136397"/>
            <a:ext cx="11391899" cy="64293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4050" b="1">
                <a:solidFill>
                  <a:srgbClr val="111827"/>
                </a:solidFill>
                <a:latin typeface="Inter"/>
                <a:ea typeface="PingFang SC"/>
              </a:rPr>
              <a:t>痛点背后的三方困境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899" y="723900"/>
            <a:ext cx="685799" cy="33337"/>
          </a:xfrm>
          <a:prstGeom prst="roundRect">
            <a:avLst/>
          </a:prstGeom>
          <a:solidFill>
            <a:srgbClr val="8644F7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2899" y="1428750"/>
            <a:ext cx="4876799" cy="323850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solidFill>
            <a:srgbClr val="FAFAFA"/>
          </a:solidFill>
          <a:ln w="19050">
            <a:solidFill>
              <a:srgbClr val="864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6749" y="2087117"/>
            <a:ext cx="11068049" cy="16668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49" b="1">
                <a:solidFill>
                  <a:srgbClr val="8644F7"/>
                </a:solidFill>
                <a:latin typeface="Inter"/>
                <a:ea typeface="PingFang SC"/>
              </a:rPr>
              <a:t>FRICTION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6749" y="2611373"/>
            <a:ext cx="11068049" cy="6191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900" b="1">
                <a:solidFill>
                  <a:srgbClr val="111827"/>
                </a:solidFill>
                <a:latin typeface="Inter"/>
                <a:ea typeface="PingFang SC"/>
              </a:rPr>
              <a:t>痛点背后的三方困境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6749" y="4090415"/>
            <a:ext cx="11068049" cy="214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50" b="0">
                <a:solidFill>
                  <a:srgbClr val="6B7280">
                    <a:alpha val="80000"/>
                  </a:srgbClr>
                </a:solidFill>
                <a:latin typeface="Inter"/>
                <a:ea typeface="PingFang SC"/>
              </a:rPr>
              <a:t>4 mapped signals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95999" y="1428750"/>
            <a:ext cx="5362574" cy="91440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solidFill>
            <a:srgbClr val="FAFAFA"/>
          </a:solidFill>
          <a:ln w="19050">
            <a:solidFill>
              <a:srgbClr val="743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86499" y="1612391"/>
            <a:ext cx="5448299" cy="1904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1">
                <a:solidFill>
                  <a:srgbClr val="7432E5"/>
                </a:solidFill>
                <a:latin typeface="Inter"/>
                <a:ea typeface="PingFang SC"/>
              </a:rPr>
              <a:t>! 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86499" y="1939290"/>
            <a:ext cx="6215062" cy="2381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99" b="1">
                <a:solidFill>
                  <a:srgbClr val="111827"/>
                </a:solidFill>
                <a:latin typeface="Inter"/>
                <a:ea typeface="PingFang SC"/>
              </a:rPr>
              <a:t>居民：分对了没反馈，分错了没人教，"凭什么多花时间"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95999" y="2514600"/>
            <a:ext cx="5362574" cy="91440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solidFill>
            <a:srgbClr val="FAFAFA"/>
          </a:solidFill>
          <a:ln w="19050">
            <a:solidFill>
              <a:srgbClr val="864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86499" y="2698242"/>
            <a:ext cx="5448299" cy="1904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1">
                <a:solidFill>
                  <a:srgbClr val="8644F7"/>
                </a:solidFill>
                <a:latin typeface="Inter"/>
                <a:ea typeface="PingFang SC"/>
              </a:rPr>
              <a:t>! 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86499" y="3025140"/>
            <a:ext cx="6429374" cy="2381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99" b="1">
                <a:solidFill>
                  <a:srgbClr val="111827"/>
                </a:solidFill>
                <a:latin typeface="Inter"/>
                <a:ea typeface="PingFang SC"/>
              </a:rPr>
              <a:t>物业：督导人力贵、桶站脏乱差投诉多，考核压力层层下压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95999" y="3600450"/>
            <a:ext cx="5362574" cy="91440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solidFill>
            <a:srgbClr val="FAFAFA"/>
          </a:solidFill>
          <a:ln w="19050">
            <a:solidFill>
              <a:srgbClr val="985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86499" y="3784091"/>
            <a:ext cx="5448299" cy="1904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1">
                <a:solidFill>
                  <a:srgbClr val="9A58FF"/>
                </a:solidFill>
                <a:latin typeface="Inter"/>
                <a:ea typeface="PingFang SC"/>
              </a:rPr>
              <a:t>! 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86499" y="4128515"/>
            <a:ext cx="6215062" cy="214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50" b="1">
                <a:solidFill>
                  <a:srgbClr val="111827"/>
                </a:solidFill>
                <a:latin typeface="Inter"/>
                <a:ea typeface="PingFang SC"/>
              </a:rPr>
              <a:t>政府：末端处置设施投资到位，前端分出量与纯净度长期不达标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95999" y="4686300"/>
            <a:ext cx="5362574" cy="91440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solidFill>
            <a:srgbClr val="FAFAFA"/>
          </a:solidFill>
          <a:ln w="19050">
            <a:solidFill>
              <a:srgbClr val="AA6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86499" y="4869941"/>
            <a:ext cx="5448299" cy="1904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1">
                <a:solidFill>
                  <a:srgbClr val="9A58FF"/>
                </a:solidFill>
                <a:latin typeface="Inter"/>
                <a:ea typeface="PingFang SC"/>
              </a:rPr>
              <a:t>! 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86499" y="5196840"/>
            <a:ext cx="5476874" cy="2381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99" b="1">
                <a:solidFill>
                  <a:srgbClr val="111827"/>
                </a:solidFill>
                <a:latin typeface="Inter"/>
                <a:ea typeface="PingFang SC"/>
              </a:rPr>
              <a:t>核心矛盾：分类行为缺少即时、可感知的正向激励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00999" y="-2381250"/>
            <a:ext cx="7619999" cy="5334000"/>
          </a:xfrm>
          <a:prstGeom prst="ellipse">
            <a:avLst/>
          </a:prstGeom>
          <a:gradFill>
            <a:gsLst>
              <a:gs pos="0">
                <a:srgbClr val="7C3AED">
                  <a:alpha val="15000"/>
                </a:srgbClr>
              </a:gs>
              <a:gs pos="100000">
                <a:srgbClr val="7C3AE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95499" y="4667249"/>
            <a:ext cx="5333999" cy="3809999"/>
          </a:xfrm>
          <a:prstGeom prst="ellipse">
            <a:avLst/>
          </a:prstGeom>
          <a:gradFill>
            <a:gsLst>
              <a:gs pos="0">
                <a:srgbClr val="A462FF">
                  <a:alpha val="10000"/>
                </a:srgbClr>
              </a:gs>
              <a:gs pos="100000">
                <a:srgbClr val="A462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 flipH="1">
            <a:off x="10286999" y="0"/>
            <a:ext cx="1905000" cy="1714500"/>
          </a:xfrm>
          <a:prstGeom prst="line">
            <a:avLst/>
          </a:prstGeom>
          <a:ln w="254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10858499" y="0"/>
            <a:ext cx="1333500" cy="1143000"/>
          </a:xfrm>
          <a:prstGeom prst="line">
            <a:avLst/>
          </a:prstGeom>
          <a:ln w="127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0" y="0"/>
            <a:ext cx="114299" cy="6858000"/>
          </a:xfrm>
          <a:prstGeom prst="rect">
            <a:avLst/>
          </a:prstGeom>
          <a:gradFill>
            <a:gsLst>
              <a:gs pos="0">
                <a:srgbClr val="7C3AED">
                  <a:alpha val="40000"/>
                </a:srgbClr>
              </a:gs>
              <a:gs pos="50000">
                <a:srgbClr val="7C3AED">
                  <a:alpha val="90000"/>
                </a:srgbClr>
              </a:gs>
              <a:gs pos="100000">
                <a:srgbClr val="7C3AED">
                  <a:alpha val="4000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93548" y="6216777"/>
            <a:ext cx="1212651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575" b="0">
                <a:solidFill>
                  <a:srgbClr val="6B7280">
                    <a:alpha val="70000"/>
                  </a:srgbClr>
                </a:solidFill>
                <a:latin typeface="Inter"/>
                <a:ea typeface="PingFang SC"/>
              </a:rPr>
              <a:t>04 / 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899" y="136397"/>
            <a:ext cx="11391899" cy="64293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4050" b="1">
                <a:solidFill>
                  <a:srgbClr val="111827"/>
                </a:solidFill>
                <a:latin typeface="Inter"/>
                <a:ea typeface="PingFang SC"/>
              </a:rPr>
              <a:t>解决方案：绿循环智能回收平台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899" y="723900"/>
            <a:ext cx="685799" cy="33337"/>
          </a:xfrm>
          <a:prstGeom prst="roundRect">
            <a:avLst/>
          </a:prstGeom>
          <a:solidFill>
            <a:srgbClr val="7C3AED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2899" y="1352549"/>
            <a:ext cx="5629274" cy="173355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solidFill>
            <a:srgbClr val="FAFAFA"/>
          </a:solidFill>
          <a:ln w="19050">
            <a:solidFill>
              <a:srgbClr val="6A2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3399" y="1536192"/>
            <a:ext cx="11201399" cy="1904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1">
                <a:solidFill>
                  <a:srgbClr val="6A28DB"/>
                </a:solidFill>
                <a:latin typeface="Inter"/>
                <a:ea typeface="PingFang SC"/>
              </a:rPr>
              <a:t>✓ 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3399" y="1863089"/>
            <a:ext cx="6310312" cy="2381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99" b="1">
                <a:solidFill>
                  <a:srgbClr val="111827"/>
                </a:solidFill>
                <a:latin typeface="Inter"/>
                <a:ea typeface="PingFang SC"/>
              </a:rPr>
              <a:t>一句话：AI 识别 + 即时返利，把"要我分"变成"我要分"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9824" y="1352549"/>
            <a:ext cx="5629274" cy="173355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solidFill>
            <a:srgbClr val="FAFAFA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0324" y="1536192"/>
            <a:ext cx="5324474" cy="1904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1">
                <a:solidFill>
                  <a:srgbClr val="7C3AED"/>
                </a:solidFill>
                <a:latin typeface="Inter"/>
                <a:ea typeface="PingFang SC"/>
              </a:rPr>
              <a:t>✓ 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0324" y="1863089"/>
            <a:ext cx="6584156" cy="2381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99" b="1">
                <a:solidFill>
                  <a:srgbClr val="111827"/>
                </a:solidFill>
                <a:latin typeface="Inter"/>
                <a:ea typeface="PingFang SC"/>
              </a:rPr>
              <a:t>智能回收柜落地社区，居民投放可回收物，AI 自动识别称重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2899" y="3333749"/>
            <a:ext cx="5629274" cy="173355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solidFill>
            <a:srgbClr val="FAFAFA"/>
          </a:solidFill>
          <a:ln w="19050">
            <a:solidFill>
              <a:srgbClr val="8E4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3399" y="3517392"/>
            <a:ext cx="11201399" cy="1904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1">
                <a:solidFill>
                  <a:srgbClr val="9A58FF"/>
                </a:solidFill>
                <a:latin typeface="Inter"/>
                <a:ea typeface="PingFang SC"/>
              </a:rPr>
              <a:t>✓ 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399" y="3844290"/>
            <a:ext cx="6500812" cy="2381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99" b="1">
                <a:solidFill>
                  <a:srgbClr val="111827"/>
                </a:solidFill>
                <a:latin typeface="Inter"/>
                <a:ea typeface="PingFang SC"/>
              </a:rPr>
              <a:t>环保金实时到账：0.35 元/公斤，可提现或兑换周边商户券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9824" y="3333749"/>
            <a:ext cx="5629274" cy="173355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solidFill>
            <a:srgbClr val="FAFAFA"/>
          </a:solidFill>
          <a:ln w="19050">
            <a:solidFill>
              <a:srgbClr val="A0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0324" y="3517392"/>
            <a:ext cx="5324474" cy="1904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1">
                <a:solidFill>
                  <a:srgbClr val="9A58FF"/>
                </a:solidFill>
                <a:latin typeface="Inter"/>
                <a:ea typeface="PingFang SC"/>
              </a:rPr>
              <a:t>✓ 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0324" y="3844290"/>
            <a:ext cx="6131718" cy="4762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99" b="1">
                <a:solidFill>
                  <a:srgbClr val="111827"/>
                </a:solidFill>
                <a:latin typeface="Inter"/>
                <a:ea typeface="PingFang SC"/>
              </a:rPr>
              <a:t>物业零投入联营：免场地费入驻，按单柜净收益 15% 返</a:t>
            </a:r>
          </a:p>
          <a:p>
            <a:r>
              <a:rPr sz="1499" b="1">
                <a:solidFill>
                  <a:srgbClr val="111827"/>
                </a:solidFill>
                <a:latin typeface="Inter"/>
                <a:ea typeface="PingFang SC"/>
              </a:rPr>
              <a:t>还物业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00999" y="-2381250"/>
            <a:ext cx="7619999" cy="5334000"/>
          </a:xfrm>
          <a:prstGeom prst="ellipse">
            <a:avLst/>
          </a:prstGeom>
          <a:gradFill>
            <a:gsLst>
              <a:gs pos="0">
                <a:srgbClr val="8644F7">
                  <a:alpha val="15000"/>
                </a:srgbClr>
              </a:gs>
              <a:gs pos="100000">
                <a:srgbClr val="8644F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95499" y="4667249"/>
            <a:ext cx="5333999" cy="3809999"/>
          </a:xfrm>
          <a:prstGeom prst="ellipse">
            <a:avLst/>
          </a:prstGeom>
          <a:gradFill>
            <a:gsLst>
              <a:gs pos="0">
                <a:srgbClr val="AE6CFF">
                  <a:alpha val="10000"/>
                </a:srgbClr>
              </a:gs>
              <a:gs pos="100000">
                <a:srgbClr val="AE6C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 flipH="1">
            <a:off x="10286999" y="0"/>
            <a:ext cx="1905000" cy="1714500"/>
          </a:xfrm>
          <a:prstGeom prst="line">
            <a:avLst/>
          </a:prstGeom>
          <a:ln w="25400">
            <a:solidFill>
              <a:srgbClr val="8644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10858499" y="0"/>
            <a:ext cx="1333500" cy="1143000"/>
          </a:xfrm>
          <a:prstGeom prst="line">
            <a:avLst/>
          </a:prstGeom>
          <a:ln w="12700">
            <a:solidFill>
              <a:srgbClr val="8644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11849099" y="0"/>
            <a:ext cx="342899" cy="6858000"/>
          </a:xfrm>
          <a:prstGeom prst="rect">
            <a:avLst/>
          </a:prstGeom>
          <a:solidFill>
            <a:srgbClr val="8644F7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14299" cy="6858000"/>
          </a:xfrm>
          <a:prstGeom prst="rect">
            <a:avLst/>
          </a:prstGeom>
          <a:gradFill>
            <a:gsLst>
              <a:gs pos="0">
                <a:srgbClr val="8644F7">
                  <a:alpha val="40000"/>
                </a:srgbClr>
              </a:gs>
              <a:gs pos="50000">
                <a:srgbClr val="8644F7">
                  <a:alpha val="90000"/>
                </a:srgbClr>
              </a:gs>
              <a:gs pos="100000">
                <a:srgbClr val="8644F7">
                  <a:alpha val="4000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93548" y="6216777"/>
            <a:ext cx="1212651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575" b="0">
                <a:solidFill>
                  <a:srgbClr val="6B7280">
                    <a:alpha val="70000"/>
                  </a:srgbClr>
                </a:solidFill>
                <a:latin typeface="Inter"/>
                <a:ea typeface="PingFang SC"/>
              </a:rPr>
              <a:t>05 / 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899" y="136397"/>
            <a:ext cx="11391899" cy="64293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4050" b="1">
                <a:solidFill>
                  <a:srgbClr val="111827"/>
                </a:solidFill>
                <a:latin typeface="Inter"/>
                <a:ea typeface="PingFang SC"/>
              </a:rPr>
              <a:t>使用前后：一个小区的变化 (1/2)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899" y="723900"/>
            <a:ext cx="685799" cy="33337"/>
          </a:xfrm>
          <a:prstGeom prst="roundRect">
            <a:avLst/>
          </a:prstGeom>
          <a:solidFill>
            <a:srgbClr val="8644F7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2899" y="1371600"/>
            <a:ext cx="2705099" cy="3219449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AFAFA"/>
              </a:gs>
              <a:gs pos="100000">
                <a:srgbClr val="FAFAFA">
                  <a:alpha val="85000"/>
                </a:srgbClr>
              </a:gs>
            </a:gsLst>
            <a:lin ang="0" scaled="0"/>
          </a:gradFill>
          <a:ln w="19050">
            <a:solidFill>
              <a:srgbClr val="864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2899" y="1371600"/>
            <a:ext cx="2705099" cy="38100"/>
          </a:xfrm>
          <a:prstGeom prst="roundRect">
            <a:avLst/>
          </a:prstGeom>
          <a:solidFill>
            <a:srgbClr val="8644F7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38274" y="1552574"/>
            <a:ext cx="514349" cy="514350"/>
          </a:xfrm>
          <a:prstGeom prst="ellipse">
            <a:avLst/>
          </a:prstGeom>
          <a:noFill/>
          <a:ln w="12700">
            <a:solidFill>
              <a:srgbClr val="864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76374" y="1590675"/>
            <a:ext cx="438149" cy="438149"/>
          </a:xfrm>
          <a:prstGeom prst="ellipse">
            <a:avLst/>
          </a:prstGeom>
          <a:solidFill>
            <a:srgbClr val="8644F7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09699" y="1672589"/>
            <a:ext cx="571500" cy="2381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99" b="1">
                <a:solidFill>
                  <a:srgbClr val="8644F7">
                    <a:alpha val="90000"/>
                  </a:srgbClr>
                </a:solidFill>
                <a:latin typeface="Inter"/>
                <a:ea typeface="PingFang SC"/>
              </a:rPr>
              <a:t>01</a:t>
            </a:r>
          </a:p>
        </p:txBody>
      </p:sp>
      <p:sp>
        <p:nvSpPr>
          <p:cNvPr id="17" name="Rectangle 16"/>
          <p:cNvSpPr/>
          <p:nvPr/>
        </p:nvSpPr>
        <p:spPr>
          <a:custGeom>
            <a:pathLst>
              <a:path w="2451099" h="285750">
                <a:moveTo>
                  <a:pt x="0" y="285750"/>
                </a:moveTo>
                <a:cubicBezTo>
                  <a:pt x="469899" y="158750"/>
                  <a:pt x="1006474" y="126999"/>
                  <a:pt x="1609724" y="190499"/>
                </a:cubicBezTo>
                <a:cubicBezTo>
                  <a:pt x="2212974" y="254000"/>
                  <a:pt x="2451099" y="190499"/>
                  <a:pt x="2324099" y="0"/>
                </a:cubicBezTo>
              </a:path>
            </a:pathLst>
          </a:custGeom>
          <a:xfrm>
            <a:off x="533399" y="4038599"/>
            <a:ext cx="2451099" cy="285750"/>
          </a:xfrm>
          <a:noFill/>
          <a:ln w="25400">
            <a:solidFill>
              <a:srgbClr val="864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828924" y="4010024"/>
            <a:ext cx="57149" cy="57150"/>
          </a:xfrm>
          <a:prstGeom prst="ellipse">
            <a:avLst/>
          </a:prstGeom>
          <a:solidFill>
            <a:srgbClr val="8644F7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0" y="2406777"/>
            <a:ext cx="3395662" cy="10953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3450" b="1">
                <a:latin typeface="Inter"/>
                <a:ea typeface="PingFang SC"/>
              </a:rPr>
              <a:t>4 台回收</a:t>
            </a:r>
          </a:p>
          <a:p>
            <a:pPr algn="ctr"/>
            <a:r>
              <a:rPr sz="3450" b="1">
                <a:latin typeface="Inter"/>
                <a:ea typeface="PingFang SC"/>
              </a:rPr>
              <a:t>柜 90 天：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6326" y="3957065"/>
            <a:ext cx="3118246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50" b="0">
                <a:solidFill>
                  <a:srgbClr val="6B7280">
                    <a:alpha val="90000"/>
                  </a:srgbClr>
                </a:solidFill>
                <a:latin typeface="Inter"/>
                <a:ea typeface="PingFang SC"/>
              </a:rPr>
              <a:t>试点小区（杭州拱墅区·倚天花</a:t>
            </a:r>
          </a:p>
          <a:p>
            <a:pPr algn="ctr"/>
            <a:r>
              <a:rPr sz="1350" b="0">
                <a:solidFill>
                  <a:srgbClr val="6B7280">
                    <a:alpha val="90000"/>
                  </a:srgbClr>
                </a:solidFill>
                <a:latin typeface="Inter"/>
                <a:ea typeface="PingFang SC"/>
              </a:rPr>
              <a:t>园，1,240 户）投放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76599" y="1371600"/>
            <a:ext cx="2705099" cy="3219449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AFAFA"/>
              </a:gs>
              <a:gs pos="100000">
                <a:srgbClr val="FAFAFA">
                  <a:alpha val="85000"/>
                </a:srgbClr>
              </a:gs>
            </a:gsLst>
            <a:lin ang="0" scaled="0"/>
          </a:gradFill>
          <a:ln w="19050">
            <a:solidFill>
              <a:srgbClr val="6321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276599" y="1371600"/>
            <a:ext cx="2705099" cy="38100"/>
          </a:xfrm>
          <a:prstGeom prst="roundRect">
            <a:avLst/>
          </a:prstGeom>
          <a:solidFill>
            <a:srgbClr val="6321D4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371974" y="1552574"/>
            <a:ext cx="514349" cy="514350"/>
          </a:xfrm>
          <a:prstGeom prst="ellipse">
            <a:avLst/>
          </a:prstGeom>
          <a:noFill/>
          <a:ln w="12700">
            <a:solidFill>
              <a:srgbClr val="6321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410074" y="1590675"/>
            <a:ext cx="438149" cy="438149"/>
          </a:xfrm>
          <a:prstGeom prst="ellipse">
            <a:avLst/>
          </a:prstGeom>
          <a:solidFill>
            <a:srgbClr val="6321D4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43399" y="1672589"/>
            <a:ext cx="571500" cy="2381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99" b="1">
                <a:solidFill>
                  <a:srgbClr val="6321D4">
                    <a:alpha val="90000"/>
                  </a:srgbClr>
                </a:solidFill>
                <a:latin typeface="Inter"/>
                <a:ea typeface="PingFang SC"/>
              </a:rPr>
              <a:t>02</a:t>
            </a:r>
          </a:p>
        </p:txBody>
      </p:sp>
      <p:sp>
        <p:nvSpPr>
          <p:cNvPr id="26" name="Rectangle 25"/>
          <p:cNvSpPr/>
          <p:nvPr/>
        </p:nvSpPr>
        <p:spPr>
          <a:custGeom>
            <a:pathLst>
              <a:path w="2451099" h="285750">
                <a:moveTo>
                  <a:pt x="0" y="285750"/>
                </a:moveTo>
                <a:cubicBezTo>
                  <a:pt x="469899" y="158750"/>
                  <a:pt x="1006474" y="126999"/>
                  <a:pt x="1609724" y="190499"/>
                </a:cubicBezTo>
                <a:cubicBezTo>
                  <a:pt x="2212974" y="254000"/>
                  <a:pt x="2451099" y="190499"/>
                  <a:pt x="2324099" y="0"/>
                </a:cubicBezTo>
              </a:path>
            </a:pathLst>
          </a:custGeom>
          <a:xfrm>
            <a:off x="3467099" y="4038599"/>
            <a:ext cx="2451099" cy="285750"/>
          </a:xfrm>
          <a:noFill/>
          <a:ln w="25400">
            <a:solidFill>
              <a:srgbClr val="6321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762624" y="4010024"/>
            <a:ext cx="57149" cy="57150"/>
          </a:xfrm>
          <a:prstGeom prst="ellipse">
            <a:avLst/>
          </a:prstGeom>
          <a:solidFill>
            <a:srgbClr val="6321D4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77778" y="2406777"/>
            <a:ext cx="2902743" cy="10953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3450" b="1">
                <a:latin typeface="Inter"/>
                <a:ea typeface="PingFang SC"/>
              </a:rPr>
              <a:t>3.1 吨 →</a:t>
            </a:r>
          </a:p>
          <a:p>
            <a:pPr algn="ctr"/>
            <a:r>
              <a:rPr sz="3450" b="1">
                <a:latin typeface="Inter"/>
                <a:ea typeface="PingFang SC"/>
              </a:rPr>
              <a:t>10.2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98651" y="4166615"/>
            <a:ext cx="2260996" cy="214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50" b="0">
                <a:solidFill>
                  <a:srgbClr val="6B7280">
                    <a:alpha val="90000"/>
                  </a:srgbClr>
                </a:solidFill>
                <a:latin typeface="Inter"/>
                <a:ea typeface="PingFang SC"/>
              </a:rPr>
              <a:t>吨 可回收物月分出量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0299" y="1371600"/>
            <a:ext cx="2705099" cy="3219449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AFAFA"/>
              </a:gs>
              <a:gs pos="100000">
                <a:srgbClr val="FAFAFA">
                  <a:alpha val="85000"/>
                </a:srgbClr>
              </a:gs>
            </a:gsLst>
            <a:lin ang="0" scaled="0"/>
          </a:gradFill>
          <a:ln w="19050">
            <a:solidFill>
              <a:srgbClr val="B37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210299" y="1371600"/>
            <a:ext cx="2705099" cy="38100"/>
          </a:xfrm>
          <a:prstGeom prst="roundRect">
            <a:avLst/>
          </a:prstGeom>
          <a:solidFill>
            <a:srgbClr val="B371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305674" y="1552574"/>
            <a:ext cx="514349" cy="514350"/>
          </a:xfrm>
          <a:prstGeom prst="ellipse">
            <a:avLst/>
          </a:prstGeom>
          <a:noFill/>
          <a:ln w="12700">
            <a:solidFill>
              <a:srgbClr val="B37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343774" y="1590675"/>
            <a:ext cx="438149" cy="438149"/>
          </a:xfrm>
          <a:prstGeom prst="ellipse">
            <a:avLst/>
          </a:prstGeom>
          <a:solidFill>
            <a:srgbClr val="B371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77099" y="1672589"/>
            <a:ext cx="571500" cy="2381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99" b="1">
                <a:solidFill>
                  <a:srgbClr val="9A58FF">
                    <a:alpha val="90000"/>
                  </a:srgbClr>
                </a:solidFill>
                <a:latin typeface="Inter"/>
                <a:ea typeface="PingFang SC"/>
              </a:rPr>
              <a:t>03</a:t>
            </a:r>
          </a:p>
        </p:txBody>
      </p:sp>
      <p:sp>
        <p:nvSpPr>
          <p:cNvPr id="35" name="Rectangle 34"/>
          <p:cNvSpPr/>
          <p:nvPr/>
        </p:nvSpPr>
        <p:spPr>
          <a:custGeom>
            <a:pathLst>
              <a:path w="2451099" h="285750">
                <a:moveTo>
                  <a:pt x="0" y="285750"/>
                </a:moveTo>
                <a:cubicBezTo>
                  <a:pt x="469899" y="158750"/>
                  <a:pt x="1006474" y="126999"/>
                  <a:pt x="1609724" y="190499"/>
                </a:cubicBezTo>
                <a:cubicBezTo>
                  <a:pt x="2212974" y="254000"/>
                  <a:pt x="2451099" y="190499"/>
                  <a:pt x="2324099" y="0"/>
                </a:cubicBezTo>
              </a:path>
            </a:pathLst>
          </a:custGeom>
          <a:xfrm>
            <a:off x="6400799" y="4038599"/>
            <a:ext cx="2451099" cy="285750"/>
          </a:xfrm>
          <a:noFill/>
          <a:ln w="25400">
            <a:solidFill>
              <a:srgbClr val="B37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696324" y="4010024"/>
            <a:ext cx="57149" cy="57150"/>
          </a:xfrm>
          <a:prstGeom prst="ellipse">
            <a:avLst/>
          </a:prstGeom>
          <a:solidFill>
            <a:srgbClr val="B371F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862637" y="2617851"/>
            <a:ext cx="3400424" cy="571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3600" b="1">
                <a:latin typeface="Inter"/>
                <a:ea typeface="PingFang SC"/>
              </a:rPr>
              <a:t>62% → 88%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05599" y="4166615"/>
            <a:ext cx="1714500" cy="214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50" b="0">
                <a:solidFill>
                  <a:srgbClr val="6B7280">
                    <a:alpha val="90000"/>
                  </a:srgbClr>
                </a:solidFill>
                <a:latin typeface="Inter"/>
                <a:ea typeface="PingFang SC"/>
              </a:rPr>
              <a:t>厨余分出纯净度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3999" y="1371600"/>
            <a:ext cx="2705099" cy="3219449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AFAFA"/>
              </a:gs>
              <a:gs pos="100000">
                <a:srgbClr val="FAFAFA">
                  <a:alpha val="85000"/>
                </a:srgbClr>
              </a:gs>
            </a:gsLst>
            <a:lin ang="0" scaled="0"/>
          </a:gradFill>
          <a:ln w="19050">
            <a:solidFill>
              <a:srgbClr val="773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143999" y="1371600"/>
            <a:ext cx="2705099" cy="38100"/>
          </a:xfrm>
          <a:prstGeom prst="roundRect">
            <a:avLst/>
          </a:prstGeom>
          <a:solidFill>
            <a:srgbClr val="7735E8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239374" y="1552574"/>
            <a:ext cx="514349" cy="514350"/>
          </a:xfrm>
          <a:prstGeom prst="ellipse">
            <a:avLst/>
          </a:prstGeom>
          <a:noFill/>
          <a:ln w="12700">
            <a:solidFill>
              <a:srgbClr val="773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277474" y="1590675"/>
            <a:ext cx="438149" cy="438149"/>
          </a:xfrm>
          <a:prstGeom prst="ellipse">
            <a:avLst/>
          </a:prstGeom>
          <a:solidFill>
            <a:srgbClr val="7735E8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210799" y="1672589"/>
            <a:ext cx="571500" cy="2381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99" b="1">
                <a:solidFill>
                  <a:srgbClr val="7735E8">
                    <a:alpha val="90000"/>
                  </a:srgbClr>
                </a:solidFill>
                <a:latin typeface="Inter"/>
                <a:ea typeface="PingFang SC"/>
              </a:rPr>
              <a:t>04</a:t>
            </a:r>
          </a:p>
        </p:txBody>
      </p:sp>
      <p:sp>
        <p:nvSpPr>
          <p:cNvPr id="44" name="Rectangle 43"/>
          <p:cNvSpPr/>
          <p:nvPr/>
        </p:nvSpPr>
        <p:spPr>
          <a:custGeom>
            <a:pathLst>
              <a:path w="2451099" h="285750">
                <a:moveTo>
                  <a:pt x="0" y="285750"/>
                </a:moveTo>
                <a:cubicBezTo>
                  <a:pt x="469899" y="158750"/>
                  <a:pt x="1006474" y="126999"/>
                  <a:pt x="1609724" y="190499"/>
                </a:cubicBezTo>
                <a:cubicBezTo>
                  <a:pt x="2212974" y="254000"/>
                  <a:pt x="2451099" y="190499"/>
                  <a:pt x="2324099" y="0"/>
                </a:cubicBezTo>
              </a:path>
            </a:pathLst>
          </a:custGeom>
          <a:xfrm>
            <a:off x="9334499" y="4038599"/>
            <a:ext cx="2451099" cy="285750"/>
          </a:xfrm>
          <a:noFill/>
          <a:ln w="25400">
            <a:solidFill>
              <a:srgbClr val="773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630024" y="4010024"/>
            <a:ext cx="57149" cy="57150"/>
          </a:xfrm>
          <a:prstGeom prst="ellipse">
            <a:avLst/>
          </a:prstGeom>
          <a:solidFill>
            <a:srgbClr val="7735E8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798718" y="2406777"/>
            <a:ext cx="3395662" cy="10953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3450" b="1">
                <a:latin typeface="Inter"/>
                <a:ea typeface="PingFang SC"/>
              </a:rPr>
              <a:t>0 → 71%</a:t>
            </a:r>
          </a:p>
          <a:p>
            <a:pPr algn="ctr"/>
            <a:r>
              <a:rPr sz="3450" b="1">
                <a:latin typeface="Inter"/>
                <a:ea typeface="PingFang SC"/>
              </a:rPr>
              <a:t>（883 户）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53612" y="4166615"/>
            <a:ext cx="1285875" cy="214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50" b="0">
                <a:solidFill>
                  <a:srgbClr val="6B7280">
                    <a:alpha val="90000"/>
                  </a:srgbClr>
                </a:solidFill>
                <a:latin typeface="Inter"/>
                <a:ea typeface="PingFang SC"/>
              </a:rPr>
              <a:t>居民注册率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00999" y="-2381250"/>
            <a:ext cx="7619999" cy="5334000"/>
          </a:xfrm>
          <a:prstGeom prst="ellipse">
            <a:avLst/>
          </a:prstGeom>
          <a:gradFill>
            <a:gsLst>
              <a:gs pos="0">
                <a:srgbClr val="7C3AED">
                  <a:alpha val="15000"/>
                </a:srgbClr>
              </a:gs>
              <a:gs pos="100000">
                <a:srgbClr val="7C3AE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95499" y="4667249"/>
            <a:ext cx="5333999" cy="3809999"/>
          </a:xfrm>
          <a:prstGeom prst="ellipse">
            <a:avLst/>
          </a:prstGeom>
          <a:gradFill>
            <a:gsLst>
              <a:gs pos="0">
                <a:srgbClr val="A462FF">
                  <a:alpha val="10000"/>
                </a:srgbClr>
              </a:gs>
              <a:gs pos="100000">
                <a:srgbClr val="A462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 flipH="1">
            <a:off x="10286999" y="0"/>
            <a:ext cx="1905000" cy="1714500"/>
          </a:xfrm>
          <a:prstGeom prst="line">
            <a:avLst/>
          </a:prstGeom>
          <a:ln w="254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10858499" y="0"/>
            <a:ext cx="1333500" cy="1143000"/>
          </a:xfrm>
          <a:prstGeom prst="line">
            <a:avLst/>
          </a:prstGeom>
          <a:ln w="127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11849099" y="0"/>
            <a:ext cx="342899" cy="6858000"/>
          </a:xfrm>
          <a:prstGeom prst="rect">
            <a:avLst/>
          </a:prstGeom>
          <a:solidFill>
            <a:srgbClr val="7C3AED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14299" cy="6858000"/>
          </a:xfrm>
          <a:prstGeom prst="rect">
            <a:avLst/>
          </a:prstGeom>
          <a:gradFill>
            <a:gsLst>
              <a:gs pos="0">
                <a:srgbClr val="7C3AED">
                  <a:alpha val="40000"/>
                </a:srgbClr>
              </a:gs>
              <a:gs pos="50000">
                <a:srgbClr val="7C3AED">
                  <a:alpha val="90000"/>
                </a:srgbClr>
              </a:gs>
              <a:gs pos="100000">
                <a:srgbClr val="7C3AED">
                  <a:alpha val="4000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93548" y="6216777"/>
            <a:ext cx="1212651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575" b="0">
                <a:solidFill>
                  <a:srgbClr val="6B7280">
                    <a:alpha val="70000"/>
                  </a:srgbClr>
                </a:solidFill>
                <a:latin typeface="Inter"/>
                <a:ea typeface="PingFang SC"/>
              </a:rPr>
              <a:t>06 / 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899" y="136397"/>
            <a:ext cx="11391899" cy="64293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4050" b="1">
                <a:solidFill>
                  <a:srgbClr val="111827"/>
                </a:solidFill>
                <a:latin typeface="Inter"/>
                <a:ea typeface="PingFang SC"/>
              </a:rPr>
              <a:t>使用前后：一个小区的变化 (2/2)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899" y="723900"/>
            <a:ext cx="685799" cy="33337"/>
          </a:xfrm>
          <a:prstGeom prst="roundRect">
            <a:avLst/>
          </a:prstGeom>
          <a:solidFill>
            <a:srgbClr val="7C3AED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2899" y="1371600"/>
            <a:ext cx="11506199" cy="3219449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AFAFA"/>
              </a:gs>
              <a:gs pos="100000">
                <a:srgbClr val="FAFAFA">
                  <a:alpha val="85000"/>
                </a:srgbClr>
              </a:gs>
            </a:gsLst>
            <a:lin ang="0" scaled="0"/>
          </a:gra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2899" y="1371600"/>
            <a:ext cx="11506199" cy="38100"/>
          </a:xfrm>
          <a:prstGeom prst="roundRect">
            <a:avLst/>
          </a:prstGeom>
          <a:solidFill>
            <a:srgbClr val="7C3AED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838824" y="1552574"/>
            <a:ext cx="514349" cy="514350"/>
          </a:xfrm>
          <a:prstGeom prst="ellipse">
            <a:avLst/>
          </a:prstGeom>
          <a:noFill/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876924" y="1590675"/>
            <a:ext cx="438149" cy="438149"/>
          </a:xfrm>
          <a:prstGeom prst="ellipse">
            <a:avLst/>
          </a:prstGeom>
          <a:solidFill>
            <a:srgbClr val="7C3AED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10249" y="1672589"/>
            <a:ext cx="571500" cy="2381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99" b="1">
                <a:solidFill>
                  <a:srgbClr val="7C3AED">
                    <a:alpha val="90000"/>
                  </a:srgbClr>
                </a:solidFill>
                <a:latin typeface="Inter"/>
                <a:ea typeface="PingFang SC"/>
              </a:rPr>
              <a:t>01</a:t>
            </a:r>
          </a:p>
        </p:txBody>
      </p:sp>
      <p:sp>
        <p:nvSpPr>
          <p:cNvPr id="17" name="Rectangle 16"/>
          <p:cNvSpPr/>
          <p:nvPr/>
        </p:nvSpPr>
        <p:spPr>
          <a:custGeom>
            <a:pathLst>
              <a:path w="11252199" h="285750">
                <a:moveTo>
                  <a:pt x="0" y="285750"/>
                </a:moveTo>
                <a:cubicBezTo>
                  <a:pt x="2425699" y="158750"/>
                  <a:pt x="4918074" y="126999"/>
                  <a:pt x="7477124" y="190499"/>
                </a:cubicBezTo>
                <a:cubicBezTo>
                  <a:pt x="10036174" y="254000"/>
                  <a:pt x="11252199" y="190499"/>
                  <a:pt x="11125199" y="0"/>
                </a:cubicBezTo>
              </a:path>
            </a:pathLst>
          </a:custGeom>
          <a:xfrm>
            <a:off x="533399" y="4038599"/>
            <a:ext cx="11252199" cy="285750"/>
          </a:xfrm>
          <a:noFill/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630024" y="4010024"/>
            <a:ext cx="57149" cy="57150"/>
          </a:xfrm>
          <a:prstGeom prst="ellipse">
            <a:avLst/>
          </a:prstGeom>
          <a:solidFill>
            <a:srgbClr val="7C3AED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08559" y="2582798"/>
            <a:ext cx="8574881" cy="6191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3900" b="1">
                <a:latin typeface="Inter"/>
                <a:ea typeface="PingFang SC"/>
              </a:rPr>
              <a:t>3,000 元 物业人工督导支出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36951" y="4166615"/>
            <a:ext cx="1918096" cy="214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50" b="0">
                <a:solidFill>
                  <a:srgbClr val="6B7280">
                    <a:alpha val="90000"/>
                  </a:srgbClr>
                </a:solidFill>
                <a:latin typeface="Inter"/>
                <a:ea typeface="PingFang SC"/>
              </a:rPr>
              <a:t>每月 9,000 元 →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00999" y="-2381250"/>
            <a:ext cx="7619999" cy="5334000"/>
          </a:xfrm>
          <a:prstGeom prst="ellipse">
            <a:avLst/>
          </a:prstGeom>
          <a:gradFill>
            <a:gsLst>
              <a:gs pos="0">
                <a:srgbClr val="8644F7">
                  <a:alpha val="15000"/>
                </a:srgbClr>
              </a:gs>
              <a:gs pos="100000">
                <a:srgbClr val="8644F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95499" y="4667249"/>
            <a:ext cx="5333999" cy="3809999"/>
          </a:xfrm>
          <a:prstGeom prst="ellipse">
            <a:avLst/>
          </a:prstGeom>
          <a:gradFill>
            <a:gsLst>
              <a:gs pos="0">
                <a:srgbClr val="AE6CFF">
                  <a:alpha val="10000"/>
                </a:srgbClr>
              </a:gs>
              <a:gs pos="100000">
                <a:srgbClr val="AE6C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 flipH="1">
            <a:off x="10286999" y="0"/>
            <a:ext cx="1905000" cy="1714500"/>
          </a:xfrm>
          <a:prstGeom prst="line">
            <a:avLst/>
          </a:prstGeom>
          <a:ln w="25400">
            <a:solidFill>
              <a:srgbClr val="8644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10858499" y="0"/>
            <a:ext cx="1333500" cy="1143000"/>
          </a:xfrm>
          <a:prstGeom prst="line">
            <a:avLst/>
          </a:prstGeom>
          <a:ln w="12700">
            <a:solidFill>
              <a:srgbClr val="8644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11734799" y="0"/>
            <a:ext cx="457199" cy="6858000"/>
          </a:xfrm>
          <a:prstGeom prst="rect">
            <a:avLst/>
          </a:prstGeom>
          <a:solidFill>
            <a:srgbClr val="8644F7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14299" cy="6858000"/>
          </a:xfrm>
          <a:prstGeom prst="rect">
            <a:avLst/>
          </a:prstGeom>
          <a:gradFill>
            <a:gsLst>
              <a:gs pos="0">
                <a:srgbClr val="8644F7">
                  <a:alpha val="40000"/>
                </a:srgbClr>
              </a:gs>
              <a:gs pos="50000">
                <a:srgbClr val="8644F7">
                  <a:alpha val="90000"/>
                </a:srgbClr>
              </a:gs>
              <a:gs pos="100000">
                <a:srgbClr val="8644F7">
                  <a:alpha val="4000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93548" y="6216777"/>
            <a:ext cx="1212651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575" b="0">
                <a:solidFill>
                  <a:srgbClr val="6B7280">
                    <a:alpha val="70000"/>
                  </a:srgbClr>
                </a:solidFill>
                <a:latin typeface="Inter"/>
                <a:ea typeface="PingFang SC"/>
              </a:rPr>
              <a:t>07 / 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899" y="136397"/>
            <a:ext cx="11391899" cy="64293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4050" b="1">
                <a:solidFill>
                  <a:srgbClr val="111827"/>
                </a:solidFill>
                <a:latin typeface="Inter"/>
                <a:ea typeface="PingFang SC"/>
              </a:rPr>
              <a:t>产品矩阵：一柜、一端、一后台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899" y="723900"/>
            <a:ext cx="685799" cy="33337"/>
          </a:xfrm>
          <a:prstGeom prst="roundRect">
            <a:avLst/>
          </a:prstGeom>
          <a:solidFill>
            <a:srgbClr val="8644F7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2899" y="990599"/>
            <a:ext cx="11506199" cy="121920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AFAFA"/>
              </a:gs>
              <a:gs pos="100000">
                <a:srgbClr val="FAFAFA">
                  <a:alpha val="80000"/>
                </a:srgbClr>
              </a:gs>
            </a:gsLst>
            <a:lin ang="5400000" scaled="0"/>
          </a:gradFill>
          <a:ln w="19050">
            <a:solidFill>
              <a:srgbClr val="864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2899" y="990599"/>
            <a:ext cx="38099" cy="1219200"/>
          </a:xfrm>
          <a:prstGeom prst="roundRect">
            <a:avLst/>
          </a:prstGeom>
          <a:solidFill>
            <a:srgbClr val="8644F7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8149" y="1390650"/>
            <a:ext cx="419099" cy="419100"/>
          </a:xfrm>
          <a:prstGeom prst="ellipse">
            <a:avLst/>
          </a:prstGeom>
          <a:noFill/>
          <a:ln w="19050">
            <a:solidFill>
              <a:srgbClr val="864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04824" y="1457325"/>
            <a:ext cx="285749" cy="285750"/>
          </a:xfrm>
          <a:prstGeom prst="ellipse">
            <a:avLst/>
          </a:prstGeom>
          <a:solidFill>
            <a:srgbClr val="8644F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1949" y="1463802"/>
            <a:ext cx="571500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75" b="1">
                <a:solidFill>
                  <a:srgbClr val="8644F7"/>
                </a:solidFill>
                <a:latin typeface="Inter"/>
                <a:ea typeface="PingFang SC"/>
              </a:rPr>
              <a:t>01</a:t>
            </a:r>
          </a:p>
        </p:txBody>
      </p:sp>
      <p:sp>
        <p:nvSpPr>
          <p:cNvPr id="17" name="Oval 16"/>
          <p:cNvSpPr/>
          <p:nvPr/>
        </p:nvSpPr>
        <p:spPr>
          <a:xfrm>
            <a:off x="1009649" y="1333500"/>
            <a:ext cx="76199" cy="76200"/>
          </a:xfrm>
          <a:prstGeom prst="ellipse">
            <a:avLst/>
          </a:prstGeom>
          <a:solidFill>
            <a:srgbClr val="8644F7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1099" y="1113282"/>
            <a:ext cx="12858750" cy="857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111827"/>
                </a:solidFill>
                <a:latin typeface="Inter"/>
                <a:ea typeface="PingFang SC"/>
              </a:rPr>
              <a:t>绿循环智能回收柜：八仓位设计，覆盖纸类、塑料、金属、织物等</a:t>
            </a:r>
          </a:p>
          <a:p>
            <a:r>
              <a:rPr sz="2700" b="0">
                <a:solidFill>
                  <a:srgbClr val="111827"/>
                </a:solidFill>
                <a:latin typeface="Inter"/>
                <a:ea typeface="PingFang SC"/>
              </a:rPr>
              <a:t>42 类可回收物</a:t>
            </a:r>
          </a:p>
        </p:txBody>
      </p:sp>
      <p:sp>
        <p:nvSpPr>
          <p:cNvPr id="19" name="Rectangle 18"/>
          <p:cNvSpPr/>
          <p:nvPr/>
        </p:nvSpPr>
        <p:spPr>
          <a:custGeom>
            <a:pathLst>
              <a:path w="57149" h="114300">
                <a:moveTo>
                  <a:pt x="0" y="0"/>
                </a:moveTo>
                <a:lnTo>
                  <a:pt x="57149" y="57150"/>
                </a:lnTo>
                <a:lnTo>
                  <a:pt x="0" y="114300"/>
                </a:lnTo>
              </a:path>
            </a:pathLst>
          </a:custGeom>
          <a:xfrm>
            <a:off x="11620499" y="1543050"/>
            <a:ext cx="57149" cy="114300"/>
          </a:xfrm>
          <a:noFill/>
          <a:ln w="25400">
            <a:solidFill>
              <a:srgbClr val="864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42899" y="2324100"/>
            <a:ext cx="11506199" cy="72390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AFAFA"/>
              </a:gs>
              <a:gs pos="100000">
                <a:srgbClr val="FAFAFA">
                  <a:alpha val="80000"/>
                </a:srgbClr>
              </a:gs>
            </a:gsLst>
            <a:lin ang="5400000" scaled="0"/>
          </a:gradFill>
          <a:ln w="19050">
            <a:solidFill>
              <a:srgbClr val="6826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42899" y="2324100"/>
            <a:ext cx="38099" cy="723900"/>
          </a:xfrm>
          <a:prstGeom prst="roundRect">
            <a:avLst/>
          </a:prstGeom>
          <a:solidFill>
            <a:srgbClr val="6826D9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38149" y="2476499"/>
            <a:ext cx="419099" cy="419100"/>
          </a:xfrm>
          <a:prstGeom prst="ellipse">
            <a:avLst/>
          </a:prstGeom>
          <a:noFill/>
          <a:ln w="19050">
            <a:solidFill>
              <a:srgbClr val="6826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04824" y="2543175"/>
            <a:ext cx="285749" cy="285750"/>
          </a:xfrm>
          <a:prstGeom prst="ellipse">
            <a:avLst/>
          </a:prstGeom>
          <a:solidFill>
            <a:srgbClr val="6826D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1949" y="2549652"/>
            <a:ext cx="571500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75" b="1">
                <a:solidFill>
                  <a:srgbClr val="6826D9"/>
                </a:solidFill>
                <a:latin typeface="Inter"/>
                <a:ea typeface="PingFang SC"/>
              </a:rPr>
              <a:t>02</a:t>
            </a:r>
          </a:p>
        </p:txBody>
      </p:sp>
      <p:sp>
        <p:nvSpPr>
          <p:cNvPr id="25" name="Oval 24"/>
          <p:cNvSpPr/>
          <p:nvPr/>
        </p:nvSpPr>
        <p:spPr>
          <a:xfrm>
            <a:off x="1009649" y="2667000"/>
            <a:ext cx="76199" cy="76200"/>
          </a:xfrm>
          <a:prstGeom prst="ellipse">
            <a:avLst/>
          </a:prstGeom>
          <a:solidFill>
            <a:srgbClr val="6826D9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1099" y="2446781"/>
            <a:ext cx="11144250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111827"/>
                </a:solidFill>
                <a:latin typeface="Inter"/>
                <a:ea typeface="PingFang SC"/>
              </a:rPr>
              <a:t>居民端小程序：扫码开仓、环保金账户、社区环保排行榜</a:t>
            </a:r>
          </a:p>
        </p:txBody>
      </p:sp>
      <p:sp>
        <p:nvSpPr>
          <p:cNvPr id="27" name="Rectangle 26"/>
          <p:cNvSpPr/>
          <p:nvPr/>
        </p:nvSpPr>
        <p:spPr>
          <a:custGeom>
            <a:pathLst>
              <a:path w="57149" h="114300">
                <a:moveTo>
                  <a:pt x="0" y="0"/>
                </a:moveTo>
                <a:lnTo>
                  <a:pt x="57149" y="57150"/>
                </a:lnTo>
                <a:lnTo>
                  <a:pt x="0" y="114300"/>
                </a:lnTo>
              </a:path>
            </a:pathLst>
          </a:custGeom>
          <a:xfrm>
            <a:off x="11620499" y="2628900"/>
            <a:ext cx="57149" cy="114300"/>
          </a:xfrm>
          <a:noFill/>
          <a:ln w="25400">
            <a:solidFill>
              <a:srgbClr val="6826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42899" y="3162299"/>
            <a:ext cx="11506199" cy="72390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AFAFA"/>
              </a:gs>
              <a:gs pos="100000">
                <a:srgbClr val="FAFAFA">
                  <a:alpha val="80000"/>
                </a:srgbClr>
              </a:gs>
            </a:gsLst>
            <a:lin ang="5400000" scaled="0"/>
          </a:gradFill>
          <a:ln w="19050">
            <a:solidFill>
              <a:srgbClr val="AE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42899" y="3162299"/>
            <a:ext cx="38099" cy="723900"/>
          </a:xfrm>
          <a:prstGeom prst="roundRect">
            <a:avLst/>
          </a:prstGeom>
          <a:solidFill>
            <a:srgbClr val="AE6C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38149" y="3314700"/>
            <a:ext cx="419099" cy="419100"/>
          </a:xfrm>
          <a:prstGeom prst="ellipse">
            <a:avLst/>
          </a:prstGeom>
          <a:noFill/>
          <a:ln w="19050">
            <a:solidFill>
              <a:srgbClr val="AE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04824" y="3381375"/>
            <a:ext cx="285749" cy="285750"/>
          </a:xfrm>
          <a:prstGeom prst="ellipse">
            <a:avLst/>
          </a:prstGeom>
          <a:solidFill>
            <a:srgbClr val="AE6C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1949" y="3387852"/>
            <a:ext cx="571500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75" b="1">
                <a:solidFill>
                  <a:srgbClr val="9A58FF"/>
                </a:solidFill>
                <a:latin typeface="Inter"/>
                <a:ea typeface="PingFang SC"/>
              </a:rPr>
              <a:t>03</a:t>
            </a:r>
          </a:p>
        </p:txBody>
      </p:sp>
      <p:sp>
        <p:nvSpPr>
          <p:cNvPr id="33" name="Oval 32"/>
          <p:cNvSpPr/>
          <p:nvPr/>
        </p:nvSpPr>
        <p:spPr>
          <a:xfrm>
            <a:off x="1009649" y="3505199"/>
            <a:ext cx="76199" cy="76200"/>
          </a:xfrm>
          <a:prstGeom prst="ellipse">
            <a:avLst/>
          </a:prstGeom>
          <a:solidFill>
            <a:srgbClr val="AE6CFF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81099" y="3284982"/>
            <a:ext cx="11144250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111827"/>
                </a:solidFill>
                <a:latin typeface="Inter"/>
                <a:ea typeface="PingFang SC"/>
              </a:rPr>
              <a:t>运营后台：满溢预测、清运路线规划、分类质量数据看板</a:t>
            </a:r>
          </a:p>
        </p:txBody>
      </p:sp>
      <p:sp>
        <p:nvSpPr>
          <p:cNvPr id="35" name="Rectangle 34"/>
          <p:cNvSpPr/>
          <p:nvPr/>
        </p:nvSpPr>
        <p:spPr>
          <a:custGeom>
            <a:pathLst>
              <a:path w="57149" h="114300">
                <a:moveTo>
                  <a:pt x="0" y="0"/>
                </a:moveTo>
                <a:lnTo>
                  <a:pt x="57149" y="57150"/>
                </a:lnTo>
                <a:lnTo>
                  <a:pt x="0" y="114300"/>
                </a:lnTo>
              </a:path>
            </a:pathLst>
          </a:custGeom>
          <a:xfrm>
            <a:off x="11620499" y="3467100"/>
            <a:ext cx="57149" cy="114300"/>
          </a:xfrm>
          <a:noFill/>
          <a:ln w="25400">
            <a:solidFill>
              <a:srgbClr val="AE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42899" y="4000500"/>
            <a:ext cx="11506199" cy="72390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AFAFA"/>
              </a:gs>
              <a:gs pos="100000">
                <a:srgbClr val="FAFAFA">
                  <a:alpha val="80000"/>
                </a:srgbClr>
              </a:gs>
            </a:gsLst>
            <a:lin ang="5400000" scaled="0"/>
          </a:gradFill>
          <a:ln w="19050">
            <a:solidFill>
              <a:srgbClr val="864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342899" y="4000500"/>
            <a:ext cx="38099" cy="723900"/>
          </a:xfrm>
          <a:prstGeom prst="roundRect">
            <a:avLst/>
          </a:prstGeom>
          <a:solidFill>
            <a:srgbClr val="8644F7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38149" y="4152899"/>
            <a:ext cx="419099" cy="419100"/>
          </a:xfrm>
          <a:prstGeom prst="ellipse">
            <a:avLst/>
          </a:prstGeom>
          <a:noFill/>
          <a:ln w="19050">
            <a:solidFill>
              <a:srgbClr val="864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04824" y="4219575"/>
            <a:ext cx="285749" cy="285750"/>
          </a:xfrm>
          <a:prstGeom prst="ellipse">
            <a:avLst/>
          </a:prstGeom>
          <a:solidFill>
            <a:srgbClr val="8644F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1949" y="4226051"/>
            <a:ext cx="571500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75" b="1">
                <a:solidFill>
                  <a:srgbClr val="8644F7"/>
                </a:solidFill>
                <a:latin typeface="Inter"/>
                <a:ea typeface="PingFang SC"/>
              </a:rPr>
              <a:t>04</a:t>
            </a:r>
          </a:p>
        </p:txBody>
      </p:sp>
      <p:sp>
        <p:nvSpPr>
          <p:cNvPr id="41" name="Oval 40"/>
          <p:cNvSpPr/>
          <p:nvPr/>
        </p:nvSpPr>
        <p:spPr>
          <a:xfrm>
            <a:off x="1009649" y="4343400"/>
            <a:ext cx="76199" cy="76200"/>
          </a:xfrm>
          <a:prstGeom prst="ellipse">
            <a:avLst/>
          </a:prstGeom>
          <a:solidFill>
            <a:srgbClr val="8644F7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81099" y="4123181"/>
            <a:ext cx="11572875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111827"/>
                </a:solidFill>
                <a:latin typeface="Inter"/>
                <a:ea typeface="PingFang SC"/>
              </a:rPr>
              <a:t>政府数据接口：分出量、纯净度、参与率三张报表一键导出</a:t>
            </a:r>
          </a:p>
        </p:txBody>
      </p:sp>
      <p:sp>
        <p:nvSpPr>
          <p:cNvPr id="43" name="Rectangle 42"/>
          <p:cNvSpPr/>
          <p:nvPr/>
        </p:nvSpPr>
        <p:spPr>
          <a:custGeom>
            <a:pathLst>
              <a:path w="57149" h="114300">
                <a:moveTo>
                  <a:pt x="0" y="0"/>
                </a:moveTo>
                <a:lnTo>
                  <a:pt x="57149" y="57150"/>
                </a:lnTo>
                <a:lnTo>
                  <a:pt x="0" y="114300"/>
                </a:lnTo>
              </a:path>
            </a:pathLst>
          </a:custGeom>
          <a:xfrm>
            <a:off x="11620499" y="4305300"/>
            <a:ext cx="57149" cy="114300"/>
          </a:xfrm>
          <a:noFill/>
          <a:ln w="25400">
            <a:solidFill>
              <a:srgbClr val="864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00999" y="-2381250"/>
            <a:ext cx="7619999" cy="5334000"/>
          </a:xfrm>
          <a:prstGeom prst="ellipse">
            <a:avLst/>
          </a:prstGeom>
          <a:gradFill>
            <a:gsLst>
              <a:gs pos="0">
                <a:srgbClr val="7C3AED">
                  <a:alpha val="15000"/>
                </a:srgbClr>
              </a:gs>
              <a:gs pos="100000">
                <a:srgbClr val="7C3AE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95499" y="4667249"/>
            <a:ext cx="5333999" cy="3809999"/>
          </a:xfrm>
          <a:prstGeom prst="ellipse">
            <a:avLst/>
          </a:prstGeom>
          <a:gradFill>
            <a:gsLst>
              <a:gs pos="0">
                <a:srgbClr val="A462FF">
                  <a:alpha val="10000"/>
                </a:srgbClr>
              </a:gs>
              <a:gs pos="100000">
                <a:srgbClr val="A462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 flipH="1">
            <a:off x="10286999" y="0"/>
            <a:ext cx="1905000" cy="1714500"/>
          </a:xfrm>
          <a:prstGeom prst="line">
            <a:avLst/>
          </a:prstGeom>
          <a:ln w="254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10858499" y="0"/>
            <a:ext cx="1333500" cy="1143000"/>
          </a:xfrm>
          <a:prstGeom prst="line">
            <a:avLst/>
          </a:prstGeom>
          <a:ln w="127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0" y="0"/>
            <a:ext cx="114299" cy="6858000"/>
          </a:xfrm>
          <a:prstGeom prst="rect">
            <a:avLst/>
          </a:prstGeom>
          <a:gradFill>
            <a:gsLst>
              <a:gs pos="0">
                <a:srgbClr val="7C3AED">
                  <a:alpha val="40000"/>
                </a:srgbClr>
              </a:gs>
              <a:gs pos="50000">
                <a:srgbClr val="7C3AED">
                  <a:alpha val="90000"/>
                </a:srgbClr>
              </a:gs>
              <a:gs pos="100000">
                <a:srgbClr val="7C3AED">
                  <a:alpha val="4000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93548" y="6216777"/>
            <a:ext cx="1212651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575" b="0">
                <a:solidFill>
                  <a:srgbClr val="6B7280">
                    <a:alpha val="70000"/>
                  </a:srgbClr>
                </a:solidFill>
                <a:latin typeface="Inter"/>
                <a:ea typeface="PingFang SC"/>
              </a:rPr>
              <a:t>08 / 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899" y="136397"/>
            <a:ext cx="11391899" cy="64293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4050" b="1">
                <a:solidFill>
                  <a:srgbClr val="111827"/>
                </a:solidFill>
                <a:latin typeface="Inter"/>
                <a:ea typeface="PingFang SC"/>
              </a:rPr>
              <a:t>技术架构：端云协同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899" y="723900"/>
            <a:ext cx="685799" cy="33337"/>
          </a:xfrm>
          <a:prstGeom prst="roundRect">
            <a:avLst/>
          </a:prstGeom>
          <a:solidFill>
            <a:srgbClr val="7C3AED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2899" y="1428750"/>
            <a:ext cx="4876799" cy="323850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solidFill>
            <a:srgbClr val="FAFAFA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6749" y="2087117"/>
            <a:ext cx="11068049" cy="16668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49" b="1">
                <a:solidFill>
                  <a:srgbClr val="7C3AED"/>
                </a:solidFill>
                <a:latin typeface="Inter"/>
                <a:ea typeface="PingFang SC"/>
              </a:rPr>
              <a:t>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6749" y="2611373"/>
            <a:ext cx="11068049" cy="6191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900" b="1">
                <a:solidFill>
                  <a:srgbClr val="111827"/>
                </a:solidFill>
                <a:latin typeface="Inter"/>
                <a:ea typeface="PingFang SC"/>
              </a:rPr>
              <a:t>技术架构：端云协同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6749" y="4090415"/>
            <a:ext cx="11068049" cy="214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50" b="0">
                <a:solidFill>
                  <a:srgbClr val="6B7280">
                    <a:alpha val="80000"/>
                  </a:srgbClr>
                </a:solidFill>
                <a:latin typeface="Inter"/>
                <a:ea typeface="PingFang SC"/>
              </a:rPr>
              <a:t>4 mapped signals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95999" y="1428750"/>
            <a:ext cx="5362574" cy="91440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solidFill>
            <a:srgbClr val="FAFAFA"/>
          </a:solidFill>
          <a:ln w="19050">
            <a:solidFill>
              <a:srgbClr val="6A2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86499" y="1612391"/>
            <a:ext cx="5448299" cy="1904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1">
                <a:solidFill>
                  <a:srgbClr val="6A28DB"/>
                </a:solidFill>
                <a:latin typeface="Inter"/>
                <a:ea typeface="PingFang SC"/>
              </a:rPr>
              <a:t>◇ 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86499" y="1939290"/>
            <a:ext cx="6381750" cy="2381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99" b="1">
                <a:solidFill>
                  <a:srgbClr val="111827"/>
                </a:solidFill>
                <a:latin typeface="Inter"/>
                <a:ea typeface="PingFang SC"/>
              </a:rPr>
              <a:t>端侧：自研 GreenSort 视觉模型，单次识别仅 300 毫秒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95999" y="2514600"/>
            <a:ext cx="5362574" cy="91440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solidFill>
            <a:srgbClr val="FAFAFA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86499" y="2698242"/>
            <a:ext cx="5448299" cy="1904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1">
                <a:solidFill>
                  <a:srgbClr val="7C3AED"/>
                </a:solidFill>
                <a:latin typeface="Inter"/>
                <a:ea typeface="PingFang SC"/>
              </a:rPr>
              <a:t>◇ 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86499" y="3033903"/>
            <a:ext cx="6300192" cy="22621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25" b="1">
                <a:solidFill>
                  <a:srgbClr val="111827"/>
                </a:solidFill>
                <a:latin typeface="Inter"/>
                <a:ea typeface="PingFang SC"/>
              </a:rPr>
              <a:t>云侧：回收量时序预测 + 清运路径优化，清运成本下降 31%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95999" y="3600450"/>
            <a:ext cx="5362574" cy="91440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solidFill>
            <a:srgbClr val="FAFAFA"/>
          </a:solidFill>
          <a:ln w="19050">
            <a:solidFill>
              <a:srgbClr val="8E4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86499" y="3784091"/>
            <a:ext cx="5448299" cy="1904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1">
                <a:solidFill>
                  <a:srgbClr val="9A58FF"/>
                </a:solidFill>
                <a:latin typeface="Inter"/>
                <a:ea typeface="PingFang SC"/>
              </a:rPr>
              <a:t>◇ 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86499" y="4110990"/>
            <a:ext cx="6429374" cy="2381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99" b="1">
                <a:solidFill>
                  <a:srgbClr val="111827"/>
                </a:solidFill>
                <a:latin typeface="Inter"/>
                <a:ea typeface="PingFang SC"/>
              </a:rPr>
              <a:t>数据闭环：误识别样本自动回流标注，模型每两周迭代一次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95999" y="4686300"/>
            <a:ext cx="5362574" cy="91440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solidFill>
            <a:srgbClr val="FAFAFA"/>
          </a:solidFill>
          <a:ln w="19050">
            <a:solidFill>
              <a:srgbClr val="A0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86499" y="4869941"/>
            <a:ext cx="5448299" cy="1904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1">
                <a:solidFill>
                  <a:srgbClr val="9A58FF"/>
                </a:solidFill>
                <a:latin typeface="Inter"/>
                <a:ea typeface="PingFang SC"/>
              </a:rPr>
              <a:t>◇ 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86499" y="5196840"/>
            <a:ext cx="5226843" cy="2381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99" b="1">
                <a:solidFill>
                  <a:srgbClr val="111827"/>
                </a:solidFill>
                <a:latin typeface="Inter"/>
                <a:ea typeface="PingFang SC"/>
              </a:rPr>
              <a:t>识别准确率：42 类可回收物综合准确率 98.2%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00999" y="-2381250"/>
            <a:ext cx="7619999" cy="5334000"/>
          </a:xfrm>
          <a:prstGeom prst="ellipse">
            <a:avLst/>
          </a:prstGeom>
          <a:gradFill>
            <a:gsLst>
              <a:gs pos="0">
                <a:srgbClr val="8644F7">
                  <a:alpha val="15000"/>
                </a:srgbClr>
              </a:gs>
              <a:gs pos="100000">
                <a:srgbClr val="8644F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95499" y="4667249"/>
            <a:ext cx="5333999" cy="3809999"/>
          </a:xfrm>
          <a:prstGeom prst="ellipse">
            <a:avLst/>
          </a:prstGeom>
          <a:gradFill>
            <a:gsLst>
              <a:gs pos="0">
                <a:srgbClr val="AE6CFF">
                  <a:alpha val="10000"/>
                </a:srgbClr>
              </a:gs>
              <a:gs pos="100000">
                <a:srgbClr val="AE6C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 flipH="1">
            <a:off x="10286999" y="0"/>
            <a:ext cx="1905000" cy="1714500"/>
          </a:xfrm>
          <a:prstGeom prst="line">
            <a:avLst/>
          </a:prstGeom>
          <a:ln w="25400">
            <a:solidFill>
              <a:srgbClr val="8644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10858499" y="0"/>
            <a:ext cx="1333500" cy="1143000"/>
          </a:xfrm>
          <a:prstGeom prst="line">
            <a:avLst/>
          </a:prstGeom>
          <a:ln w="12700">
            <a:solidFill>
              <a:srgbClr val="8644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11849099" y="0"/>
            <a:ext cx="342899" cy="6858000"/>
          </a:xfrm>
          <a:prstGeom prst="rect">
            <a:avLst/>
          </a:prstGeom>
          <a:solidFill>
            <a:srgbClr val="8644F7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14299" cy="6858000"/>
          </a:xfrm>
          <a:prstGeom prst="rect">
            <a:avLst/>
          </a:prstGeom>
          <a:gradFill>
            <a:gsLst>
              <a:gs pos="0">
                <a:srgbClr val="8644F7">
                  <a:alpha val="40000"/>
                </a:srgbClr>
              </a:gs>
              <a:gs pos="50000">
                <a:srgbClr val="8644F7">
                  <a:alpha val="90000"/>
                </a:srgbClr>
              </a:gs>
              <a:gs pos="100000">
                <a:srgbClr val="8644F7">
                  <a:alpha val="4000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93548" y="6216777"/>
            <a:ext cx="1212651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575" b="0">
                <a:solidFill>
                  <a:srgbClr val="6B7280">
                    <a:alpha val="70000"/>
                  </a:srgbClr>
                </a:solidFill>
                <a:latin typeface="Inter"/>
                <a:ea typeface="PingFang SC"/>
              </a:rPr>
              <a:t>09 / 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899" y="136397"/>
            <a:ext cx="11391899" cy="64293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4050" b="1">
                <a:solidFill>
                  <a:srgbClr val="111827"/>
                </a:solidFill>
                <a:latin typeface="Inter"/>
                <a:ea typeface="PingFang SC"/>
              </a:rPr>
              <a:t>核心壁垒：算法、专利与数据飞轮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899" y="723900"/>
            <a:ext cx="685799" cy="33337"/>
          </a:xfrm>
          <a:prstGeom prst="roundRect">
            <a:avLst/>
          </a:prstGeom>
          <a:solidFill>
            <a:srgbClr val="8644F7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2899" y="1371600"/>
            <a:ext cx="2705099" cy="3219449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AFAFA"/>
              </a:gs>
              <a:gs pos="100000">
                <a:srgbClr val="FAFAFA">
                  <a:alpha val="85000"/>
                </a:srgbClr>
              </a:gs>
            </a:gsLst>
            <a:lin ang="0" scaled="0"/>
          </a:gradFill>
          <a:ln w="19050">
            <a:solidFill>
              <a:srgbClr val="864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2899" y="1371600"/>
            <a:ext cx="2705099" cy="38100"/>
          </a:xfrm>
          <a:prstGeom prst="roundRect">
            <a:avLst/>
          </a:prstGeom>
          <a:solidFill>
            <a:srgbClr val="8644F7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38274" y="1552574"/>
            <a:ext cx="514349" cy="514350"/>
          </a:xfrm>
          <a:prstGeom prst="ellipse">
            <a:avLst/>
          </a:prstGeom>
          <a:noFill/>
          <a:ln w="12700">
            <a:solidFill>
              <a:srgbClr val="864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76374" y="1590675"/>
            <a:ext cx="438149" cy="438149"/>
          </a:xfrm>
          <a:prstGeom prst="ellipse">
            <a:avLst/>
          </a:prstGeom>
          <a:solidFill>
            <a:srgbClr val="8644F7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09699" y="1672589"/>
            <a:ext cx="571500" cy="2381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99" b="1">
                <a:solidFill>
                  <a:srgbClr val="8644F7">
                    <a:alpha val="90000"/>
                  </a:srgbClr>
                </a:solidFill>
                <a:latin typeface="Inter"/>
                <a:ea typeface="PingFang SC"/>
              </a:rPr>
              <a:t>01</a:t>
            </a:r>
          </a:p>
        </p:txBody>
      </p:sp>
      <p:sp>
        <p:nvSpPr>
          <p:cNvPr id="17" name="Rectangle 16"/>
          <p:cNvSpPr/>
          <p:nvPr/>
        </p:nvSpPr>
        <p:spPr>
          <a:custGeom>
            <a:pathLst>
              <a:path w="2451099" h="285750">
                <a:moveTo>
                  <a:pt x="0" y="285750"/>
                </a:moveTo>
                <a:cubicBezTo>
                  <a:pt x="469899" y="158750"/>
                  <a:pt x="1006474" y="126999"/>
                  <a:pt x="1609724" y="190499"/>
                </a:cubicBezTo>
                <a:cubicBezTo>
                  <a:pt x="2212974" y="254000"/>
                  <a:pt x="2451099" y="190499"/>
                  <a:pt x="2324099" y="0"/>
                </a:cubicBezTo>
              </a:path>
            </a:pathLst>
          </a:custGeom>
          <a:xfrm>
            <a:off x="533399" y="4038599"/>
            <a:ext cx="2451099" cy="285750"/>
          </a:xfrm>
          <a:noFill/>
          <a:ln w="25400">
            <a:solidFill>
              <a:srgbClr val="864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828924" y="4010024"/>
            <a:ext cx="57149" cy="57150"/>
          </a:xfrm>
          <a:prstGeom prst="ellipse">
            <a:avLst/>
          </a:prstGeom>
          <a:solidFill>
            <a:srgbClr val="8644F7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742" y="2460879"/>
            <a:ext cx="3325415" cy="1000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3150" b="1">
                <a:latin typeface="Inter"/>
                <a:ea typeface="PingFang SC"/>
              </a:rPr>
              <a:t>2 项，软件</a:t>
            </a:r>
          </a:p>
          <a:p>
            <a:pPr algn="ctr"/>
            <a:r>
              <a:rPr sz="3150" b="1">
                <a:latin typeface="Inter"/>
                <a:ea typeface="PingFang SC"/>
              </a:rPr>
              <a:t>著作权 4 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767" y="3957065"/>
            <a:ext cx="2925365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50" b="0">
                <a:solidFill>
                  <a:srgbClr val="6B7280">
                    <a:alpha val="90000"/>
                  </a:srgbClr>
                </a:solidFill>
                <a:latin typeface="Inter"/>
                <a:ea typeface="PingFang SC"/>
              </a:rPr>
              <a:t>已授权实用新型专利 3 项，</a:t>
            </a:r>
          </a:p>
          <a:p>
            <a:pPr algn="ctr"/>
            <a:r>
              <a:rPr sz="1350" b="0">
                <a:solidFill>
                  <a:srgbClr val="6B7280">
                    <a:alpha val="90000"/>
                  </a:srgbClr>
                </a:solidFill>
                <a:latin typeface="Inter"/>
                <a:ea typeface="PingFang SC"/>
              </a:rPr>
              <a:t>受理发明专利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76599" y="1371600"/>
            <a:ext cx="2705099" cy="3219449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AFAFA"/>
              </a:gs>
              <a:gs pos="100000">
                <a:srgbClr val="FAFAFA">
                  <a:alpha val="85000"/>
                </a:srgbClr>
              </a:gs>
            </a:gsLst>
            <a:lin ang="0" scaled="0"/>
          </a:gradFill>
          <a:ln w="19050">
            <a:solidFill>
              <a:srgbClr val="6321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276599" y="1371600"/>
            <a:ext cx="2705099" cy="38100"/>
          </a:xfrm>
          <a:prstGeom prst="roundRect">
            <a:avLst/>
          </a:prstGeom>
          <a:solidFill>
            <a:srgbClr val="6321D4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371974" y="1552574"/>
            <a:ext cx="514349" cy="514350"/>
          </a:xfrm>
          <a:prstGeom prst="ellipse">
            <a:avLst/>
          </a:prstGeom>
          <a:noFill/>
          <a:ln w="12700">
            <a:solidFill>
              <a:srgbClr val="6321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410074" y="1590675"/>
            <a:ext cx="438149" cy="438149"/>
          </a:xfrm>
          <a:prstGeom prst="ellipse">
            <a:avLst/>
          </a:prstGeom>
          <a:solidFill>
            <a:srgbClr val="6321D4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43399" y="1672589"/>
            <a:ext cx="571500" cy="2381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99" b="1">
                <a:solidFill>
                  <a:srgbClr val="6321D4">
                    <a:alpha val="90000"/>
                  </a:srgbClr>
                </a:solidFill>
                <a:latin typeface="Inter"/>
                <a:ea typeface="PingFang SC"/>
              </a:rPr>
              <a:t>02</a:t>
            </a:r>
          </a:p>
        </p:txBody>
      </p:sp>
      <p:sp>
        <p:nvSpPr>
          <p:cNvPr id="26" name="Rectangle 25"/>
          <p:cNvSpPr/>
          <p:nvPr/>
        </p:nvSpPr>
        <p:spPr>
          <a:custGeom>
            <a:pathLst>
              <a:path w="2451099" h="285750">
                <a:moveTo>
                  <a:pt x="0" y="285750"/>
                </a:moveTo>
                <a:cubicBezTo>
                  <a:pt x="469899" y="158750"/>
                  <a:pt x="1006474" y="126999"/>
                  <a:pt x="1609724" y="190499"/>
                </a:cubicBezTo>
                <a:cubicBezTo>
                  <a:pt x="2212974" y="254000"/>
                  <a:pt x="2451099" y="190499"/>
                  <a:pt x="2324099" y="0"/>
                </a:cubicBezTo>
              </a:path>
            </a:pathLst>
          </a:custGeom>
          <a:xfrm>
            <a:off x="3467099" y="4038599"/>
            <a:ext cx="2451099" cy="285750"/>
          </a:xfrm>
          <a:noFill/>
          <a:ln w="25400">
            <a:solidFill>
              <a:srgbClr val="6321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762624" y="4010024"/>
            <a:ext cx="57149" cy="57150"/>
          </a:xfrm>
          <a:prstGeom prst="ellipse">
            <a:avLst/>
          </a:prstGeom>
          <a:solidFill>
            <a:srgbClr val="6321D4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28392" y="2406777"/>
            <a:ext cx="2601515" cy="10953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3450" b="1">
                <a:latin typeface="Inter"/>
                <a:ea typeface="PingFang SC"/>
              </a:rPr>
              <a:t>11.6 个</a:t>
            </a:r>
          </a:p>
          <a:p>
            <a:pPr algn="ctr"/>
            <a:r>
              <a:rPr sz="3450" b="1">
                <a:latin typeface="Inter"/>
                <a:ea typeface="PingFang SC"/>
              </a:rPr>
              <a:t>百分点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75384" y="3957065"/>
            <a:ext cx="3107531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50" b="0">
                <a:solidFill>
                  <a:srgbClr val="6B7280">
                    <a:alpha val="90000"/>
                  </a:srgbClr>
                </a:solidFill>
                <a:latin typeface="Inter"/>
                <a:ea typeface="PingFang SC"/>
              </a:rPr>
              <a:t>GreenSort 在低光照、污损、</a:t>
            </a:r>
          </a:p>
          <a:p>
            <a:pPr algn="ctr"/>
            <a:r>
              <a:rPr sz="1350" b="0">
                <a:solidFill>
                  <a:srgbClr val="6B7280">
                    <a:alpha val="90000"/>
                  </a:srgbClr>
                </a:solidFill>
                <a:latin typeface="Inter"/>
                <a:ea typeface="PingFang SC"/>
              </a:rPr>
              <a:t>遮挡场景准确率领先开源方案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0299" y="1371600"/>
            <a:ext cx="2705099" cy="3219449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AFAFA"/>
              </a:gs>
              <a:gs pos="100000">
                <a:srgbClr val="FAFAFA">
                  <a:alpha val="85000"/>
                </a:srgbClr>
              </a:gs>
            </a:gsLst>
            <a:lin ang="0" scaled="0"/>
          </a:gradFill>
          <a:ln w="19050">
            <a:solidFill>
              <a:srgbClr val="B37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210299" y="1371600"/>
            <a:ext cx="2705099" cy="38100"/>
          </a:xfrm>
          <a:prstGeom prst="roundRect">
            <a:avLst/>
          </a:prstGeom>
          <a:solidFill>
            <a:srgbClr val="B371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305674" y="1552574"/>
            <a:ext cx="514349" cy="514350"/>
          </a:xfrm>
          <a:prstGeom prst="ellipse">
            <a:avLst/>
          </a:prstGeom>
          <a:noFill/>
          <a:ln w="12700">
            <a:solidFill>
              <a:srgbClr val="B37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343774" y="1590675"/>
            <a:ext cx="438149" cy="438149"/>
          </a:xfrm>
          <a:prstGeom prst="ellipse">
            <a:avLst/>
          </a:prstGeom>
          <a:solidFill>
            <a:srgbClr val="B371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77099" y="1672589"/>
            <a:ext cx="571500" cy="2381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99" b="1">
                <a:solidFill>
                  <a:srgbClr val="9A58FF">
                    <a:alpha val="90000"/>
                  </a:srgbClr>
                </a:solidFill>
                <a:latin typeface="Inter"/>
                <a:ea typeface="PingFang SC"/>
              </a:rPr>
              <a:t>03</a:t>
            </a:r>
          </a:p>
        </p:txBody>
      </p:sp>
      <p:sp>
        <p:nvSpPr>
          <p:cNvPr id="35" name="Rectangle 34"/>
          <p:cNvSpPr/>
          <p:nvPr/>
        </p:nvSpPr>
        <p:spPr>
          <a:custGeom>
            <a:pathLst>
              <a:path w="2451099" h="285750">
                <a:moveTo>
                  <a:pt x="0" y="285750"/>
                </a:moveTo>
                <a:cubicBezTo>
                  <a:pt x="469899" y="158750"/>
                  <a:pt x="1006474" y="126999"/>
                  <a:pt x="1609724" y="190499"/>
                </a:cubicBezTo>
                <a:cubicBezTo>
                  <a:pt x="2212974" y="254000"/>
                  <a:pt x="2451099" y="190499"/>
                  <a:pt x="2324099" y="0"/>
                </a:cubicBezTo>
              </a:path>
            </a:pathLst>
          </a:custGeom>
          <a:xfrm>
            <a:off x="6400799" y="4038599"/>
            <a:ext cx="2451099" cy="285750"/>
          </a:xfrm>
          <a:noFill/>
          <a:ln w="25400">
            <a:solidFill>
              <a:srgbClr val="B37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696324" y="4010024"/>
            <a:ext cx="57149" cy="57150"/>
          </a:xfrm>
          <a:prstGeom prst="ellipse">
            <a:avLst/>
          </a:prstGeom>
          <a:solidFill>
            <a:srgbClr val="B371F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55506" y="2470784"/>
            <a:ext cx="3214687" cy="10715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250" b="1">
                <a:latin typeface="Inter"/>
                <a:ea typeface="PingFang SC"/>
              </a:rPr>
              <a:t>380 万张真实投</a:t>
            </a:r>
          </a:p>
          <a:p>
            <a:pPr algn="ctr"/>
            <a:r>
              <a:rPr sz="2250" b="1">
                <a:latin typeface="Inter"/>
                <a:ea typeface="PingFang SC"/>
              </a:rPr>
              <a:t>放图像数据集，识</a:t>
            </a:r>
          </a:p>
          <a:p>
            <a:pPr algn="ctr"/>
            <a:r>
              <a:rPr sz="2250" b="1">
                <a:latin typeface="Inter"/>
                <a:ea typeface="PingFang SC"/>
              </a:rPr>
              <a:t>别越用越准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41381" y="4166615"/>
            <a:ext cx="642937" cy="214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50" b="0">
                <a:solidFill>
                  <a:srgbClr val="6B7280">
                    <a:alpha val="90000"/>
                  </a:srgbClr>
                </a:solidFill>
                <a:latin typeface="Inter"/>
                <a:ea typeface="PingFang SC"/>
              </a:rPr>
              <a:t>累计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3999" y="1371600"/>
            <a:ext cx="2705099" cy="3219449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AFAFA"/>
              </a:gs>
              <a:gs pos="100000">
                <a:srgbClr val="FAFAFA">
                  <a:alpha val="85000"/>
                </a:srgbClr>
              </a:gs>
            </a:gsLst>
            <a:lin ang="0" scaled="0"/>
          </a:gradFill>
          <a:ln w="19050">
            <a:solidFill>
              <a:srgbClr val="773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143999" y="1371600"/>
            <a:ext cx="2705099" cy="38100"/>
          </a:xfrm>
          <a:prstGeom prst="roundRect">
            <a:avLst/>
          </a:prstGeom>
          <a:solidFill>
            <a:srgbClr val="7735E8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239374" y="1552574"/>
            <a:ext cx="514349" cy="514350"/>
          </a:xfrm>
          <a:prstGeom prst="ellipse">
            <a:avLst/>
          </a:prstGeom>
          <a:noFill/>
          <a:ln w="12700">
            <a:solidFill>
              <a:srgbClr val="773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277474" y="1590675"/>
            <a:ext cx="438149" cy="438149"/>
          </a:xfrm>
          <a:prstGeom prst="ellipse">
            <a:avLst/>
          </a:prstGeom>
          <a:solidFill>
            <a:srgbClr val="7735E8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210799" y="1672589"/>
            <a:ext cx="571500" cy="2381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99" b="1">
                <a:solidFill>
                  <a:srgbClr val="7735E8">
                    <a:alpha val="90000"/>
                  </a:srgbClr>
                </a:solidFill>
                <a:latin typeface="Inter"/>
                <a:ea typeface="PingFang SC"/>
              </a:rPr>
              <a:t>04</a:t>
            </a:r>
          </a:p>
        </p:txBody>
      </p:sp>
      <p:sp>
        <p:nvSpPr>
          <p:cNvPr id="44" name="Rectangle 43"/>
          <p:cNvSpPr/>
          <p:nvPr/>
        </p:nvSpPr>
        <p:spPr>
          <a:custGeom>
            <a:pathLst>
              <a:path w="2451099" h="285750">
                <a:moveTo>
                  <a:pt x="0" y="285750"/>
                </a:moveTo>
                <a:cubicBezTo>
                  <a:pt x="469899" y="158750"/>
                  <a:pt x="1006474" y="126999"/>
                  <a:pt x="1609724" y="190499"/>
                </a:cubicBezTo>
                <a:cubicBezTo>
                  <a:pt x="2212974" y="254000"/>
                  <a:pt x="2451099" y="190499"/>
                  <a:pt x="2324099" y="0"/>
                </a:cubicBezTo>
              </a:path>
            </a:pathLst>
          </a:custGeom>
          <a:xfrm>
            <a:off x="9334499" y="4038599"/>
            <a:ext cx="2451099" cy="285750"/>
          </a:xfrm>
          <a:noFill/>
          <a:ln w="25400">
            <a:solidFill>
              <a:srgbClr val="773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630024" y="4010024"/>
            <a:ext cx="57149" cy="57150"/>
          </a:xfrm>
          <a:prstGeom prst="ellipse">
            <a:avLst/>
          </a:prstGeom>
          <a:solidFill>
            <a:srgbClr val="7735E8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676209" y="2582798"/>
            <a:ext cx="1640681" cy="6191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3900" b="1">
                <a:latin typeface="Inter"/>
                <a:ea typeface="PingFang SC"/>
              </a:rPr>
              <a:t>57%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23151" y="3957065"/>
            <a:ext cx="2946796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50" b="0">
                <a:solidFill>
                  <a:srgbClr val="6B7280">
                    <a:alpha val="90000"/>
                  </a:srgbClr>
                </a:solidFill>
                <a:latin typeface="Inter"/>
                <a:ea typeface="PingFang SC"/>
              </a:rPr>
              <a:t>满溢预测误差 ±8%，清运"跑</a:t>
            </a:r>
          </a:p>
          <a:p>
            <a:pPr algn="ctr"/>
            <a:r>
              <a:rPr sz="1350" b="0">
                <a:solidFill>
                  <a:srgbClr val="6B7280">
                    <a:alpha val="90000"/>
                  </a:srgbClr>
                </a:solidFill>
                <a:latin typeface="Inter"/>
                <a:ea typeface="PingFang SC"/>
              </a:rPr>
              <a:t>空趟"次数减少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00999" y="-2381250"/>
            <a:ext cx="7619999" cy="5334000"/>
          </a:xfrm>
          <a:prstGeom prst="ellipse">
            <a:avLst/>
          </a:prstGeom>
          <a:gradFill>
            <a:gsLst>
              <a:gs pos="0">
                <a:srgbClr val="7432E5">
                  <a:alpha val="15000"/>
                </a:srgbClr>
              </a:gs>
              <a:gs pos="100000">
                <a:srgbClr val="7432E5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95499" y="4667249"/>
            <a:ext cx="5333999" cy="3809999"/>
          </a:xfrm>
          <a:prstGeom prst="ellipse">
            <a:avLst/>
          </a:prstGeom>
          <a:gradFill>
            <a:gsLst>
              <a:gs pos="0">
                <a:srgbClr val="9C5AFF">
                  <a:alpha val="10000"/>
                </a:srgbClr>
              </a:gs>
              <a:gs pos="100000">
                <a:srgbClr val="9C5A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 flipH="1">
            <a:off x="10286999" y="0"/>
            <a:ext cx="1905000" cy="1714500"/>
          </a:xfrm>
          <a:prstGeom prst="line">
            <a:avLst/>
          </a:prstGeom>
          <a:ln w="25400">
            <a:solidFill>
              <a:srgbClr val="7432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10858499" y="0"/>
            <a:ext cx="1333500" cy="1143000"/>
          </a:xfrm>
          <a:prstGeom prst="line">
            <a:avLst/>
          </a:prstGeom>
          <a:ln w="12700">
            <a:solidFill>
              <a:srgbClr val="7432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11849099" y="0"/>
            <a:ext cx="342899" cy="6858000"/>
          </a:xfrm>
          <a:prstGeom prst="rect">
            <a:avLst/>
          </a:prstGeom>
          <a:solidFill>
            <a:srgbClr val="7432E5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14299" cy="6858000"/>
          </a:xfrm>
          <a:prstGeom prst="rect">
            <a:avLst/>
          </a:prstGeom>
          <a:gradFill>
            <a:gsLst>
              <a:gs pos="0">
                <a:srgbClr val="7432E5">
                  <a:alpha val="40000"/>
                </a:srgbClr>
              </a:gs>
              <a:gs pos="50000">
                <a:srgbClr val="7432E5">
                  <a:alpha val="90000"/>
                </a:srgbClr>
              </a:gs>
              <a:gs pos="100000">
                <a:srgbClr val="7432E5">
                  <a:alpha val="4000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93548" y="6216777"/>
            <a:ext cx="1212651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575" b="0">
                <a:solidFill>
                  <a:srgbClr val="6B7280">
                    <a:alpha val="70000"/>
                  </a:srgbClr>
                </a:solidFill>
                <a:latin typeface="Inter"/>
                <a:ea typeface="PingFang SC"/>
              </a:rPr>
              <a:t>10 / 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899" y="136397"/>
            <a:ext cx="11391899" cy="64293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4050" b="1">
                <a:solidFill>
                  <a:srgbClr val="111827"/>
                </a:solidFill>
                <a:latin typeface="Inter"/>
                <a:ea typeface="PingFang SC"/>
              </a:rPr>
              <a:t>与竞品：轻资产联营是关键差异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899" y="723900"/>
            <a:ext cx="685799" cy="33337"/>
          </a:xfrm>
          <a:prstGeom prst="roundRect">
            <a:avLst/>
          </a:prstGeom>
          <a:solidFill>
            <a:srgbClr val="7432E5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2899" y="1371600"/>
            <a:ext cx="11506199" cy="4095749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AFAFA"/>
              </a:gs>
              <a:gs pos="100000">
                <a:srgbClr val="FAFAFA">
                  <a:alpha val="85000"/>
                </a:srgbClr>
              </a:gs>
            </a:gsLst>
            <a:lin ang="0" scaled="0"/>
          </a:gradFill>
          <a:ln w="19050">
            <a:solidFill>
              <a:srgbClr val="743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2899" y="1371600"/>
            <a:ext cx="38099" cy="4095749"/>
          </a:xfrm>
          <a:prstGeom prst="roundRect">
            <a:avLst/>
          </a:prstGeom>
          <a:solidFill>
            <a:srgbClr val="7432E5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custGeom>
            <a:pathLst>
              <a:path w="76199" h="76200">
                <a:moveTo>
                  <a:pt x="0" y="38100"/>
                </a:moveTo>
                <a:lnTo>
                  <a:pt x="38099" y="0"/>
                </a:lnTo>
                <a:lnTo>
                  <a:pt x="76199" y="38100"/>
                </a:lnTo>
                <a:lnTo>
                  <a:pt x="38099" y="76200"/>
                </a:lnTo>
                <a:close/>
              </a:path>
            </a:pathLst>
          </a:custGeom>
          <a:xfrm>
            <a:off x="857249" y="1695449"/>
            <a:ext cx="76199" cy="76200"/>
          </a:xfrm>
          <a:solidFill>
            <a:srgbClr val="7432E5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8699" y="1608582"/>
            <a:ext cx="8422481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6B7280"/>
                </a:solidFill>
                <a:latin typeface="Inter"/>
                <a:ea typeface="PingFang SC"/>
              </a:rPr>
              <a:t>维度|传统废品站|头部智能柜厂商|绿循环</a:t>
            </a:r>
          </a:p>
        </p:txBody>
      </p:sp>
      <p:sp>
        <p:nvSpPr>
          <p:cNvPr id="16" name="Rectangle 15"/>
          <p:cNvSpPr/>
          <p:nvPr/>
        </p:nvSpPr>
        <p:spPr>
          <a:custGeom>
            <a:pathLst>
              <a:path w="76199" h="76200">
                <a:moveTo>
                  <a:pt x="0" y="38100"/>
                </a:moveTo>
                <a:lnTo>
                  <a:pt x="38099" y="0"/>
                </a:lnTo>
                <a:lnTo>
                  <a:pt x="76199" y="38100"/>
                </a:lnTo>
                <a:lnTo>
                  <a:pt x="38099" y="76200"/>
                </a:lnTo>
                <a:close/>
              </a:path>
            </a:pathLst>
          </a:custGeom>
          <a:xfrm>
            <a:off x="857249" y="2381250"/>
            <a:ext cx="76199" cy="76200"/>
          </a:xfrm>
          <a:solidFill>
            <a:srgbClr val="7432E5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8699" y="2294381"/>
            <a:ext cx="11422856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6B7280"/>
                </a:solidFill>
                <a:latin typeface="Inter"/>
                <a:ea typeface="PingFang SC"/>
              </a:rPr>
              <a:t>进小区模式|无固定点位|重资产自购自营|与物业联营分成</a:t>
            </a:r>
          </a:p>
        </p:txBody>
      </p:sp>
      <p:sp>
        <p:nvSpPr>
          <p:cNvPr id="18" name="Rectangle 17"/>
          <p:cNvSpPr/>
          <p:nvPr/>
        </p:nvSpPr>
        <p:spPr>
          <a:custGeom>
            <a:pathLst>
              <a:path w="76199" h="76200">
                <a:moveTo>
                  <a:pt x="0" y="38100"/>
                </a:moveTo>
                <a:lnTo>
                  <a:pt x="38099" y="0"/>
                </a:lnTo>
                <a:lnTo>
                  <a:pt x="76199" y="38100"/>
                </a:lnTo>
                <a:lnTo>
                  <a:pt x="38099" y="76200"/>
                </a:lnTo>
                <a:close/>
              </a:path>
            </a:pathLst>
          </a:custGeom>
          <a:xfrm>
            <a:off x="857249" y="3067050"/>
            <a:ext cx="76199" cy="76200"/>
          </a:xfrm>
          <a:solidFill>
            <a:srgbClr val="7432E5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8699" y="2980181"/>
            <a:ext cx="8701087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6B7280"/>
                </a:solidFill>
                <a:latin typeface="Inter"/>
                <a:ea typeface="PingFang SC"/>
              </a:rPr>
              <a:t>识别方式|人工分拣|称重为主|AI 逐件识别</a:t>
            </a:r>
          </a:p>
        </p:txBody>
      </p:sp>
      <p:sp>
        <p:nvSpPr>
          <p:cNvPr id="20" name="Rectangle 19"/>
          <p:cNvSpPr/>
          <p:nvPr/>
        </p:nvSpPr>
        <p:spPr>
          <a:custGeom>
            <a:pathLst>
              <a:path w="76199" h="76200">
                <a:moveTo>
                  <a:pt x="0" y="38100"/>
                </a:moveTo>
                <a:lnTo>
                  <a:pt x="38099" y="0"/>
                </a:lnTo>
                <a:lnTo>
                  <a:pt x="76199" y="38100"/>
                </a:lnTo>
                <a:lnTo>
                  <a:pt x="38099" y="76200"/>
                </a:lnTo>
                <a:close/>
              </a:path>
            </a:pathLst>
          </a:custGeom>
          <a:xfrm>
            <a:off x="857249" y="3752849"/>
            <a:ext cx="76199" cy="76200"/>
          </a:xfrm>
          <a:solidFill>
            <a:srgbClr val="7432E5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8699" y="3665981"/>
            <a:ext cx="9279731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6B7280"/>
                </a:solidFill>
                <a:latin typeface="Inter"/>
                <a:ea typeface="PingFang SC"/>
              </a:rPr>
              <a:t>居民激励|现金收购|延迟到账|环保金实时到账</a:t>
            </a:r>
          </a:p>
        </p:txBody>
      </p:sp>
      <p:sp>
        <p:nvSpPr>
          <p:cNvPr id="22" name="Rectangle 21"/>
          <p:cNvSpPr/>
          <p:nvPr/>
        </p:nvSpPr>
        <p:spPr>
          <a:custGeom>
            <a:pathLst>
              <a:path w="76199" h="76200">
                <a:moveTo>
                  <a:pt x="0" y="38100"/>
                </a:moveTo>
                <a:lnTo>
                  <a:pt x="38099" y="0"/>
                </a:lnTo>
                <a:lnTo>
                  <a:pt x="76199" y="38100"/>
                </a:lnTo>
                <a:lnTo>
                  <a:pt x="38099" y="76200"/>
                </a:lnTo>
                <a:close/>
              </a:path>
            </a:pathLst>
          </a:custGeom>
          <a:xfrm>
            <a:off x="857249" y="4438649"/>
            <a:ext cx="76199" cy="76200"/>
          </a:xfrm>
          <a:solidFill>
            <a:srgbClr val="7432E5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8699" y="4351782"/>
            <a:ext cx="4800599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6B7280"/>
                </a:solidFill>
                <a:latin typeface="Inter"/>
                <a:ea typeface="PingFang SC"/>
              </a:rPr>
              <a:t>单点扩张成本|—|高|低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00999" y="-2381250"/>
            <a:ext cx="7619999" cy="5334000"/>
          </a:xfrm>
          <a:prstGeom prst="ellipse">
            <a:avLst/>
          </a:prstGeom>
          <a:gradFill>
            <a:gsLst>
              <a:gs pos="0">
                <a:srgbClr val="8644F7">
                  <a:alpha val="15000"/>
                </a:srgbClr>
              </a:gs>
              <a:gs pos="100000">
                <a:srgbClr val="8644F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95499" y="4667249"/>
            <a:ext cx="5333999" cy="3809999"/>
          </a:xfrm>
          <a:prstGeom prst="ellipse">
            <a:avLst/>
          </a:prstGeom>
          <a:gradFill>
            <a:gsLst>
              <a:gs pos="0">
                <a:srgbClr val="AE6CFF">
                  <a:alpha val="10000"/>
                </a:srgbClr>
              </a:gs>
              <a:gs pos="100000">
                <a:srgbClr val="AE6C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 flipH="1">
            <a:off x="10286999" y="0"/>
            <a:ext cx="1905000" cy="1714500"/>
          </a:xfrm>
          <a:prstGeom prst="line">
            <a:avLst/>
          </a:prstGeom>
          <a:ln w="25400">
            <a:solidFill>
              <a:srgbClr val="8644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10858499" y="0"/>
            <a:ext cx="1333500" cy="1143000"/>
          </a:xfrm>
          <a:prstGeom prst="line">
            <a:avLst/>
          </a:prstGeom>
          <a:ln w="12700">
            <a:solidFill>
              <a:srgbClr val="8644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11849099" y="0"/>
            <a:ext cx="342899" cy="6858000"/>
          </a:xfrm>
          <a:prstGeom prst="rect">
            <a:avLst/>
          </a:prstGeom>
          <a:solidFill>
            <a:srgbClr val="8644F7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14299" cy="6858000"/>
          </a:xfrm>
          <a:prstGeom prst="rect">
            <a:avLst/>
          </a:prstGeom>
          <a:gradFill>
            <a:gsLst>
              <a:gs pos="0">
                <a:srgbClr val="8644F7">
                  <a:alpha val="40000"/>
                </a:srgbClr>
              </a:gs>
              <a:gs pos="50000">
                <a:srgbClr val="8644F7">
                  <a:alpha val="90000"/>
                </a:srgbClr>
              </a:gs>
              <a:gs pos="100000">
                <a:srgbClr val="8644F7">
                  <a:alpha val="4000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93548" y="6216777"/>
            <a:ext cx="1212651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575" b="0">
                <a:solidFill>
                  <a:srgbClr val="6B7280">
                    <a:alpha val="70000"/>
                  </a:srgbClr>
                </a:solidFill>
                <a:latin typeface="Inter"/>
                <a:ea typeface="PingFang SC"/>
              </a:rPr>
              <a:t>11 / 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899" y="48768"/>
            <a:ext cx="11391899" cy="76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4800" b="1">
                <a:solidFill>
                  <a:srgbClr val="111827"/>
                </a:solidFill>
                <a:latin typeface="Inter"/>
                <a:ea typeface="PingFang SC"/>
              </a:rPr>
              <a:t>商业模式：三条收入曲线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899" y="723900"/>
            <a:ext cx="685799" cy="33337"/>
          </a:xfrm>
          <a:prstGeom prst="roundRect">
            <a:avLst/>
          </a:prstGeom>
          <a:solidFill>
            <a:srgbClr val="8644F7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2899" y="1371600"/>
            <a:ext cx="5638799" cy="3219449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AFAFA"/>
              </a:gs>
              <a:gs pos="100000">
                <a:srgbClr val="FAFAFA">
                  <a:alpha val="85000"/>
                </a:srgbClr>
              </a:gs>
            </a:gsLst>
            <a:lin ang="0" scaled="0"/>
          </a:gradFill>
          <a:ln w="19050">
            <a:solidFill>
              <a:srgbClr val="864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2899" y="1371600"/>
            <a:ext cx="5638799" cy="38100"/>
          </a:xfrm>
          <a:prstGeom prst="roundRect">
            <a:avLst/>
          </a:prstGeom>
          <a:solidFill>
            <a:srgbClr val="8644F7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905124" y="1552574"/>
            <a:ext cx="514349" cy="514350"/>
          </a:xfrm>
          <a:prstGeom prst="ellipse">
            <a:avLst/>
          </a:prstGeom>
          <a:noFill/>
          <a:ln w="12700">
            <a:solidFill>
              <a:srgbClr val="864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43224" y="1590675"/>
            <a:ext cx="438149" cy="438149"/>
          </a:xfrm>
          <a:prstGeom prst="ellipse">
            <a:avLst/>
          </a:prstGeom>
          <a:solidFill>
            <a:srgbClr val="8644F7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76549" y="1672589"/>
            <a:ext cx="571500" cy="2381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99" b="1">
                <a:solidFill>
                  <a:srgbClr val="8644F7">
                    <a:alpha val="90000"/>
                  </a:srgbClr>
                </a:solidFill>
                <a:latin typeface="Inter"/>
                <a:ea typeface="PingFang SC"/>
              </a:rPr>
              <a:t>01</a:t>
            </a:r>
          </a:p>
        </p:txBody>
      </p:sp>
      <p:sp>
        <p:nvSpPr>
          <p:cNvPr id="17" name="Rectangle 16"/>
          <p:cNvSpPr/>
          <p:nvPr/>
        </p:nvSpPr>
        <p:spPr>
          <a:custGeom>
            <a:pathLst>
              <a:path w="5378449" h="285750">
                <a:moveTo>
                  <a:pt x="0" y="285750"/>
                </a:moveTo>
                <a:cubicBezTo>
                  <a:pt x="1123949" y="158750"/>
                  <a:pt x="2311399" y="126999"/>
                  <a:pt x="3562349" y="190499"/>
                </a:cubicBezTo>
                <a:cubicBezTo>
                  <a:pt x="4813299" y="254000"/>
                  <a:pt x="5378449" y="190499"/>
                  <a:pt x="5257799" y="0"/>
                </a:cubicBezTo>
              </a:path>
            </a:pathLst>
          </a:custGeom>
          <a:xfrm>
            <a:off x="533399" y="4038599"/>
            <a:ext cx="5378449" cy="285750"/>
          </a:xfrm>
          <a:noFill/>
          <a:ln w="25400">
            <a:solidFill>
              <a:srgbClr val="864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762624" y="4010024"/>
            <a:ext cx="57149" cy="57150"/>
          </a:xfrm>
          <a:prstGeom prst="ellipse">
            <a:avLst/>
          </a:prstGeom>
          <a:solidFill>
            <a:srgbClr val="8644F7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4324" y="2406777"/>
            <a:ext cx="5695949" cy="10953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3450" b="1">
                <a:latin typeface="Inter"/>
                <a:ea typeface="PingFang SC"/>
              </a:rPr>
              <a:t>1,400 元/吨 再生物</a:t>
            </a:r>
          </a:p>
          <a:p>
            <a:pPr algn="ctr"/>
            <a:r>
              <a:rPr sz="3450" b="1">
                <a:latin typeface="Inter"/>
                <a:ea typeface="PingFang SC"/>
              </a:rPr>
              <a:t>资销售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9174" y="4166615"/>
            <a:ext cx="4286250" cy="214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50" b="0">
                <a:solidFill>
                  <a:srgbClr val="6B7280">
                    <a:alpha val="90000"/>
                  </a:srgbClr>
                </a:solidFill>
                <a:latin typeface="Inter"/>
                <a:ea typeface="PingFang SC"/>
              </a:rPr>
              <a:t>回收物分拣打包出售给再生资源企业，均价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0299" y="1371600"/>
            <a:ext cx="5638799" cy="3219449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AFAFA"/>
              </a:gs>
              <a:gs pos="100000">
                <a:srgbClr val="FAFAFA">
                  <a:alpha val="85000"/>
                </a:srgbClr>
              </a:gs>
            </a:gsLst>
            <a:lin ang="0" scaled="0"/>
          </a:gradFill>
          <a:ln w="19050">
            <a:solidFill>
              <a:srgbClr val="6321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10299" y="1371600"/>
            <a:ext cx="5638799" cy="38100"/>
          </a:xfrm>
          <a:prstGeom prst="roundRect">
            <a:avLst/>
          </a:prstGeom>
          <a:solidFill>
            <a:srgbClr val="6321D4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772524" y="1552574"/>
            <a:ext cx="514349" cy="514350"/>
          </a:xfrm>
          <a:prstGeom prst="ellipse">
            <a:avLst/>
          </a:prstGeom>
          <a:noFill/>
          <a:ln w="12700">
            <a:solidFill>
              <a:srgbClr val="6321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810624" y="1590675"/>
            <a:ext cx="438149" cy="438149"/>
          </a:xfrm>
          <a:prstGeom prst="ellipse">
            <a:avLst/>
          </a:prstGeom>
          <a:solidFill>
            <a:srgbClr val="6321D4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43949" y="1672589"/>
            <a:ext cx="571500" cy="2381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99" b="1">
                <a:solidFill>
                  <a:srgbClr val="6321D4">
                    <a:alpha val="90000"/>
                  </a:srgbClr>
                </a:solidFill>
                <a:latin typeface="Inter"/>
                <a:ea typeface="PingFang SC"/>
              </a:rPr>
              <a:t>02</a:t>
            </a:r>
          </a:p>
        </p:txBody>
      </p:sp>
      <p:sp>
        <p:nvSpPr>
          <p:cNvPr id="26" name="Rectangle 25"/>
          <p:cNvSpPr/>
          <p:nvPr/>
        </p:nvSpPr>
        <p:spPr>
          <a:custGeom>
            <a:pathLst>
              <a:path w="5378449" h="285750">
                <a:moveTo>
                  <a:pt x="0" y="285750"/>
                </a:moveTo>
                <a:cubicBezTo>
                  <a:pt x="1123949" y="158750"/>
                  <a:pt x="2311399" y="126999"/>
                  <a:pt x="3562349" y="190499"/>
                </a:cubicBezTo>
                <a:cubicBezTo>
                  <a:pt x="4813299" y="254000"/>
                  <a:pt x="5378449" y="190499"/>
                  <a:pt x="5257799" y="0"/>
                </a:cubicBezTo>
              </a:path>
            </a:pathLst>
          </a:custGeom>
          <a:xfrm>
            <a:off x="6400799" y="4038599"/>
            <a:ext cx="5378449" cy="285750"/>
          </a:xfrm>
          <a:noFill/>
          <a:ln w="25400">
            <a:solidFill>
              <a:srgbClr val="6321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630024" y="4010024"/>
            <a:ext cx="57149" cy="57150"/>
          </a:xfrm>
          <a:prstGeom prst="ellipse">
            <a:avLst/>
          </a:prstGeom>
          <a:solidFill>
            <a:srgbClr val="6321D4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10807" y="2406777"/>
            <a:ext cx="7037784" cy="10953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3450" b="1">
                <a:latin typeface="Inter"/>
                <a:ea typeface="PingFang SC"/>
              </a:rPr>
              <a:t>78%、政府服务 17%、商城</a:t>
            </a:r>
          </a:p>
          <a:p>
            <a:pPr algn="ctr"/>
            <a:r>
              <a:rPr sz="3450" b="1">
                <a:latin typeface="Inter"/>
                <a:ea typeface="PingFang SC"/>
              </a:rPr>
              <a:t>佣金 5% 当前收入结构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93918" y="4166615"/>
            <a:ext cx="1071562" cy="214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50" b="0">
                <a:solidFill>
                  <a:srgbClr val="6B7280">
                    <a:alpha val="90000"/>
                  </a:srgbClr>
                </a:solidFill>
                <a:latin typeface="Inter"/>
                <a:ea typeface="PingFang SC"/>
              </a:rPr>
              <a:t>物资销售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00999" y="-2381250"/>
            <a:ext cx="7619999" cy="5334000"/>
          </a:xfrm>
          <a:prstGeom prst="ellipse">
            <a:avLst/>
          </a:prstGeom>
          <a:gradFill>
            <a:gsLst>
              <a:gs pos="0">
                <a:srgbClr val="7C3AED">
                  <a:alpha val="15000"/>
                </a:srgbClr>
              </a:gs>
              <a:gs pos="100000">
                <a:srgbClr val="7C3AE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95499" y="4667249"/>
            <a:ext cx="5333999" cy="3809999"/>
          </a:xfrm>
          <a:prstGeom prst="ellipse">
            <a:avLst/>
          </a:prstGeom>
          <a:gradFill>
            <a:gsLst>
              <a:gs pos="0">
                <a:srgbClr val="A462FF">
                  <a:alpha val="10000"/>
                </a:srgbClr>
              </a:gs>
              <a:gs pos="100000">
                <a:srgbClr val="A462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 flipH="1">
            <a:off x="10286999" y="0"/>
            <a:ext cx="1905000" cy="1714500"/>
          </a:xfrm>
          <a:prstGeom prst="line">
            <a:avLst/>
          </a:prstGeom>
          <a:ln w="254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10858499" y="0"/>
            <a:ext cx="1333500" cy="1143000"/>
          </a:xfrm>
          <a:prstGeom prst="line">
            <a:avLst/>
          </a:prstGeom>
          <a:ln w="127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11734799" y="0"/>
            <a:ext cx="457199" cy="6858000"/>
          </a:xfrm>
          <a:prstGeom prst="rect">
            <a:avLst/>
          </a:prstGeom>
          <a:solidFill>
            <a:srgbClr val="7C3AED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14299" cy="6858000"/>
          </a:xfrm>
          <a:prstGeom prst="rect">
            <a:avLst/>
          </a:prstGeom>
          <a:gradFill>
            <a:gsLst>
              <a:gs pos="0">
                <a:srgbClr val="7C3AED">
                  <a:alpha val="40000"/>
                </a:srgbClr>
              </a:gs>
              <a:gs pos="50000">
                <a:srgbClr val="7C3AED">
                  <a:alpha val="90000"/>
                </a:srgbClr>
              </a:gs>
              <a:gs pos="100000">
                <a:srgbClr val="7C3AED">
                  <a:alpha val="4000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93548" y="6216777"/>
            <a:ext cx="1212651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575" b="0">
                <a:solidFill>
                  <a:srgbClr val="6B7280">
                    <a:alpha val="70000"/>
                  </a:srgbClr>
                </a:solidFill>
                <a:latin typeface="Inter"/>
                <a:ea typeface="PingFang SC"/>
              </a:rPr>
              <a:t>12 / 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899" y="136397"/>
            <a:ext cx="11391899" cy="64293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4050" b="1">
                <a:solidFill>
                  <a:srgbClr val="111827"/>
                </a:solidFill>
                <a:latin typeface="Inter"/>
                <a:ea typeface="PingFang SC"/>
              </a:rPr>
              <a:t>单位经济模型：单柜约 14 个月回本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899" y="723900"/>
            <a:ext cx="685799" cy="33337"/>
          </a:xfrm>
          <a:prstGeom prst="roundRect">
            <a:avLst/>
          </a:prstGeom>
          <a:solidFill>
            <a:srgbClr val="7C3AED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2899" y="990599"/>
            <a:ext cx="11506199" cy="72390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AFAFA"/>
              </a:gs>
              <a:gs pos="100000">
                <a:srgbClr val="FAFAFA">
                  <a:alpha val="80000"/>
                </a:srgbClr>
              </a:gs>
            </a:gsLst>
            <a:lin ang="5400000" scaled="0"/>
          </a:gra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2899" y="990599"/>
            <a:ext cx="38099" cy="723900"/>
          </a:xfrm>
          <a:prstGeom prst="roundRect">
            <a:avLst/>
          </a:prstGeom>
          <a:solidFill>
            <a:srgbClr val="7C3AED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8149" y="1143000"/>
            <a:ext cx="419099" cy="419100"/>
          </a:xfrm>
          <a:prstGeom prst="ellipse">
            <a:avLst/>
          </a:prstGeom>
          <a:noFill/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04824" y="1209674"/>
            <a:ext cx="285749" cy="285750"/>
          </a:xfrm>
          <a:prstGeom prst="ellipse">
            <a:avLst/>
          </a:prstGeom>
          <a:solidFill>
            <a:srgbClr val="7C3AE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1949" y="1216152"/>
            <a:ext cx="571500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75" b="1">
                <a:solidFill>
                  <a:srgbClr val="7C3AED"/>
                </a:solidFill>
                <a:latin typeface="Inter"/>
                <a:ea typeface="PingFang SC"/>
              </a:rPr>
              <a:t>01</a:t>
            </a:r>
          </a:p>
        </p:txBody>
      </p:sp>
      <p:sp>
        <p:nvSpPr>
          <p:cNvPr id="17" name="Oval 16"/>
          <p:cNvSpPr/>
          <p:nvPr/>
        </p:nvSpPr>
        <p:spPr>
          <a:xfrm>
            <a:off x="1009649" y="1333500"/>
            <a:ext cx="76199" cy="76200"/>
          </a:xfrm>
          <a:prstGeom prst="ellipse">
            <a:avLst/>
          </a:prstGeom>
          <a:solidFill>
            <a:srgbClr val="7C3AED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1099" y="1113282"/>
            <a:ext cx="8315325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111827"/>
                </a:solidFill>
                <a:latin typeface="Inter"/>
                <a:ea typeface="PingFang SC"/>
              </a:rPr>
              <a:t>单柜综合成本 1.8 万元（硬件 + 安装）</a:t>
            </a:r>
          </a:p>
        </p:txBody>
      </p:sp>
      <p:sp>
        <p:nvSpPr>
          <p:cNvPr id="19" name="Rectangle 18"/>
          <p:cNvSpPr/>
          <p:nvPr/>
        </p:nvSpPr>
        <p:spPr>
          <a:custGeom>
            <a:pathLst>
              <a:path w="57149" h="114300">
                <a:moveTo>
                  <a:pt x="0" y="0"/>
                </a:moveTo>
                <a:lnTo>
                  <a:pt x="57149" y="57150"/>
                </a:lnTo>
                <a:lnTo>
                  <a:pt x="0" y="114300"/>
                </a:lnTo>
              </a:path>
            </a:pathLst>
          </a:custGeom>
          <a:xfrm>
            <a:off x="11620499" y="1295399"/>
            <a:ext cx="57149" cy="114300"/>
          </a:xfrm>
          <a:noFill/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42899" y="1828800"/>
            <a:ext cx="11506199" cy="72390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AFAFA"/>
              </a:gs>
              <a:gs pos="100000">
                <a:srgbClr val="FAFAFA">
                  <a:alpha val="80000"/>
                </a:srgbClr>
              </a:gs>
            </a:gsLst>
            <a:lin ang="5400000" scaled="0"/>
          </a:gradFill>
          <a:ln w="19050">
            <a:solidFill>
              <a:srgbClr val="5E1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42899" y="1828800"/>
            <a:ext cx="38099" cy="723900"/>
          </a:xfrm>
          <a:prstGeom prst="roundRect">
            <a:avLst/>
          </a:prstGeom>
          <a:solidFill>
            <a:srgbClr val="5E1CC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38149" y="1981199"/>
            <a:ext cx="419099" cy="419100"/>
          </a:xfrm>
          <a:prstGeom prst="ellipse">
            <a:avLst/>
          </a:prstGeom>
          <a:noFill/>
          <a:ln w="19050">
            <a:solidFill>
              <a:srgbClr val="5E1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04824" y="2047874"/>
            <a:ext cx="285749" cy="285750"/>
          </a:xfrm>
          <a:prstGeom prst="ellipse">
            <a:avLst/>
          </a:prstGeom>
          <a:solidFill>
            <a:srgbClr val="5E1CC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1949" y="2054352"/>
            <a:ext cx="571500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75" b="1">
                <a:solidFill>
                  <a:srgbClr val="5E1CCF"/>
                </a:solidFill>
                <a:latin typeface="Inter"/>
                <a:ea typeface="PingFang SC"/>
              </a:rPr>
              <a:t>02</a:t>
            </a:r>
          </a:p>
        </p:txBody>
      </p:sp>
      <p:sp>
        <p:nvSpPr>
          <p:cNvPr id="25" name="Oval 24"/>
          <p:cNvSpPr/>
          <p:nvPr/>
        </p:nvSpPr>
        <p:spPr>
          <a:xfrm>
            <a:off x="1009649" y="2171700"/>
            <a:ext cx="76199" cy="76200"/>
          </a:xfrm>
          <a:prstGeom prst="ellipse">
            <a:avLst/>
          </a:prstGeom>
          <a:solidFill>
            <a:srgbClr val="5E1CCF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1099" y="1951481"/>
            <a:ext cx="8786812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111827"/>
                </a:solidFill>
                <a:latin typeface="Inter"/>
                <a:ea typeface="PingFang SC"/>
              </a:rPr>
              <a:t>单柜日均回收 85 公斤，月回收约 2.55 吨</a:t>
            </a:r>
          </a:p>
        </p:txBody>
      </p:sp>
      <p:sp>
        <p:nvSpPr>
          <p:cNvPr id="27" name="Rectangle 26"/>
          <p:cNvSpPr/>
          <p:nvPr/>
        </p:nvSpPr>
        <p:spPr>
          <a:custGeom>
            <a:pathLst>
              <a:path w="57149" h="114300">
                <a:moveTo>
                  <a:pt x="0" y="0"/>
                </a:moveTo>
                <a:lnTo>
                  <a:pt x="57149" y="57150"/>
                </a:lnTo>
                <a:lnTo>
                  <a:pt x="0" y="114300"/>
                </a:lnTo>
              </a:path>
            </a:pathLst>
          </a:custGeom>
          <a:xfrm>
            <a:off x="11620499" y="2133599"/>
            <a:ext cx="57149" cy="114300"/>
          </a:xfrm>
          <a:noFill/>
          <a:ln w="25400">
            <a:solidFill>
              <a:srgbClr val="5E1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42899" y="2667000"/>
            <a:ext cx="11506199" cy="72390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AFAFA"/>
              </a:gs>
              <a:gs pos="100000">
                <a:srgbClr val="FAFAFA">
                  <a:alpha val="80000"/>
                </a:srgbClr>
              </a:gs>
            </a:gsLst>
            <a:lin ang="5400000" scaled="0"/>
          </a:gradFill>
          <a:ln w="19050">
            <a:solidFill>
              <a:srgbClr val="A46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42899" y="2667000"/>
            <a:ext cx="38099" cy="723900"/>
          </a:xfrm>
          <a:prstGeom prst="roundRect">
            <a:avLst/>
          </a:prstGeom>
          <a:solidFill>
            <a:srgbClr val="A462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38149" y="2819399"/>
            <a:ext cx="419099" cy="419100"/>
          </a:xfrm>
          <a:prstGeom prst="ellipse">
            <a:avLst/>
          </a:prstGeom>
          <a:noFill/>
          <a:ln w="19050">
            <a:solidFill>
              <a:srgbClr val="A46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04824" y="2886075"/>
            <a:ext cx="285749" cy="285750"/>
          </a:xfrm>
          <a:prstGeom prst="ellipse">
            <a:avLst/>
          </a:prstGeom>
          <a:solidFill>
            <a:srgbClr val="A46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1949" y="2892552"/>
            <a:ext cx="571500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75" b="1">
                <a:solidFill>
                  <a:srgbClr val="9A58FF"/>
                </a:solidFill>
                <a:latin typeface="Inter"/>
                <a:ea typeface="PingFang SC"/>
              </a:rPr>
              <a:t>03</a:t>
            </a:r>
          </a:p>
        </p:txBody>
      </p:sp>
      <p:sp>
        <p:nvSpPr>
          <p:cNvPr id="33" name="Oval 32"/>
          <p:cNvSpPr/>
          <p:nvPr/>
        </p:nvSpPr>
        <p:spPr>
          <a:xfrm>
            <a:off x="1009649" y="3009900"/>
            <a:ext cx="76199" cy="76200"/>
          </a:xfrm>
          <a:prstGeom prst="ellipse">
            <a:avLst/>
          </a:prstGeom>
          <a:solidFill>
            <a:srgbClr val="A462FF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81099" y="2789681"/>
            <a:ext cx="10801350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111827"/>
                </a:solidFill>
                <a:latin typeface="Inter"/>
                <a:ea typeface="PingFang SC"/>
              </a:rPr>
              <a:t>月收入：物资销售 2.55 吨 × 1,400 元 ≈ 3,570 元</a:t>
            </a:r>
          </a:p>
        </p:txBody>
      </p:sp>
      <p:sp>
        <p:nvSpPr>
          <p:cNvPr id="35" name="Rectangle 34"/>
          <p:cNvSpPr/>
          <p:nvPr/>
        </p:nvSpPr>
        <p:spPr>
          <a:custGeom>
            <a:pathLst>
              <a:path w="57149" h="114300">
                <a:moveTo>
                  <a:pt x="0" y="0"/>
                </a:moveTo>
                <a:lnTo>
                  <a:pt x="57149" y="57150"/>
                </a:lnTo>
                <a:lnTo>
                  <a:pt x="0" y="114300"/>
                </a:lnTo>
              </a:path>
            </a:pathLst>
          </a:custGeom>
          <a:xfrm>
            <a:off x="11620499" y="2971800"/>
            <a:ext cx="57149" cy="114300"/>
          </a:xfrm>
          <a:noFill/>
          <a:ln w="25400">
            <a:solidFill>
              <a:srgbClr val="A46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42899" y="3505199"/>
            <a:ext cx="11506199" cy="121920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AFAFA"/>
              </a:gs>
              <a:gs pos="100000">
                <a:srgbClr val="FAFAFA">
                  <a:alpha val="80000"/>
                </a:srgbClr>
              </a:gs>
            </a:gsLst>
            <a:lin ang="5400000" scaled="0"/>
          </a:gra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342899" y="3505199"/>
            <a:ext cx="38099" cy="1219200"/>
          </a:xfrm>
          <a:prstGeom prst="roundRect">
            <a:avLst/>
          </a:prstGeom>
          <a:solidFill>
            <a:srgbClr val="7C3AED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38149" y="3905249"/>
            <a:ext cx="419099" cy="419100"/>
          </a:xfrm>
          <a:prstGeom prst="ellipse">
            <a:avLst/>
          </a:prstGeom>
          <a:noFill/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04824" y="3971925"/>
            <a:ext cx="285749" cy="285750"/>
          </a:xfrm>
          <a:prstGeom prst="ellipse">
            <a:avLst/>
          </a:prstGeom>
          <a:solidFill>
            <a:srgbClr val="7C3AE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1949" y="3978402"/>
            <a:ext cx="571500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75" b="1">
                <a:solidFill>
                  <a:srgbClr val="7C3AED"/>
                </a:solidFill>
                <a:latin typeface="Inter"/>
                <a:ea typeface="PingFang SC"/>
              </a:rPr>
              <a:t>04</a:t>
            </a:r>
          </a:p>
        </p:txBody>
      </p:sp>
      <p:sp>
        <p:nvSpPr>
          <p:cNvPr id="41" name="Oval 40"/>
          <p:cNvSpPr/>
          <p:nvPr/>
        </p:nvSpPr>
        <p:spPr>
          <a:xfrm>
            <a:off x="1009649" y="3848099"/>
            <a:ext cx="76199" cy="76200"/>
          </a:xfrm>
          <a:prstGeom prst="ellipse">
            <a:avLst/>
          </a:prstGeom>
          <a:solidFill>
            <a:srgbClr val="7C3AED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81099" y="3627882"/>
            <a:ext cx="12387262" cy="857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111827"/>
                </a:solidFill>
                <a:latin typeface="Inter"/>
                <a:ea typeface="PingFang SC"/>
              </a:rPr>
              <a:t>月支出：用户返利 892 元 + 运维清运 1,200 元 + 物业返还</a:t>
            </a:r>
          </a:p>
          <a:p>
            <a:r>
              <a:rPr sz="2700" b="0">
                <a:solidFill>
                  <a:srgbClr val="111827"/>
                </a:solidFill>
                <a:latin typeface="Inter"/>
                <a:ea typeface="PingFang SC"/>
              </a:rPr>
              <a:t>222 元</a:t>
            </a:r>
          </a:p>
        </p:txBody>
      </p:sp>
      <p:sp>
        <p:nvSpPr>
          <p:cNvPr id="43" name="Rectangle 42"/>
          <p:cNvSpPr/>
          <p:nvPr/>
        </p:nvSpPr>
        <p:spPr>
          <a:custGeom>
            <a:pathLst>
              <a:path w="57149" h="114300">
                <a:moveTo>
                  <a:pt x="0" y="0"/>
                </a:moveTo>
                <a:lnTo>
                  <a:pt x="57149" y="57150"/>
                </a:lnTo>
                <a:lnTo>
                  <a:pt x="0" y="114300"/>
                </a:lnTo>
              </a:path>
            </a:pathLst>
          </a:custGeom>
          <a:xfrm>
            <a:off x="11620499" y="4057650"/>
            <a:ext cx="57149" cy="114300"/>
          </a:xfrm>
          <a:noFill/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342899" y="4838699"/>
            <a:ext cx="11506199" cy="72390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AFAFA"/>
              </a:gs>
              <a:gs pos="100000">
                <a:srgbClr val="FAFAFA">
                  <a:alpha val="80000"/>
                </a:srgbClr>
              </a:gs>
            </a:gsLst>
            <a:lin ang="5400000" scaled="0"/>
          </a:gradFill>
          <a:ln w="19050">
            <a:solidFill>
              <a:srgbClr val="5E1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342899" y="4838699"/>
            <a:ext cx="38099" cy="723900"/>
          </a:xfrm>
          <a:prstGeom prst="roundRect">
            <a:avLst/>
          </a:prstGeom>
          <a:solidFill>
            <a:srgbClr val="5E1CC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38149" y="4991100"/>
            <a:ext cx="419099" cy="419100"/>
          </a:xfrm>
          <a:prstGeom prst="ellipse">
            <a:avLst/>
          </a:prstGeom>
          <a:noFill/>
          <a:ln w="19050">
            <a:solidFill>
              <a:srgbClr val="5E1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504824" y="5057775"/>
            <a:ext cx="285749" cy="285750"/>
          </a:xfrm>
          <a:prstGeom prst="ellipse">
            <a:avLst/>
          </a:prstGeom>
          <a:solidFill>
            <a:srgbClr val="5E1CC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1949" y="5064252"/>
            <a:ext cx="571500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75" b="1">
                <a:solidFill>
                  <a:srgbClr val="5E1CCF"/>
                </a:solidFill>
                <a:latin typeface="Inter"/>
                <a:ea typeface="PingFang SC"/>
              </a:rPr>
              <a:t>05</a:t>
            </a:r>
          </a:p>
        </p:txBody>
      </p:sp>
      <p:sp>
        <p:nvSpPr>
          <p:cNvPr id="49" name="Oval 48"/>
          <p:cNvSpPr/>
          <p:nvPr/>
        </p:nvSpPr>
        <p:spPr>
          <a:xfrm>
            <a:off x="1009649" y="5181599"/>
            <a:ext cx="76199" cy="76200"/>
          </a:xfrm>
          <a:prstGeom prst="ellipse">
            <a:avLst/>
          </a:prstGeom>
          <a:solidFill>
            <a:srgbClr val="5E1CCF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81099" y="4961382"/>
            <a:ext cx="9879806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111827"/>
                </a:solidFill>
                <a:latin typeface="Inter"/>
                <a:ea typeface="PingFang SC"/>
              </a:rPr>
              <a:t>单柜月净收益约 1,256 元，静态回本约 14 个月</a:t>
            </a:r>
          </a:p>
        </p:txBody>
      </p:sp>
      <p:sp>
        <p:nvSpPr>
          <p:cNvPr id="51" name="Rectangle 50"/>
          <p:cNvSpPr/>
          <p:nvPr/>
        </p:nvSpPr>
        <p:spPr>
          <a:custGeom>
            <a:pathLst>
              <a:path w="57149" h="114300">
                <a:moveTo>
                  <a:pt x="0" y="0"/>
                </a:moveTo>
                <a:lnTo>
                  <a:pt x="57149" y="57150"/>
                </a:lnTo>
                <a:lnTo>
                  <a:pt x="0" y="114300"/>
                </a:lnTo>
              </a:path>
            </a:pathLst>
          </a:custGeom>
          <a:xfrm>
            <a:off x="11620499" y="5143500"/>
            <a:ext cx="57149" cy="114300"/>
          </a:xfrm>
          <a:noFill/>
          <a:ln w="25400">
            <a:solidFill>
              <a:srgbClr val="5E1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00999" y="-2381250"/>
            <a:ext cx="7619999" cy="5334000"/>
          </a:xfrm>
          <a:prstGeom prst="ellipse">
            <a:avLst/>
          </a:prstGeom>
          <a:gradFill>
            <a:gsLst>
              <a:gs pos="0">
                <a:srgbClr val="8644F7">
                  <a:alpha val="15000"/>
                </a:srgbClr>
              </a:gs>
              <a:gs pos="100000">
                <a:srgbClr val="8644F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95499" y="4667249"/>
            <a:ext cx="5333999" cy="3809999"/>
          </a:xfrm>
          <a:prstGeom prst="ellipse">
            <a:avLst/>
          </a:prstGeom>
          <a:gradFill>
            <a:gsLst>
              <a:gs pos="0">
                <a:srgbClr val="AE6CFF">
                  <a:alpha val="10000"/>
                </a:srgbClr>
              </a:gs>
              <a:gs pos="100000">
                <a:srgbClr val="AE6C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 flipH="1">
            <a:off x="10286999" y="0"/>
            <a:ext cx="1905000" cy="1714500"/>
          </a:xfrm>
          <a:prstGeom prst="line">
            <a:avLst/>
          </a:prstGeom>
          <a:ln w="25400">
            <a:solidFill>
              <a:srgbClr val="8644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10858499" y="0"/>
            <a:ext cx="1333500" cy="1143000"/>
          </a:xfrm>
          <a:prstGeom prst="line">
            <a:avLst/>
          </a:prstGeom>
          <a:ln w="12700">
            <a:solidFill>
              <a:srgbClr val="8644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11734799" y="0"/>
            <a:ext cx="457199" cy="6858000"/>
          </a:xfrm>
          <a:prstGeom prst="rect">
            <a:avLst/>
          </a:prstGeom>
          <a:solidFill>
            <a:srgbClr val="8644F7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14299" cy="6858000"/>
          </a:xfrm>
          <a:prstGeom prst="rect">
            <a:avLst/>
          </a:prstGeom>
          <a:gradFill>
            <a:gsLst>
              <a:gs pos="0">
                <a:srgbClr val="8644F7">
                  <a:alpha val="40000"/>
                </a:srgbClr>
              </a:gs>
              <a:gs pos="50000">
                <a:srgbClr val="8644F7">
                  <a:alpha val="90000"/>
                </a:srgbClr>
              </a:gs>
              <a:gs pos="100000">
                <a:srgbClr val="8644F7">
                  <a:alpha val="4000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93548" y="6216777"/>
            <a:ext cx="1212651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575" b="0">
                <a:solidFill>
                  <a:srgbClr val="6B7280">
                    <a:alpha val="70000"/>
                  </a:srgbClr>
                </a:solidFill>
                <a:latin typeface="Inter"/>
                <a:ea typeface="PingFang SC"/>
              </a:rPr>
              <a:t>13 / 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899" y="136397"/>
            <a:ext cx="11391899" cy="64293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4050" b="1">
                <a:solidFill>
                  <a:srgbClr val="111827"/>
                </a:solidFill>
                <a:latin typeface="Inter"/>
                <a:ea typeface="PingFang SC"/>
              </a:rPr>
              <a:t>市场空间：TAM / SAM / SOM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899" y="723900"/>
            <a:ext cx="685799" cy="33337"/>
          </a:xfrm>
          <a:prstGeom prst="roundRect">
            <a:avLst/>
          </a:prstGeom>
          <a:solidFill>
            <a:srgbClr val="8644F7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2899" y="990599"/>
            <a:ext cx="11506199" cy="72390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AFAFA"/>
              </a:gs>
              <a:gs pos="100000">
                <a:srgbClr val="FAFAFA">
                  <a:alpha val="80000"/>
                </a:srgbClr>
              </a:gs>
            </a:gsLst>
            <a:lin ang="5400000" scaled="0"/>
          </a:gradFill>
          <a:ln w="19050">
            <a:solidFill>
              <a:srgbClr val="864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2899" y="990599"/>
            <a:ext cx="38099" cy="723900"/>
          </a:xfrm>
          <a:prstGeom prst="roundRect">
            <a:avLst/>
          </a:prstGeom>
          <a:solidFill>
            <a:srgbClr val="8644F7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8149" y="1143000"/>
            <a:ext cx="419099" cy="419100"/>
          </a:xfrm>
          <a:prstGeom prst="ellipse">
            <a:avLst/>
          </a:prstGeom>
          <a:noFill/>
          <a:ln w="19050">
            <a:solidFill>
              <a:srgbClr val="864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04824" y="1209674"/>
            <a:ext cx="285749" cy="285750"/>
          </a:xfrm>
          <a:prstGeom prst="ellipse">
            <a:avLst/>
          </a:prstGeom>
          <a:solidFill>
            <a:srgbClr val="8644F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1949" y="1216152"/>
            <a:ext cx="571500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75" b="1">
                <a:solidFill>
                  <a:srgbClr val="8644F7"/>
                </a:solidFill>
                <a:latin typeface="Inter"/>
                <a:ea typeface="PingFang SC"/>
              </a:rPr>
              <a:t>01</a:t>
            </a:r>
          </a:p>
        </p:txBody>
      </p:sp>
      <p:sp>
        <p:nvSpPr>
          <p:cNvPr id="17" name="Oval 16"/>
          <p:cNvSpPr/>
          <p:nvPr/>
        </p:nvSpPr>
        <p:spPr>
          <a:xfrm>
            <a:off x="1009649" y="1333500"/>
            <a:ext cx="76199" cy="76200"/>
          </a:xfrm>
          <a:prstGeom prst="ellipse">
            <a:avLst/>
          </a:prstGeom>
          <a:solidFill>
            <a:srgbClr val="8644F7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1099" y="1113282"/>
            <a:ext cx="11594306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111827"/>
                </a:solidFill>
                <a:latin typeface="Inter"/>
                <a:ea typeface="PingFang SC"/>
              </a:rPr>
              <a:t>TAM：全国城市生活源再生资源回收市场约 3,000 亿元/年</a:t>
            </a:r>
          </a:p>
        </p:txBody>
      </p:sp>
      <p:sp>
        <p:nvSpPr>
          <p:cNvPr id="19" name="Rectangle 18"/>
          <p:cNvSpPr/>
          <p:nvPr/>
        </p:nvSpPr>
        <p:spPr>
          <a:custGeom>
            <a:pathLst>
              <a:path w="57149" h="114300">
                <a:moveTo>
                  <a:pt x="0" y="0"/>
                </a:moveTo>
                <a:lnTo>
                  <a:pt x="57149" y="57150"/>
                </a:lnTo>
                <a:lnTo>
                  <a:pt x="0" y="114300"/>
                </a:lnTo>
              </a:path>
            </a:pathLst>
          </a:custGeom>
          <a:xfrm>
            <a:off x="11620499" y="1295399"/>
            <a:ext cx="57149" cy="114300"/>
          </a:xfrm>
          <a:noFill/>
          <a:ln w="25400">
            <a:solidFill>
              <a:srgbClr val="864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42899" y="1828800"/>
            <a:ext cx="11506199" cy="72390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AFAFA"/>
              </a:gs>
              <a:gs pos="100000">
                <a:srgbClr val="FAFAFA">
                  <a:alpha val="80000"/>
                </a:srgbClr>
              </a:gs>
            </a:gsLst>
            <a:lin ang="5400000" scaled="0"/>
          </a:gradFill>
          <a:ln w="19050">
            <a:solidFill>
              <a:srgbClr val="6826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42899" y="1828800"/>
            <a:ext cx="38099" cy="723900"/>
          </a:xfrm>
          <a:prstGeom prst="roundRect">
            <a:avLst/>
          </a:prstGeom>
          <a:solidFill>
            <a:srgbClr val="6826D9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38149" y="1981199"/>
            <a:ext cx="419099" cy="419100"/>
          </a:xfrm>
          <a:prstGeom prst="ellipse">
            <a:avLst/>
          </a:prstGeom>
          <a:noFill/>
          <a:ln w="19050">
            <a:solidFill>
              <a:srgbClr val="6826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04824" y="2047874"/>
            <a:ext cx="285749" cy="285750"/>
          </a:xfrm>
          <a:prstGeom prst="ellipse">
            <a:avLst/>
          </a:prstGeom>
          <a:solidFill>
            <a:srgbClr val="6826D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1949" y="2054352"/>
            <a:ext cx="571500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75" b="1">
                <a:solidFill>
                  <a:srgbClr val="6826D9"/>
                </a:solidFill>
                <a:latin typeface="Inter"/>
                <a:ea typeface="PingFang SC"/>
              </a:rPr>
              <a:t>02</a:t>
            </a:r>
          </a:p>
        </p:txBody>
      </p:sp>
      <p:sp>
        <p:nvSpPr>
          <p:cNvPr id="25" name="Oval 24"/>
          <p:cNvSpPr/>
          <p:nvPr/>
        </p:nvSpPr>
        <p:spPr>
          <a:xfrm>
            <a:off x="1009649" y="2171700"/>
            <a:ext cx="76199" cy="76200"/>
          </a:xfrm>
          <a:prstGeom prst="ellipse">
            <a:avLst/>
          </a:prstGeom>
          <a:solidFill>
            <a:srgbClr val="6826D9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1099" y="1951481"/>
            <a:ext cx="10694193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111827"/>
                </a:solidFill>
                <a:latin typeface="Inter"/>
                <a:ea typeface="PingFang SC"/>
              </a:rPr>
              <a:t>SAM：智能回收终端可切入的社区场景约 420 亿元/年</a:t>
            </a:r>
          </a:p>
        </p:txBody>
      </p:sp>
      <p:sp>
        <p:nvSpPr>
          <p:cNvPr id="27" name="Rectangle 26"/>
          <p:cNvSpPr/>
          <p:nvPr/>
        </p:nvSpPr>
        <p:spPr>
          <a:custGeom>
            <a:pathLst>
              <a:path w="57149" h="114300">
                <a:moveTo>
                  <a:pt x="0" y="0"/>
                </a:moveTo>
                <a:lnTo>
                  <a:pt x="57149" y="57150"/>
                </a:lnTo>
                <a:lnTo>
                  <a:pt x="0" y="114300"/>
                </a:lnTo>
              </a:path>
            </a:pathLst>
          </a:custGeom>
          <a:xfrm>
            <a:off x="11620499" y="2133599"/>
            <a:ext cx="57149" cy="114300"/>
          </a:xfrm>
          <a:noFill/>
          <a:ln w="25400">
            <a:solidFill>
              <a:srgbClr val="6826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42899" y="2667000"/>
            <a:ext cx="11506199" cy="72390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AFAFA"/>
              </a:gs>
              <a:gs pos="100000">
                <a:srgbClr val="FAFAFA">
                  <a:alpha val="80000"/>
                </a:srgbClr>
              </a:gs>
            </a:gsLst>
            <a:lin ang="5400000" scaled="0"/>
          </a:gradFill>
          <a:ln w="19050">
            <a:solidFill>
              <a:srgbClr val="AE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42899" y="2667000"/>
            <a:ext cx="38099" cy="723900"/>
          </a:xfrm>
          <a:prstGeom prst="roundRect">
            <a:avLst/>
          </a:prstGeom>
          <a:solidFill>
            <a:srgbClr val="AE6C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38149" y="2819399"/>
            <a:ext cx="419099" cy="419100"/>
          </a:xfrm>
          <a:prstGeom prst="ellipse">
            <a:avLst/>
          </a:prstGeom>
          <a:noFill/>
          <a:ln w="19050">
            <a:solidFill>
              <a:srgbClr val="AE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04824" y="2886075"/>
            <a:ext cx="285749" cy="285750"/>
          </a:xfrm>
          <a:prstGeom prst="ellipse">
            <a:avLst/>
          </a:prstGeom>
          <a:solidFill>
            <a:srgbClr val="AE6C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1949" y="2892552"/>
            <a:ext cx="571500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75" b="1">
                <a:solidFill>
                  <a:srgbClr val="9A58FF"/>
                </a:solidFill>
                <a:latin typeface="Inter"/>
                <a:ea typeface="PingFang SC"/>
              </a:rPr>
              <a:t>03</a:t>
            </a:r>
          </a:p>
        </p:txBody>
      </p:sp>
      <p:sp>
        <p:nvSpPr>
          <p:cNvPr id="33" name="Oval 32"/>
          <p:cNvSpPr/>
          <p:nvPr/>
        </p:nvSpPr>
        <p:spPr>
          <a:xfrm>
            <a:off x="1009649" y="3009900"/>
            <a:ext cx="76199" cy="76200"/>
          </a:xfrm>
          <a:prstGeom prst="ellipse">
            <a:avLst/>
          </a:prstGeom>
          <a:solidFill>
            <a:srgbClr val="AE6CFF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81099" y="2789681"/>
            <a:ext cx="10929937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111827"/>
                </a:solidFill>
                <a:latin typeface="Inter"/>
                <a:ea typeface="PingFang SC"/>
              </a:rPr>
              <a:t>SOM：近 3 年可服务的长三角重点城市市场约 30 亿元</a:t>
            </a:r>
          </a:p>
        </p:txBody>
      </p:sp>
      <p:sp>
        <p:nvSpPr>
          <p:cNvPr id="35" name="Rectangle 34"/>
          <p:cNvSpPr/>
          <p:nvPr/>
        </p:nvSpPr>
        <p:spPr>
          <a:custGeom>
            <a:pathLst>
              <a:path w="57149" h="114300">
                <a:moveTo>
                  <a:pt x="0" y="0"/>
                </a:moveTo>
                <a:lnTo>
                  <a:pt x="57149" y="57150"/>
                </a:lnTo>
                <a:lnTo>
                  <a:pt x="0" y="114300"/>
                </a:lnTo>
              </a:path>
            </a:pathLst>
          </a:custGeom>
          <a:xfrm>
            <a:off x="11620499" y="2971800"/>
            <a:ext cx="57149" cy="114300"/>
          </a:xfrm>
          <a:noFill/>
          <a:ln w="25400">
            <a:solidFill>
              <a:srgbClr val="AE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42899" y="3505199"/>
            <a:ext cx="11506199" cy="121920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AFAFA"/>
              </a:gs>
              <a:gs pos="100000">
                <a:srgbClr val="FAFAFA">
                  <a:alpha val="80000"/>
                </a:srgbClr>
              </a:gs>
            </a:gsLst>
            <a:lin ang="5400000" scaled="0"/>
          </a:gradFill>
          <a:ln w="19050">
            <a:solidFill>
              <a:srgbClr val="864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342899" y="3505199"/>
            <a:ext cx="38099" cy="1219200"/>
          </a:xfrm>
          <a:prstGeom prst="roundRect">
            <a:avLst/>
          </a:prstGeom>
          <a:solidFill>
            <a:srgbClr val="8644F7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38149" y="3905249"/>
            <a:ext cx="419099" cy="419100"/>
          </a:xfrm>
          <a:prstGeom prst="ellipse">
            <a:avLst/>
          </a:prstGeom>
          <a:noFill/>
          <a:ln w="19050">
            <a:solidFill>
              <a:srgbClr val="864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04824" y="3971925"/>
            <a:ext cx="285749" cy="285750"/>
          </a:xfrm>
          <a:prstGeom prst="ellipse">
            <a:avLst/>
          </a:prstGeom>
          <a:solidFill>
            <a:srgbClr val="8644F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1949" y="3978402"/>
            <a:ext cx="571500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75" b="1">
                <a:solidFill>
                  <a:srgbClr val="8644F7"/>
                </a:solidFill>
                <a:latin typeface="Inter"/>
                <a:ea typeface="PingFang SC"/>
              </a:rPr>
              <a:t>04</a:t>
            </a:r>
          </a:p>
        </p:txBody>
      </p:sp>
      <p:sp>
        <p:nvSpPr>
          <p:cNvPr id="41" name="Oval 40"/>
          <p:cNvSpPr/>
          <p:nvPr/>
        </p:nvSpPr>
        <p:spPr>
          <a:xfrm>
            <a:off x="1009649" y="3848099"/>
            <a:ext cx="76199" cy="76200"/>
          </a:xfrm>
          <a:prstGeom prst="ellipse">
            <a:avLst/>
          </a:prstGeom>
          <a:solidFill>
            <a:srgbClr val="8644F7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81099" y="3627882"/>
            <a:ext cx="12751593" cy="857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111827"/>
                </a:solidFill>
                <a:latin typeface="Inter"/>
                <a:ea typeface="PingFang SC"/>
              </a:rPr>
              <a:t>目标客群：中高密度封闭式小区，2028 年营收目标对应渗透率约</a:t>
            </a:r>
          </a:p>
          <a:p>
            <a:r>
              <a:rPr sz="2700" b="0">
                <a:solidFill>
                  <a:srgbClr val="111827"/>
                </a:solidFill>
                <a:latin typeface="Inter"/>
                <a:ea typeface="PingFang SC"/>
              </a:rPr>
              <a:t>2%</a:t>
            </a:r>
          </a:p>
        </p:txBody>
      </p:sp>
      <p:sp>
        <p:nvSpPr>
          <p:cNvPr id="43" name="Rectangle 42"/>
          <p:cNvSpPr/>
          <p:nvPr/>
        </p:nvSpPr>
        <p:spPr>
          <a:custGeom>
            <a:pathLst>
              <a:path w="57149" h="114300">
                <a:moveTo>
                  <a:pt x="0" y="0"/>
                </a:moveTo>
                <a:lnTo>
                  <a:pt x="57149" y="57150"/>
                </a:lnTo>
                <a:lnTo>
                  <a:pt x="0" y="114300"/>
                </a:lnTo>
              </a:path>
            </a:pathLst>
          </a:custGeom>
          <a:xfrm>
            <a:off x="11620499" y="4057650"/>
            <a:ext cx="57149" cy="114300"/>
          </a:xfrm>
          <a:noFill/>
          <a:ln w="25400">
            <a:solidFill>
              <a:srgbClr val="864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57249" y="1714500"/>
            <a:ext cx="2390774" cy="34290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552824" y="1714500"/>
            <a:ext cx="2390774" cy="34290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48399" y="1714500"/>
            <a:ext cx="2390774" cy="34290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43974" y="1714500"/>
            <a:ext cx="2390774" cy="34290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000999" y="-2381250"/>
            <a:ext cx="7619999" cy="5334000"/>
          </a:xfrm>
          <a:prstGeom prst="ellipse">
            <a:avLst/>
          </a:prstGeom>
          <a:gradFill>
            <a:gsLst>
              <a:gs pos="0">
                <a:srgbClr val="7C3AED">
                  <a:alpha val="15000"/>
                </a:srgbClr>
              </a:gs>
              <a:gs pos="100000">
                <a:srgbClr val="7C3AE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-2095499" y="4667249"/>
            <a:ext cx="5333999" cy="3809999"/>
          </a:xfrm>
          <a:prstGeom prst="ellipse">
            <a:avLst/>
          </a:prstGeom>
          <a:gradFill>
            <a:gsLst>
              <a:gs pos="0">
                <a:srgbClr val="A462FF">
                  <a:alpha val="10000"/>
                </a:srgbClr>
              </a:gs>
              <a:gs pos="100000">
                <a:srgbClr val="A462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 flipH="1">
            <a:off x="10286999" y="0"/>
            <a:ext cx="1905000" cy="1714500"/>
          </a:xfrm>
          <a:prstGeom prst="line">
            <a:avLst/>
          </a:prstGeom>
          <a:ln w="254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10858499" y="0"/>
            <a:ext cx="1333500" cy="1143000"/>
          </a:xfrm>
          <a:prstGeom prst="line">
            <a:avLst/>
          </a:prstGeom>
          <a:ln w="127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0" y="0"/>
            <a:ext cx="114299" cy="6858000"/>
          </a:xfrm>
          <a:prstGeom prst="rect">
            <a:avLst/>
          </a:prstGeom>
          <a:gradFill>
            <a:gsLst>
              <a:gs pos="0">
                <a:srgbClr val="7C3AED">
                  <a:alpha val="40000"/>
                </a:srgbClr>
              </a:gs>
              <a:gs pos="50000">
                <a:srgbClr val="7C3AED">
                  <a:alpha val="90000"/>
                </a:srgbClr>
              </a:gs>
              <a:gs pos="100000">
                <a:srgbClr val="7C3AED">
                  <a:alpha val="4000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93548" y="6216777"/>
            <a:ext cx="1212651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575" b="0">
                <a:solidFill>
                  <a:srgbClr val="6B7280">
                    <a:alpha val="70000"/>
                  </a:srgbClr>
                </a:solidFill>
                <a:latin typeface="Inter"/>
                <a:ea typeface="PingFang SC"/>
              </a:rPr>
              <a:t>14 / 17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899" y="58674"/>
            <a:ext cx="11391899" cy="6191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900" b="1">
                <a:solidFill>
                  <a:srgbClr val="111827"/>
                </a:solidFill>
                <a:latin typeface="Inter"/>
                <a:ea typeface="PingFang SC"/>
              </a:rPr>
              <a:t>团队：产业、技术与运营互补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899" y="628650"/>
            <a:ext cx="952499" cy="381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57249" y="1714500"/>
            <a:ext cx="2390774" cy="3429000"/>
          </a:xfrm>
          <a:prstGeom prst="rect">
            <a:avLst/>
          </a:prstGeom>
          <a:gradFill>
            <a:gsLst>
              <a:gs pos="0">
                <a:srgbClr val="FAFAFA"/>
              </a:gs>
              <a:gs pos="100000">
                <a:srgbClr val="F0F0F0"/>
              </a:gs>
            </a:gsLst>
            <a:lin ang="27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57249" y="1714500"/>
            <a:ext cx="2390774" cy="47624"/>
          </a:xfrm>
          <a:prstGeom prst="rect">
            <a:avLst/>
          </a:prstGeom>
          <a:solidFill>
            <a:srgbClr val="5E1CCF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57249" y="1714500"/>
            <a:ext cx="2390774" cy="3429000"/>
          </a:xfrm>
          <a:prstGeom prst="roundRect">
            <a:avLst/>
          </a:prstGeom>
          <a:effectLst>
            <a:blur rad="152400"/>
            <a:outerShdw dist="28575" dir="0" blurRad="152400" algn="bl" rotWithShape="0">
              <a:srgbClr val="000000">
                <a:alpha val="16000"/>
              </a:srgbClr>
            </a:outerShdw>
          </a:effectLst>
          <a:noFill/>
          <a:ln w="19050">
            <a:solidFill>
              <a:srgbClr val="5E1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495424" y="2114550"/>
            <a:ext cx="1104899" cy="1104900"/>
          </a:xfrm>
          <a:prstGeom prst="ellipse">
            <a:avLst/>
          </a:prstGeom>
          <a:noFill/>
          <a:ln w="12700">
            <a:solidFill>
              <a:srgbClr val="5E1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3524" y="2152650"/>
            <a:ext cx="1028699" cy="1028700"/>
          </a:xfrm>
          <a:prstGeom prst="ellipse">
            <a:avLst/>
          </a:prstGeom>
          <a:noFill/>
          <a:ln w="12700">
            <a:solidFill>
              <a:srgbClr val="5E1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609724" y="2228850"/>
            <a:ext cx="876299" cy="876299"/>
          </a:xfrm>
          <a:prstGeom prst="ellipse">
            <a:avLst/>
          </a:prstGeom>
          <a:solidFill>
            <a:srgbClr val="5E1CCF">
              <a:alpha val="12000"/>
            </a:srgbClr>
          </a:solidFill>
          <a:ln w="12700">
            <a:solidFill>
              <a:srgbClr val="5E1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685924" y="2305049"/>
            <a:ext cx="723899" cy="723900"/>
          </a:xfrm>
          <a:prstGeom prst="ellipse">
            <a:avLst/>
          </a:prstGeom>
          <a:solidFill>
            <a:srgbClr val="5E1CC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714499" y="2516885"/>
            <a:ext cx="666749" cy="33337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099" b="1">
                <a:solidFill>
                  <a:srgbClr val="5E1CCF"/>
                </a:solidFill>
                <a:latin typeface="Inter"/>
                <a:ea typeface="PingFang SC"/>
              </a:rPr>
              <a:t>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76932" y="3331464"/>
            <a:ext cx="1741884" cy="26193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50" b="0">
                <a:solidFill>
                  <a:srgbClr val="111827"/>
                </a:solidFill>
                <a:latin typeface="Inter"/>
                <a:ea typeface="PingFang SC"/>
              </a:rPr>
              <a:t>陈昊（CEO）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114" y="3661028"/>
            <a:ext cx="2651521" cy="60721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74" b="0">
                <a:solidFill>
                  <a:srgbClr val="111827">
                    <a:alpha val="75000"/>
                  </a:srgbClr>
                </a:solidFill>
                <a:latin typeface="Inter"/>
                <a:ea typeface="PingFang SC"/>
              </a:rPr>
              <a:t>环境工程硕士，前省再生资</a:t>
            </a:r>
          </a:p>
          <a:p>
            <a:pPr algn="ctr"/>
            <a:r>
              <a:rPr sz="1274" b="0">
                <a:solidFill>
                  <a:srgbClr val="111827">
                    <a:alpha val="75000"/>
                  </a:srgbClr>
                </a:solidFill>
                <a:latin typeface="Inter"/>
                <a:ea typeface="PingFang SC"/>
              </a:rPr>
              <a:t>源集团区域运营总监，5 年</a:t>
            </a:r>
          </a:p>
          <a:p>
            <a:pPr algn="ctr"/>
            <a:r>
              <a:rPr sz="1274" b="0">
                <a:solidFill>
                  <a:srgbClr val="111827">
                    <a:alpha val="75000"/>
                  </a:srgbClr>
                </a:solidFill>
                <a:latin typeface="Inter"/>
                <a:ea typeface="PingFang SC"/>
              </a:rPr>
              <a:t>行业资源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52824" y="1714500"/>
            <a:ext cx="2390774" cy="3429000"/>
          </a:xfrm>
          <a:prstGeom prst="rect">
            <a:avLst/>
          </a:prstGeom>
          <a:gradFill>
            <a:gsLst>
              <a:gs pos="0">
                <a:srgbClr val="FAFAFA"/>
              </a:gs>
              <a:gs pos="100000">
                <a:srgbClr val="F0F0F0"/>
              </a:gs>
            </a:gsLst>
            <a:lin ang="27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552824" y="1714500"/>
            <a:ext cx="2390774" cy="47624"/>
          </a:xfrm>
          <a:prstGeom prst="rect">
            <a:avLst/>
          </a:prstGeom>
          <a:solidFill>
            <a:srgbClr val="6D2BDE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552824" y="1714500"/>
            <a:ext cx="2390774" cy="3429000"/>
          </a:xfrm>
          <a:prstGeom prst="roundRect">
            <a:avLst/>
          </a:prstGeom>
          <a:effectLst>
            <a:blur rad="152400"/>
            <a:outerShdw dist="28575" dir="0" blurRad="152400" algn="bl" rotWithShape="0">
              <a:srgbClr val="000000">
                <a:alpha val="16000"/>
              </a:srgbClr>
            </a:outerShdw>
          </a:effectLst>
          <a:noFill/>
          <a:ln w="19050">
            <a:solidFill>
              <a:srgbClr val="6D2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190999" y="2114550"/>
            <a:ext cx="1104899" cy="1104900"/>
          </a:xfrm>
          <a:prstGeom prst="ellipse">
            <a:avLst/>
          </a:prstGeom>
          <a:noFill/>
          <a:ln w="12700">
            <a:solidFill>
              <a:srgbClr val="6D2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229099" y="2152650"/>
            <a:ext cx="1028699" cy="1028700"/>
          </a:xfrm>
          <a:prstGeom prst="ellipse">
            <a:avLst/>
          </a:prstGeom>
          <a:noFill/>
          <a:ln w="12700">
            <a:solidFill>
              <a:srgbClr val="6D2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305299" y="2228850"/>
            <a:ext cx="876299" cy="876299"/>
          </a:xfrm>
          <a:prstGeom prst="ellipse">
            <a:avLst/>
          </a:prstGeom>
          <a:solidFill>
            <a:srgbClr val="6D2BDE">
              <a:alpha val="12000"/>
            </a:srgbClr>
          </a:solidFill>
          <a:ln w="12700">
            <a:solidFill>
              <a:srgbClr val="6D2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381499" y="2305049"/>
            <a:ext cx="723899" cy="723900"/>
          </a:xfrm>
          <a:prstGeom prst="ellipse">
            <a:avLst/>
          </a:prstGeom>
          <a:solidFill>
            <a:srgbClr val="6D2BDE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10074" y="2516885"/>
            <a:ext cx="666749" cy="33337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099" b="1">
                <a:solidFill>
                  <a:srgbClr val="6D2BDE"/>
                </a:solidFill>
                <a:latin typeface="Inter"/>
                <a:ea typeface="PingFang SC"/>
              </a:rPr>
              <a:t>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41538" y="3331464"/>
            <a:ext cx="2003821" cy="26193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50" b="0">
                <a:solidFill>
                  <a:srgbClr val="111827"/>
                </a:solidFill>
                <a:latin typeface="Inter"/>
                <a:ea typeface="PingFang SC"/>
              </a:rPr>
              <a:t>林雨薇（CTO）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09949" y="3669791"/>
            <a:ext cx="2666999" cy="571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111827">
                    <a:alpha val="75000"/>
                  </a:srgbClr>
                </a:solidFill>
                <a:latin typeface="Inter"/>
                <a:ea typeface="PingFang SC"/>
              </a:rPr>
              <a:t>计算机视觉方向博士在读，发</a:t>
            </a:r>
          </a:p>
          <a:p>
            <a:pPr algn="ctr"/>
            <a:r>
              <a:rPr sz="1200" b="0">
                <a:solidFill>
                  <a:srgbClr val="111827">
                    <a:alpha val="75000"/>
                  </a:srgbClr>
                </a:solidFill>
                <a:latin typeface="Inter"/>
                <a:ea typeface="PingFang SC"/>
              </a:rPr>
              <a:t>表 CCF-B 论文 3 篇，主导</a:t>
            </a:r>
          </a:p>
          <a:p>
            <a:pPr algn="ctr"/>
            <a:r>
              <a:rPr sz="1200" b="0">
                <a:solidFill>
                  <a:srgbClr val="111827">
                    <a:alpha val="75000"/>
                  </a:srgbClr>
                </a:solidFill>
                <a:latin typeface="Inter"/>
                <a:ea typeface="PingFang SC"/>
              </a:rPr>
              <a:t>GreenSort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48399" y="1714500"/>
            <a:ext cx="2390774" cy="3429000"/>
          </a:xfrm>
          <a:prstGeom prst="rect">
            <a:avLst/>
          </a:prstGeom>
          <a:gradFill>
            <a:gsLst>
              <a:gs pos="0">
                <a:srgbClr val="FAFAFA"/>
              </a:gs>
              <a:gs pos="100000">
                <a:srgbClr val="F0F0F0"/>
              </a:gs>
            </a:gsLst>
            <a:lin ang="27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48399" y="1714500"/>
            <a:ext cx="2390774" cy="47624"/>
          </a:xfrm>
          <a:prstGeom prst="rect">
            <a:avLst/>
          </a:prstGeom>
          <a:solidFill>
            <a:srgbClr val="7C3AED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248399" y="1714500"/>
            <a:ext cx="2390774" cy="3429000"/>
          </a:xfrm>
          <a:prstGeom prst="roundRect">
            <a:avLst/>
          </a:prstGeom>
          <a:effectLst>
            <a:blur rad="152400"/>
            <a:outerShdw dist="28575" dir="0" blurRad="152400" algn="bl" rotWithShape="0">
              <a:srgbClr val="000000">
                <a:alpha val="16000"/>
              </a:srgbClr>
            </a:outerShdw>
          </a:effectLst>
          <a:noFill/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886574" y="2114550"/>
            <a:ext cx="1104899" cy="1104900"/>
          </a:xfrm>
          <a:prstGeom prst="ellipse">
            <a:avLst/>
          </a:prstGeom>
          <a:noFill/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924674" y="2152650"/>
            <a:ext cx="1028699" cy="1028700"/>
          </a:xfrm>
          <a:prstGeom prst="ellipse">
            <a:avLst/>
          </a:prstGeom>
          <a:noFill/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000874" y="2228850"/>
            <a:ext cx="876299" cy="876299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077074" y="2305049"/>
            <a:ext cx="723899" cy="723900"/>
          </a:xfrm>
          <a:prstGeom prst="ellipse">
            <a:avLst/>
          </a:prstGeom>
          <a:solidFill>
            <a:srgbClr val="7C3AED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105649" y="2516885"/>
            <a:ext cx="666749" cy="33337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099" b="1">
                <a:solidFill>
                  <a:srgbClr val="7C3AED"/>
                </a:solidFill>
                <a:latin typeface="Inter"/>
                <a:ea typeface="PingFang SC"/>
              </a:rPr>
              <a:t>王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37113" y="3331464"/>
            <a:ext cx="2003821" cy="26193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50" b="0">
                <a:solidFill>
                  <a:srgbClr val="111827"/>
                </a:solidFill>
                <a:latin typeface="Inter"/>
                <a:ea typeface="PingFang SC"/>
              </a:rPr>
              <a:t>王志强（COO）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24587" y="3661028"/>
            <a:ext cx="2428875" cy="60721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74" b="0">
                <a:solidFill>
                  <a:srgbClr val="111827">
                    <a:alpha val="75000"/>
                  </a:srgbClr>
                </a:solidFill>
                <a:latin typeface="Inter"/>
                <a:ea typeface="PingFang SC"/>
              </a:rPr>
              <a:t>连锁零售运营出身，带过</a:t>
            </a:r>
          </a:p>
          <a:p>
            <a:pPr algn="ctr"/>
            <a:r>
              <a:rPr sz="1274" b="0">
                <a:solidFill>
                  <a:srgbClr val="111827">
                    <a:alpha val="75000"/>
                  </a:srgbClr>
                </a:solidFill>
                <a:latin typeface="Inter"/>
                <a:ea typeface="PingFang SC"/>
              </a:rPr>
              <a:t>40 人地推团队，负责社</a:t>
            </a:r>
          </a:p>
          <a:p>
            <a:pPr algn="ctr"/>
            <a:r>
              <a:rPr sz="1274" b="0">
                <a:solidFill>
                  <a:srgbClr val="111827">
                    <a:alpha val="75000"/>
                  </a:srgbClr>
                </a:solidFill>
                <a:latin typeface="Inter"/>
                <a:ea typeface="PingFang SC"/>
              </a:rPr>
              <a:t>区拓展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943974" y="1714500"/>
            <a:ext cx="2390774" cy="3429000"/>
          </a:xfrm>
          <a:prstGeom prst="rect">
            <a:avLst/>
          </a:prstGeom>
          <a:gradFill>
            <a:gsLst>
              <a:gs pos="0">
                <a:srgbClr val="FAFAFA"/>
              </a:gs>
              <a:gs pos="100000">
                <a:srgbClr val="F0F0F0"/>
              </a:gs>
            </a:gsLst>
            <a:lin ang="27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943974" y="1714500"/>
            <a:ext cx="2390774" cy="47624"/>
          </a:xfrm>
          <a:prstGeom prst="rect">
            <a:avLst/>
          </a:prstGeom>
          <a:solidFill>
            <a:srgbClr val="8B49FC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8943974" y="1714500"/>
            <a:ext cx="2390774" cy="3429000"/>
          </a:xfrm>
          <a:prstGeom prst="roundRect">
            <a:avLst/>
          </a:prstGeom>
          <a:effectLst>
            <a:blur rad="152400"/>
            <a:outerShdw dist="28575" dir="0" blurRad="152400" algn="bl" rotWithShape="0">
              <a:srgbClr val="000000">
                <a:alpha val="16000"/>
              </a:srgbClr>
            </a:outerShdw>
          </a:effectLst>
          <a:noFill/>
          <a:ln w="19050">
            <a:solidFill>
              <a:srgbClr val="8B4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582149" y="2114550"/>
            <a:ext cx="1104899" cy="1104900"/>
          </a:xfrm>
          <a:prstGeom prst="ellipse">
            <a:avLst/>
          </a:prstGeom>
          <a:noFill/>
          <a:ln w="12700">
            <a:solidFill>
              <a:srgbClr val="8B4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620249" y="2152650"/>
            <a:ext cx="1028699" cy="1028700"/>
          </a:xfrm>
          <a:prstGeom prst="ellipse">
            <a:avLst/>
          </a:prstGeom>
          <a:noFill/>
          <a:ln w="12700">
            <a:solidFill>
              <a:srgbClr val="8B4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9696449" y="2228850"/>
            <a:ext cx="876299" cy="876299"/>
          </a:xfrm>
          <a:prstGeom prst="ellipse">
            <a:avLst/>
          </a:prstGeom>
          <a:solidFill>
            <a:srgbClr val="8B49FC">
              <a:alpha val="12000"/>
            </a:srgbClr>
          </a:solidFill>
          <a:ln w="12700">
            <a:solidFill>
              <a:srgbClr val="8B4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772649" y="2305049"/>
            <a:ext cx="723899" cy="723900"/>
          </a:xfrm>
          <a:prstGeom prst="ellipse">
            <a:avLst/>
          </a:prstGeom>
          <a:solidFill>
            <a:srgbClr val="8B49FC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801224" y="2516885"/>
            <a:ext cx="666749" cy="33337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099" b="1">
                <a:solidFill>
                  <a:srgbClr val="8B49FC"/>
                </a:solidFill>
                <a:latin typeface="Inter"/>
                <a:ea typeface="PingFang SC"/>
              </a:rPr>
              <a:t>指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479755" y="3331464"/>
            <a:ext cx="1309687" cy="26193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50" b="0">
                <a:solidFill>
                  <a:srgbClr val="111827"/>
                </a:solidFill>
                <a:latin typeface="Inter"/>
                <a:ea typeface="PingFang SC"/>
              </a:rPr>
              <a:t>指导教师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818959" y="3661028"/>
            <a:ext cx="2631281" cy="60721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74" b="0">
                <a:solidFill>
                  <a:srgbClr val="111827">
                    <a:alpha val="75000"/>
                  </a:srgbClr>
                </a:solidFill>
                <a:latin typeface="Inter"/>
                <a:ea typeface="PingFang SC"/>
              </a:rPr>
              <a:t>张明远教授，固废资源化利</a:t>
            </a:r>
          </a:p>
          <a:p>
            <a:pPr algn="ctr"/>
            <a:r>
              <a:rPr sz="1274" b="0">
                <a:solidFill>
                  <a:srgbClr val="111827">
                    <a:alpha val="75000"/>
                  </a:srgbClr>
                </a:solidFill>
                <a:latin typeface="Inter"/>
                <a:ea typeface="PingFang SC"/>
              </a:rPr>
              <a:t>用方向，国家重点研发计划</a:t>
            </a:r>
          </a:p>
          <a:p>
            <a:pPr algn="ctr"/>
            <a:r>
              <a:rPr sz="1274" b="0">
                <a:solidFill>
                  <a:srgbClr val="111827">
                    <a:alpha val="75000"/>
                  </a:srgbClr>
                </a:solidFill>
                <a:latin typeface="Inter"/>
                <a:ea typeface="PingFang SC"/>
              </a:rPr>
              <a:t>课题负责人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00999" y="-2381250"/>
            <a:ext cx="7619999" cy="5334000"/>
          </a:xfrm>
          <a:prstGeom prst="ellipse">
            <a:avLst/>
          </a:prstGeom>
          <a:gradFill>
            <a:gsLst>
              <a:gs pos="0">
                <a:srgbClr val="8644F7">
                  <a:alpha val="15000"/>
                </a:srgbClr>
              </a:gs>
              <a:gs pos="100000">
                <a:srgbClr val="8644F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95499" y="4667249"/>
            <a:ext cx="5333999" cy="3809999"/>
          </a:xfrm>
          <a:prstGeom prst="ellipse">
            <a:avLst/>
          </a:prstGeom>
          <a:gradFill>
            <a:gsLst>
              <a:gs pos="0">
                <a:srgbClr val="AE6CFF">
                  <a:alpha val="10000"/>
                </a:srgbClr>
              </a:gs>
              <a:gs pos="100000">
                <a:srgbClr val="AE6C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 flipH="1">
            <a:off x="10286999" y="0"/>
            <a:ext cx="1905000" cy="1714500"/>
          </a:xfrm>
          <a:prstGeom prst="line">
            <a:avLst/>
          </a:prstGeom>
          <a:ln w="25400">
            <a:solidFill>
              <a:srgbClr val="8644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10858499" y="0"/>
            <a:ext cx="1333500" cy="1143000"/>
          </a:xfrm>
          <a:prstGeom prst="line">
            <a:avLst/>
          </a:prstGeom>
          <a:ln w="12700">
            <a:solidFill>
              <a:srgbClr val="8644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0" y="0"/>
            <a:ext cx="114299" cy="6858000"/>
          </a:xfrm>
          <a:prstGeom prst="rect">
            <a:avLst/>
          </a:prstGeom>
          <a:gradFill>
            <a:gsLst>
              <a:gs pos="0">
                <a:srgbClr val="8644F7">
                  <a:alpha val="40000"/>
                </a:srgbClr>
              </a:gs>
              <a:gs pos="50000">
                <a:srgbClr val="8644F7">
                  <a:alpha val="90000"/>
                </a:srgbClr>
              </a:gs>
              <a:gs pos="100000">
                <a:srgbClr val="8644F7">
                  <a:alpha val="4000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93548" y="6216777"/>
            <a:ext cx="1212651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575" b="0">
                <a:solidFill>
                  <a:srgbClr val="6B7280">
                    <a:alpha val="70000"/>
                  </a:srgbClr>
                </a:solidFill>
                <a:latin typeface="Inter"/>
                <a:ea typeface="PingFang SC"/>
              </a:rPr>
              <a:t>15 / 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899" y="136397"/>
            <a:ext cx="11391899" cy="64293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4050" b="1">
                <a:solidFill>
                  <a:srgbClr val="111827"/>
                </a:solidFill>
                <a:latin typeface="Inter"/>
                <a:ea typeface="PingFang SC"/>
              </a:rPr>
              <a:t>里程碑：已验证的从 0 到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899" y="723900"/>
            <a:ext cx="685799" cy="33337"/>
          </a:xfrm>
          <a:prstGeom prst="roundRect">
            <a:avLst/>
          </a:prstGeom>
          <a:solidFill>
            <a:srgbClr val="8644F7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1409699" y="3143250"/>
            <a:ext cx="9372600" cy="0"/>
          </a:xfrm>
          <a:prstGeom prst="line">
            <a:avLst/>
          </a:prstGeom>
          <a:ln w="25400">
            <a:solidFill>
              <a:srgbClr val="8644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1314449" y="3047999"/>
            <a:ext cx="190499" cy="190499"/>
          </a:xfrm>
          <a:prstGeom prst="ellipse">
            <a:avLst/>
          </a:prstGeom>
          <a:solidFill>
            <a:srgbClr val="7634E7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2899" y="1600200"/>
            <a:ext cx="2133599" cy="1123949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763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6743" y="1804415"/>
            <a:ext cx="1585912" cy="214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50" b="1">
                <a:solidFill>
                  <a:srgbClr val="7634E7"/>
                </a:solidFill>
                <a:latin typeface="Inter"/>
                <a:ea typeface="PingFang SC"/>
              </a:rPr>
              <a:t>2025 年 3 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0499" y="2145792"/>
            <a:ext cx="2438400" cy="380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11827"/>
                </a:solidFill>
                <a:latin typeface="Inter"/>
                <a:ea typeface="PingFang SC"/>
              </a:rPr>
              <a:t>GreenSort 模型 v1.0 完</a:t>
            </a:r>
          </a:p>
          <a:p>
            <a:pPr algn="ctr"/>
            <a:r>
              <a:rPr sz="1200" b="1">
                <a:solidFill>
                  <a:srgbClr val="111827"/>
                </a:solidFill>
                <a:latin typeface="Inter"/>
                <a:ea typeface="PingFang SC"/>
              </a:rPr>
              <a:t>成，识别准确率 95.1%</a:t>
            </a:r>
          </a:p>
        </p:txBody>
      </p:sp>
      <p:sp>
        <p:nvSpPr>
          <p:cNvPr id="16" name="Oval 15"/>
          <p:cNvSpPr/>
          <p:nvPr/>
        </p:nvSpPr>
        <p:spPr>
          <a:xfrm>
            <a:off x="4438649" y="3047999"/>
            <a:ext cx="190499" cy="190499"/>
          </a:xfrm>
          <a:prstGeom prst="ellipse">
            <a:avLst/>
          </a:prstGeom>
          <a:solidFill>
            <a:srgbClr val="8644F7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467099" y="3562349"/>
            <a:ext cx="2133599" cy="1123949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864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40943" y="3766565"/>
            <a:ext cx="1585912" cy="214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50" b="1">
                <a:solidFill>
                  <a:srgbClr val="8644F7"/>
                </a:solidFill>
                <a:latin typeface="Inter"/>
                <a:ea typeface="PingFang SC"/>
              </a:rPr>
              <a:t>2025 年 9 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71849" y="4107941"/>
            <a:ext cx="2324100" cy="380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11827"/>
                </a:solidFill>
                <a:latin typeface="Inter"/>
                <a:ea typeface="PingFang SC"/>
              </a:rPr>
              <a:t>首批 20 台回收柜落地杭</a:t>
            </a:r>
          </a:p>
          <a:p>
            <a:pPr algn="ctr"/>
            <a:r>
              <a:rPr sz="1200" b="1">
                <a:solidFill>
                  <a:srgbClr val="111827"/>
                </a:solidFill>
                <a:latin typeface="Inter"/>
                <a:ea typeface="PingFang SC"/>
              </a:rPr>
              <a:t>州 6 个小区</a:t>
            </a:r>
          </a:p>
        </p:txBody>
      </p:sp>
      <p:sp>
        <p:nvSpPr>
          <p:cNvPr id="20" name="Oval 19"/>
          <p:cNvSpPr/>
          <p:nvPr/>
        </p:nvSpPr>
        <p:spPr>
          <a:xfrm>
            <a:off x="7562849" y="3047999"/>
            <a:ext cx="190499" cy="190499"/>
          </a:xfrm>
          <a:prstGeom prst="ellipse">
            <a:avLst/>
          </a:prstGeom>
          <a:solidFill>
            <a:srgbClr val="9654FF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91299" y="1600200"/>
            <a:ext cx="2133599" cy="1123949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965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65143" y="1804415"/>
            <a:ext cx="1585912" cy="214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50" b="1">
                <a:solidFill>
                  <a:srgbClr val="9A58FF"/>
                </a:solidFill>
                <a:latin typeface="Inter"/>
                <a:ea typeface="PingFang SC"/>
              </a:rPr>
              <a:t>2026 年 3 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4612" y="2145792"/>
            <a:ext cx="2466975" cy="380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11827"/>
                </a:solidFill>
                <a:latin typeface="Inter"/>
                <a:ea typeface="PingFang SC"/>
              </a:rPr>
              <a:t>投放 120 台，覆盖 45 个</a:t>
            </a:r>
          </a:p>
          <a:p>
            <a:pPr algn="ctr"/>
            <a:r>
              <a:rPr sz="1200" b="1">
                <a:solidFill>
                  <a:srgbClr val="111827"/>
                </a:solidFill>
                <a:latin typeface="Inter"/>
                <a:ea typeface="PingFang SC"/>
              </a:rPr>
              <a:t>小区，注册用户 8.6 万</a:t>
            </a:r>
          </a:p>
        </p:txBody>
      </p:sp>
      <p:sp>
        <p:nvSpPr>
          <p:cNvPr id="24" name="Oval 23"/>
          <p:cNvSpPr/>
          <p:nvPr/>
        </p:nvSpPr>
        <p:spPr>
          <a:xfrm>
            <a:off x="10687049" y="3047999"/>
            <a:ext cx="190499" cy="190499"/>
          </a:xfrm>
          <a:prstGeom prst="ellipse">
            <a:avLst/>
          </a:prstGeom>
          <a:solidFill>
            <a:srgbClr val="A664FF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715499" y="3562349"/>
            <a:ext cx="2133599" cy="1123949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A6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89343" y="3766565"/>
            <a:ext cx="1585912" cy="214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50" b="1">
                <a:solidFill>
                  <a:srgbClr val="9A58FF"/>
                </a:solidFill>
                <a:latin typeface="Inter"/>
                <a:ea typeface="PingFang SC"/>
              </a:rPr>
              <a:t>2026 年 6 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24999" y="4107941"/>
            <a:ext cx="2514599" cy="380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11827"/>
                </a:solidFill>
                <a:latin typeface="Inter"/>
                <a:ea typeface="PingFang SC"/>
              </a:rPr>
              <a:t>单月营收突破 45 万元，获</a:t>
            </a:r>
          </a:p>
          <a:p>
            <a:pPr algn="ctr"/>
            <a:r>
              <a:rPr sz="1200" b="1">
                <a:solidFill>
                  <a:srgbClr val="111827"/>
                </a:solidFill>
                <a:latin typeface="Inter"/>
                <a:ea typeface="PingFang SC"/>
              </a:rPr>
              <a:t>市级创业大赛金奖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00999" y="-2381250"/>
            <a:ext cx="7619999" cy="5334000"/>
          </a:xfrm>
          <a:prstGeom prst="ellipse">
            <a:avLst/>
          </a:prstGeom>
          <a:gradFill>
            <a:gsLst>
              <a:gs pos="0">
                <a:srgbClr val="7C3AED">
                  <a:alpha val="15000"/>
                </a:srgbClr>
              </a:gs>
              <a:gs pos="100000">
                <a:srgbClr val="7C3AE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95499" y="4667249"/>
            <a:ext cx="5333999" cy="3809999"/>
          </a:xfrm>
          <a:prstGeom prst="ellipse">
            <a:avLst/>
          </a:prstGeom>
          <a:gradFill>
            <a:gsLst>
              <a:gs pos="0">
                <a:srgbClr val="A462FF">
                  <a:alpha val="10000"/>
                </a:srgbClr>
              </a:gs>
              <a:gs pos="100000">
                <a:srgbClr val="A462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 flipH="1">
            <a:off x="10286999" y="0"/>
            <a:ext cx="1905000" cy="1714500"/>
          </a:xfrm>
          <a:prstGeom prst="line">
            <a:avLst/>
          </a:prstGeom>
          <a:ln w="254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10858499" y="0"/>
            <a:ext cx="1333500" cy="1143000"/>
          </a:xfrm>
          <a:prstGeom prst="line">
            <a:avLst/>
          </a:prstGeom>
          <a:ln w="127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11849099" y="0"/>
            <a:ext cx="342899" cy="6858000"/>
          </a:xfrm>
          <a:prstGeom prst="rect">
            <a:avLst/>
          </a:prstGeom>
          <a:solidFill>
            <a:srgbClr val="7C3AED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14299" cy="6858000"/>
          </a:xfrm>
          <a:prstGeom prst="rect">
            <a:avLst/>
          </a:prstGeom>
          <a:gradFill>
            <a:gsLst>
              <a:gs pos="0">
                <a:srgbClr val="7C3AED">
                  <a:alpha val="40000"/>
                </a:srgbClr>
              </a:gs>
              <a:gs pos="50000">
                <a:srgbClr val="7C3AED">
                  <a:alpha val="90000"/>
                </a:srgbClr>
              </a:gs>
              <a:gs pos="100000">
                <a:srgbClr val="7C3AED">
                  <a:alpha val="4000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93548" y="6216777"/>
            <a:ext cx="1212651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575" b="0">
                <a:solidFill>
                  <a:srgbClr val="6B7280">
                    <a:alpha val="70000"/>
                  </a:srgbClr>
                </a:solidFill>
                <a:latin typeface="Inter"/>
                <a:ea typeface="PingFang SC"/>
              </a:rPr>
              <a:t>16 / 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899" y="48768"/>
            <a:ext cx="11391899" cy="76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4800" b="1">
                <a:solidFill>
                  <a:srgbClr val="111827"/>
                </a:solidFill>
                <a:latin typeface="Inter"/>
                <a:ea typeface="PingFang SC"/>
              </a:rPr>
              <a:t>财务预测与融资计划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899" y="723900"/>
            <a:ext cx="685799" cy="33337"/>
          </a:xfrm>
          <a:prstGeom prst="roundRect">
            <a:avLst/>
          </a:prstGeom>
          <a:solidFill>
            <a:srgbClr val="7C3AED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2899" y="1371600"/>
            <a:ext cx="2705099" cy="3219449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AFAFA"/>
              </a:gs>
              <a:gs pos="100000">
                <a:srgbClr val="FAFAFA">
                  <a:alpha val="85000"/>
                </a:srgbClr>
              </a:gs>
            </a:gsLst>
            <a:lin ang="0" scaled="0"/>
          </a:gra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2899" y="1371600"/>
            <a:ext cx="2705099" cy="38100"/>
          </a:xfrm>
          <a:prstGeom prst="roundRect">
            <a:avLst/>
          </a:prstGeom>
          <a:solidFill>
            <a:srgbClr val="7C3AED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38274" y="1552574"/>
            <a:ext cx="514349" cy="514350"/>
          </a:xfrm>
          <a:prstGeom prst="ellipse">
            <a:avLst/>
          </a:prstGeom>
          <a:noFill/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76374" y="1590675"/>
            <a:ext cx="438149" cy="438149"/>
          </a:xfrm>
          <a:prstGeom prst="ellipse">
            <a:avLst/>
          </a:prstGeom>
          <a:solidFill>
            <a:srgbClr val="7C3AED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09699" y="1672589"/>
            <a:ext cx="571500" cy="2381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99" b="1">
                <a:solidFill>
                  <a:srgbClr val="7C3AED">
                    <a:alpha val="90000"/>
                  </a:srgbClr>
                </a:solidFill>
                <a:latin typeface="Inter"/>
                <a:ea typeface="PingFang SC"/>
              </a:rPr>
              <a:t>01</a:t>
            </a:r>
          </a:p>
        </p:txBody>
      </p:sp>
      <p:sp>
        <p:nvSpPr>
          <p:cNvPr id="17" name="Rectangle 16"/>
          <p:cNvSpPr/>
          <p:nvPr/>
        </p:nvSpPr>
        <p:spPr>
          <a:custGeom>
            <a:pathLst>
              <a:path w="2451099" h="285750">
                <a:moveTo>
                  <a:pt x="0" y="285750"/>
                </a:moveTo>
                <a:cubicBezTo>
                  <a:pt x="469899" y="158750"/>
                  <a:pt x="1006474" y="126999"/>
                  <a:pt x="1609724" y="190499"/>
                </a:cubicBezTo>
                <a:cubicBezTo>
                  <a:pt x="2212974" y="254000"/>
                  <a:pt x="2451099" y="190499"/>
                  <a:pt x="2324099" y="0"/>
                </a:cubicBezTo>
              </a:path>
            </a:pathLst>
          </a:custGeom>
          <a:xfrm>
            <a:off x="533399" y="4038599"/>
            <a:ext cx="2451099" cy="285750"/>
          </a:xfrm>
          <a:noFill/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828924" y="4010024"/>
            <a:ext cx="57149" cy="57150"/>
          </a:xfrm>
          <a:prstGeom prst="ellipse">
            <a:avLst/>
          </a:prstGeom>
          <a:solidFill>
            <a:srgbClr val="7C3AED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664" y="2614422"/>
            <a:ext cx="3229570" cy="73818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324" b="1">
                <a:latin typeface="Inter"/>
                <a:ea typeface="PingFang SC"/>
              </a:rPr>
              <a:t>120 台在运营，</a:t>
            </a:r>
          </a:p>
          <a:p>
            <a:pPr algn="ctr"/>
            <a:r>
              <a:rPr sz="2324" b="1">
                <a:latin typeface="Inter"/>
                <a:ea typeface="PingFang SC"/>
              </a:rPr>
              <a:t>营收约 510 万元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6457" y="4166615"/>
            <a:ext cx="1017984" cy="214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50" b="0">
                <a:solidFill>
                  <a:srgbClr val="6B7280">
                    <a:alpha val="90000"/>
                  </a:srgbClr>
                </a:solidFill>
                <a:latin typeface="Inter"/>
                <a:ea typeface="PingFang SC"/>
              </a:rPr>
              <a:t>2026 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76599" y="1371600"/>
            <a:ext cx="2705099" cy="3219449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AFAFA"/>
              </a:gs>
              <a:gs pos="100000">
                <a:srgbClr val="FAFAFA">
                  <a:alpha val="85000"/>
                </a:srgbClr>
              </a:gs>
            </a:gsLst>
            <a:lin ang="0" scaled="0"/>
          </a:gradFill>
          <a:ln w="19050">
            <a:solidFill>
              <a:srgbClr val="5917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276599" y="1371600"/>
            <a:ext cx="2705099" cy="38100"/>
          </a:xfrm>
          <a:prstGeom prst="roundRect">
            <a:avLst/>
          </a:prstGeom>
          <a:solidFill>
            <a:srgbClr val="5917CA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371974" y="1552574"/>
            <a:ext cx="514349" cy="514350"/>
          </a:xfrm>
          <a:prstGeom prst="ellipse">
            <a:avLst/>
          </a:prstGeom>
          <a:noFill/>
          <a:ln w="12700">
            <a:solidFill>
              <a:srgbClr val="5917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410074" y="1590675"/>
            <a:ext cx="438149" cy="438149"/>
          </a:xfrm>
          <a:prstGeom prst="ellipse">
            <a:avLst/>
          </a:prstGeom>
          <a:solidFill>
            <a:srgbClr val="5917CA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43399" y="1672589"/>
            <a:ext cx="571500" cy="2381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99" b="1">
                <a:solidFill>
                  <a:srgbClr val="5917CA">
                    <a:alpha val="90000"/>
                  </a:srgbClr>
                </a:solidFill>
                <a:latin typeface="Inter"/>
                <a:ea typeface="PingFang SC"/>
              </a:rPr>
              <a:t>02</a:t>
            </a:r>
          </a:p>
        </p:txBody>
      </p:sp>
      <p:sp>
        <p:nvSpPr>
          <p:cNvPr id="26" name="Rectangle 25"/>
          <p:cNvSpPr/>
          <p:nvPr/>
        </p:nvSpPr>
        <p:spPr>
          <a:custGeom>
            <a:pathLst>
              <a:path w="2451099" h="285750">
                <a:moveTo>
                  <a:pt x="0" y="285750"/>
                </a:moveTo>
                <a:cubicBezTo>
                  <a:pt x="469899" y="158750"/>
                  <a:pt x="1006474" y="126999"/>
                  <a:pt x="1609724" y="190499"/>
                </a:cubicBezTo>
                <a:cubicBezTo>
                  <a:pt x="2212974" y="254000"/>
                  <a:pt x="2451099" y="190499"/>
                  <a:pt x="2324099" y="0"/>
                </a:cubicBezTo>
              </a:path>
            </a:pathLst>
          </a:custGeom>
          <a:xfrm>
            <a:off x="3467099" y="4038599"/>
            <a:ext cx="2451099" cy="285750"/>
          </a:xfrm>
          <a:noFill/>
          <a:ln w="25400">
            <a:solidFill>
              <a:srgbClr val="5917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762624" y="4010024"/>
            <a:ext cx="57149" cy="57150"/>
          </a:xfrm>
          <a:prstGeom prst="ellipse">
            <a:avLst/>
          </a:prstGeom>
          <a:solidFill>
            <a:srgbClr val="5917CA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46821" y="2470784"/>
            <a:ext cx="2964656" cy="10715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250" b="1">
                <a:latin typeface="Inter"/>
                <a:ea typeface="PingFang SC"/>
              </a:rPr>
              <a:t>2,100 万元，实</a:t>
            </a:r>
          </a:p>
          <a:p>
            <a:pPr algn="ctr"/>
            <a:r>
              <a:rPr sz="2250" b="1">
                <a:latin typeface="Inter"/>
                <a:ea typeface="PingFang SC"/>
              </a:rPr>
              <a:t>现单城盈利</a:t>
            </a:r>
          </a:p>
          <a:p>
            <a:pPr algn="ctr"/>
            <a:r>
              <a:rPr sz="2250" b="1">
                <a:latin typeface="Inter"/>
                <a:ea typeface="PingFang SC"/>
              </a:rPr>
              <a:t>2027 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77220" y="4166615"/>
            <a:ext cx="2303859" cy="214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50" b="0">
                <a:solidFill>
                  <a:srgbClr val="6B7280">
                    <a:alpha val="90000"/>
                  </a:srgbClr>
                </a:solidFill>
                <a:latin typeface="Inter"/>
                <a:ea typeface="PingFang SC"/>
              </a:rPr>
              <a:t>扩至 500 台，营收约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0299" y="1371600"/>
            <a:ext cx="2705099" cy="3219449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AFAFA"/>
              </a:gs>
              <a:gs pos="100000">
                <a:srgbClr val="FAFAFA">
                  <a:alpha val="85000"/>
                </a:srgbClr>
              </a:gs>
            </a:gsLst>
            <a:lin ang="0" scaled="0"/>
          </a:gradFill>
          <a:ln w="19050">
            <a:solidFill>
              <a:srgbClr val="A9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210299" y="1371600"/>
            <a:ext cx="2705099" cy="38100"/>
          </a:xfrm>
          <a:prstGeom prst="roundRect">
            <a:avLst/>
          </a:prstGeom>
          <a:solidFill>
            <a:srgbClr val="A967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305674" y="1552574"/>
            <a:ext cx="514349" cy="514350"/>
          </a:xfrm>
          <a:prstGeom prst="ellipse">
            <a:avLst/>
          </a:prstGeom>
          <a:noFill/>
          <a:ln w="12700">
            <a:solidFill>
              <a:srgbClr val="A9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343774" y="1590675"/>
            <a:ext cx="438149" cy="438149"/>
          </a:xfrm>
          <a:prstGeom prst="ellipse">
            <a:avLst/>
          </a:prstGeom>
          <a:solidFill>
            <a:srgbClr val="A967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77099" y="1672589"/>
            <a:ext cx="571500" cy="2381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99" b="1">
                <a:solidFill>
                  <a:srgbClr val="9A58FF">
                    <a:alpha val="90000"/>
                  </a:srgbClr>
                </a:solidFill>
                <a:latin typeface="Inter"/>
                <a:ea typeface="PingFang SC"/>
              </a:rPr>
              <a:t>03</a:t>
            </a:r>
          </a:p>
        </p:txBody>
      </p:sp>
      <p:sp>
        <p:nvSpPr>
          <p:cNvPr id="35" name="Rectangle 34"/>
          <p:cNvSpPr/>
          <p:nvPr/>
        </p:nvSpPr>
        <p:spPr>
          <a:custGeom>
            <a:pathLst>
              <a:path w="2451099" h="285750">
                <a:moveTo>
                  <a:pt x="0" y="285750"/>
                </a:moveTo>
                <a:cubicBezTo>
                  <a:pt x="469899" y="158750"/>
                  <a:pt x="1006474" y="126999"/>
                  <a:pt x="1609724" y="190499"/>
                </a:cubicBezTo>
                <a:cubicBezTo>
                  <a:pt x="2212974" y="254000"/>
                  <a:pt x="2451099" y="190499"/>
                  <a:pt x="2324099" y="0"/>
                </a:cubicBezTo>
              </a:path>
            </a:pathLst>
          </a:custGeom>
          <a:xfrm>
            <a:off x="6400799" y="4038599"/>
            <a:ext cx="2451099" cy="285750"/>
          </a:xfrm>
          <a:noFill/>
          <a:ln w="25400">
            <a:solidFill>
              <a:srgbClr val="A9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696324" y="4010024"/>
            <a:ext cx="57149" cy="57150"/>
          </a:xfrm>
          <a:prstGeom prst="ellipse">
            <a:avLst/>
          </a:prstGeom>
          <a:solidFill>
            <a:srgbClr val="A967F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80521" y="2470784"/>
            <a:ext cx="2964656" cy="10715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250" b="1">
                <a:latin typeface="Inter"/>
                <a:ea typeface="PingFang SC"/>
              </a:rPr>
              <a:t>6,400 万元，整</a:t>
            </a:r>
          </a:p>
          <a:p>
            <a:pPr algn="ctr"/>
            <a:r>
              <a:rPr sz="2250" b="1">
                <a:latin typeface="Inter"/>
                <a:ea typeface="PingFang SC"/>
              </a:rPr>
              <a:t>体盈亏平衡</a:t>
            </a:r>
          </a:p>
          <a:p>
            <a:pPr algn="ctr"/>
            <a:r>
              <a:rPr sz="2250" b="1">
                <a:latin typeface="Inter"/>
                <a:ea typeface="PingFang SC"/>
              </a:rPr>
              <a:t>2028 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93048" y="4166615"/>
            <a:ext cx="2539603" cy="214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50" b="0">
                <a:solidFill>
                  <a:srgbClr val="6B7280">
                    <a:alpha val="90000"/>
                  </a:srgbClr>
                </a:solidFill>
                <a:latin typeface="Inter"/>
                <a:ea typeface="PingFang SC"/>
              </a:rPr>
              <a:t>扩至 1,500 台，营收约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3999" y="1371600"/>
            <a:ext cx="2705099" cy="3219449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AFAFA"/>
              </a:gs>
              <a:gs pos="100000">
                <a:srgbClr val="FAFAFA">
                  <a:alpha val="85000"/>
                </a:srgbClr>
              </a:gs>
            </a:gsLst>
            <a:lin ang="0" scaled="0"/>
          </a:gradFill>
          <a:ln w="19050">
            <a:solidFill>
              <a:srgbClr val="6D2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143999" y="1371600"/>
            <a:ext cx="2705099" cy="38100"/>
          </a:xfrm>
          <a:prstGeom prst="roundRect">
            <a:avLst/>
          </a:prstGeom>
          <a:solidFill>
            <a:srgbClr val="6D2BDE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239374" y="1552574"/>
            <a:ext cx="514349" cy="514350"/>
          </a:xfrm>
          <a:prstGeom prst="ellipse">
            <a:avLst/>
          </a:prstGeom>
          <a:noFill/>
          <a:ln w="12700">
            <a:solidFill>
              <a:srgbClr val="6D2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277474" y="1590675"/>
            <a:ext cx="438149" cy="438149"/>
          </a:xfrm>
          <a:prstGeom prst="ellipse">
            <a:avLst/>
          </a:prstGeom>
          <a:solidFill>
            <a:srgbClr val="6D2BDE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210799" y="1672589"/>
            <a:ext cx="571500" cy="2381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99" b="1">
                <a:solidFill>
                  <a:srgbClr val="6D2BDE">
                    <a:alpha val="90000"/>
                  </a:srgbClr>
                </a:solidFill>
                <a:latin typeface="Inter"/>
                <a:ea typeface="PingFang SC"/>
              </a:rPr>
              <a:t>04</a:t>
            </a:r>
          </a:p>
        </p:txBody>
      </p:sp>
      <p:sp>
        <p:nvSpPr>
          <p:cNvPr id="44" name="Rectangle 43"/>
          <p:cNvSpPr/>
          <p:nvPr/>
        </p:nvSpPr>
        <p:spPr>
          <a:custGeom>
            <a:pathLst>
              <a:path w="2451099" h="285750">
                <a:moveTo>
                  <a:pt x="0" y="285750"/>
                </a:moveTo>
                <a:cubicBezTo>
                  <a:pt x="469899" y="158750"/>
                  <a:pt x="1006474" y="126999"/>
                  <a:pt x="1609724" y="190499"/>
                </a:cubicBezTo>
                <a:cubicBezTo>
                  <a:pt x="2212974" y="254000"/>
                  <a:pt x="2451099" y="190499"/>
                  <a:pt x="2324099" y="0"/>
                </a:cubicBezTo>
              </a:path>
            </a:pathLst>
          </a:custGeom>
          <a:xfrm>
            <a:off x="9334499" y="4038599"/>
            <a:ext cx="2451099" cy="285750"/>
          </a:xfrm>
          <a:noFill/>
          <a:ln w="25400">
            <a:solidFill>
              <a:srgbClr val="6D2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630024" y="4010024"/>
            <a:ext cx="57149" cy="57150"/>
          </a:xfrm>
          <a:prstGeom prst="ellipse">
            <a:avLst/>
          </a:prstGeom>
          <a:solidFill>
            <a:srgbClr val="6D2BDE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808838" y="2460879"/>
            <a:ext cx="3375421" cy="1000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3150" b="1">
                <a:latin typeface="Inter"/>
                <a:ea typeface="PingFang SC"/>
              </a:rPr>
              <a:t>15% 本轮融</a:t>
            </a:r>
          </a:p>
          <a:p>
            <a:pPr algn="ctr"/>
            <a:r>
              <a:rPr sz="3150" b="1">
                <a:latin typeface="Inter"/>
                <a:ea typeface="PingFang SC"/>
              </a:rPr>
              <a:t>资 800 万元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953499" y="3957065"/>
            <a:ext cx="3086100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50" b="0">
                <a:solidFill>
                  <a:srgbClr val="6B7280">
                    <a:alpha val="90000"/>
                  </a:srgbClr>
                </a:solidFill>
                <a:latin typeface="Inter"/>
                <a:ea typeface="PingFang SC"/>
              </a:rPr>
              <a:t>柜体投放 60%、算法研发 25%</a:t>
            </a:r>
          </a:p>
          <a:p>
            <a:pPr algn="ctr"/>
            <a:r>
              <a:rPr sz="1350" b="0">
                <a:solidFill>
                  <a:srgbClr val="6B7280">
                    <a:alpha val="90000"/>
                  </a:srgbClr>
                </a:solidFill>
                <a:latin typeface="Inter"/>
                <a:ea typeface="PingFang SC"/>
              </a:rPr>
              <a:t>、团队扩充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00999" y="-2381250"/>
            <a:ext cx="7619999" cy="5334000"/>
          </a:xfrm>
          <a:prstGeom prst="ellipse">
            <a:avLst/>
          </a:prstGeom>
          <a:gradFill>
            <a:gsLst>
              <a:gs pos="0">
                <a:srgbClr val="8644F7">
                  <a:alpha val="15000"/>
                </a:srgbClr>
              </a:gs>
              <a:gs pos="100000">
                <a:srgbClr val="8644F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95499" y="4667249"/>
            <a:ext cx="5333999" cy="3809999"/>
          </a:xfrm>
          <a:prstGeom prst="ellipse">
            <a:avLst/>
          </a:prstGeom>
          <a:gradFill>
            <a:gsLst>
              <a:gs pos="0">
                <a:srgbClr val="AE6CFF">
                  <a:alpha val="10000"/>
                </a:srgbClr>
              </a:gs>
              <a:gs pos="100000">
                <a:srgbClr val="AE6C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 flipH="1">
            <a:off x="10286999" y="0"/>
            <a:ext cx="1905000" cy="1714500"/>
          </a:xfrm>
          <a:prstGeom prst="line">
            <a:avLst/>
          </a:prstGeom>
          <a:ln w="25400">
            <a:solidFill>
              <a:srgbClr val="8644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10858499" y="0"/>
            <a:ext cx="1333500" cy="1143000"/>
          </a:xfrm>
          <a:prstGeom prst="line">
            <a:avLst/>
          </a:prstGeom>
          <a:ln w="12700">
            <a:solidFill>
              <a:srgbClr val="8644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-1447799" y="-1047749"/>
            <a:ext cx="3047999" cy="3047999"/>
          </a:xfrm>
          <a:prstGeom prst="ellipse">
            <a:avLst/>
          </a:prstGeom>
          <a:noFill/>
          <a:ln w="15240">
            <a:solidFill>
              <a:srgbClr val="864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-647699" y="-1047749"/>
            <a:ext cx="3047999" cy="3047999"/>
          </a:xfrm>
          <a:prstGeom prst="ellipse">
            <a:avLst/>
          </a:prstGeom>
          <a:noFill/>
          <a:ln w="15240">
            <a:solidFill>
              <a:srgbClr val="864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custGeom>
            <a:pathLst>
              <a:path w="9591674" h="95">
                <a:moveTo>
                  <a:pt x="0" y="0"/>
                </a:moveTo>
                <a:lnTo>
                  <a:pt x="9591674" y="0"/>
                </a:lnTo>
              </a:path>
            </a:pathLst>
          </a:custGeom>
          <a:xfrm>
            <a:off x="1304924" y="4819650"/>
            <a:ext cx="9591674" cy="95"/>
          </a:xfrm>
          <a:noFill/>
          <a:ln w="19050">
            <a:solidFill>
              <a:srgbClr val="864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14299" cy="6858000"/>
          </a:xfrm>
          <a:prstGeom prst="rect">
            <a:avLst/>
          </a:prstGeom>
          <a:gradFill>
            <a:gsLst>
              <a:gs pos="0">
                <a:srgbClr val="8644F7">
                  <a:alpha val="40000"/>
                </a:srgbClr>
              </a:gs>
              <a:gs pos="50000">
                <a:srgbClr val="8644F7">
                  <a:alpha val="90000"/>
                </a:srgbClr>
              </a:gs>
              <a:gs pos="100000">
                <a:srgbClr val="8644F7">
                  <a:alpha val="4000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93548" y="6216777"/>
            <a:ext cx="1212651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575" b="0">
                <a:solidFill>
                  <a:srgbClr val="6B7280">
                    <a:alpha val="70000"/>
                  </a:srgbClr>
                </a:solidFill>
                <a:latin typeface="Inter"/>
                <a:ea typeface="PingFang SC"/>
              </a:rPr>
              <a:t>17 / 17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81074" y="1714500"/>
            <a:ext cx="10239374" cy="342900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AFAFA"/>
              </a:gs>
              <a:gs pos="100000">
                <a:srgbClr val="FAFAFA">
                  <a:alpha val="90000"/>
                </a:srgbClr>
              </a:gs>
            </a:gsLst>
            <a:lin ang="27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57274" y="1790700"/>
            <a:ext cx="10086974" cy="3276599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noFill/>
          <a:ln w="15240">
            <a:solidFill>
              <a:srgbClr val="864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524499" y="2019299"/>
            <a:ext cx="1142999" cy="228600"/>
          </a:xfrm>
          <a:prstGeom prst="roundRect">
            <a:avLst/>
          </a:prstGeom>
          <a:solidFill>
            <a:srgbClr val="8644F7">
              <a:alpha val="10000"/>
            </a:srgbClr>
          </a:solidFill>
          <a:ln w="12700">
            <a:solidFill>
              <a:srgbClr val="864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22999" y="2005203"/>
            <a:ext cx="1346001" cy="22621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25" b="1">
                <a:solidFill>
                  <a:srgbClr val="8644F7"/>
                </a:solidFill>
                <a:latin typeface="Inter"/>
                <a:ea typeface="PingFang SC"/>
              </a:rPr>
              <a:t>THANK YOU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35968" y="2552319"/>
            <a:ext cx="8120062" cy="73818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4649" b="1">
                <a:solidFill>
                  <a:srgbClr val="111827"/>
                </a:solidFill>
                <a:latin typeface="Inter"/>
                <a:ea typeface="PingFang SC"/>
              </a:rPr>
              <a:t>愿景：让分类成为习惯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44835" y="3426713"/>
            <a:ext cx="9102328" cy="7858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50" b="0">
                <a:solidFill>
                  <a:srgbClr val="6B7280"/>
                </a:solidFill>
                <a:latin typeface="Inter"/>
                <a:ea typeface="PingFang SC"/>
              </a:rPr>
              <a:t>绿循环要做的不是一台回收柜，而是社区绿色生活的入口。</a:t>
            </a:r>
          </a:p>
          <a:p>
            <a:pPr algn="ctr"/>
            <a:r>
              <a:rPr sz="1650" b="0">
                <a:solidFill>
                  <a:srgbClr val="6B7280"/>
                </a:solidFill>
                <a:latin typeface="Inter"/>
                <a:ea typeface="PingFang SC"/>
              </a:rPr>
              <a:t>三年服务 100 万家庭，让每一次分类都有回报，让城市资源真正循环起来。</a:t>
            </a:r>
          </a:p>
          <a:p>
            <a:pPr algn="ctr"/>
            <a:r>
              <a:rPr sz="1650" b="0">
                <a:solidFill>
                  <a:srgbClr val="6B7280"/>
                </a:solidFill>
                <a:latin typeface="Inter"/>
                <a:ea typeface="PingFang SC"/>
              </a:rPr>
              <a:t>谢谢各位评委，期待与您共建绿循环。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