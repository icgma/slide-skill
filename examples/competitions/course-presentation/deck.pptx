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大家好，我们是第 3 小组。今天的汇报主题是短视频平台的算法推荐机制——为什么你一刷就停不下来。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选这个题目有两个原因：一是短视频日均使用时长已超 150 分钟，它就是我们这代人的媒介环境；二是理解推荐机制是做内容、做投放的基本功。今天从机制讲到案例，最后留讨论。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推荐系统的骨架是三段流水线：召回做粗筛，排序做逐条打分，重排做多样性调控。整个过程 200 毫秒完成——你每划一下，画像就更新一次。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平台看的核心信号有四个：完播率权重最高，其次是互动、关注转化，还有负反馈。记住这一页，后面的案例全靠它解释。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新视频的命运由流量池决定：先进 500 播放的初始池"考试"，数据达标就逐级晋级，1 万、10 万、再到百万。"前 3 秒决定生死"不是夸张，是机制使然。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我们用自己的视频验证了一遍：食堂探店视频，完播率 42%、互动率 6.8%，48 小时进 10 万池，最终 86 万播放。复盘下来，前 3 秒的"拉镜头加价格悬念"是晋级关键。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但算法也有另一面。小组实验：5 个新账号连刷 7 天单一品类，首页同质化比例从 31% 飙到 74%——这就是信息茧房的形成速度。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小组的观点：算法本身无善恶，关键在目标函数的设计立场。对创作者，别猜算法，死磕内容质量；对用户，主动搜索和负反馈就是夺回主动权的方式。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留三个问题给大家：目标函数里该加什么新指标？"关闭个性化推荐"的使用率为什么不到 4%？为流量池优化前 3 秒，算不算被算法驯化？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总结：三段流水线、流量池晋级、茧房与效率并存。理解机制，才能与算法共处。谢谢大家，欢迎讨论！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5599" y="1371600"/>
            <a:ext cx="10972799" cy="10972800"/>
          </a:xfrm>
          <a:prstGeom prst="ellipse">
            <a:avLst/>
          </a:prstGeom>
          <a:solidFill>
            <a:srgbClr val="2758E2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499" y="1714500"/>
            <a:ext cx="10286999" cy="10287000"/>
          </a:xfrm>
          <a:prstGeom prst="ellipse">
            <a:avLst/>
          </a:prstGeom>
          <a:noFill/>
          <a:ln w="254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99" y="0"/>
            <a:ext cx="114299" cy="2390774"/>
          </a:xfrm>
          <a:prstGeom prst="rect">
            <a:avLst/>
          </a:prstGeom>
          <a:solidFill>
            <a:srgbClr val="2758E2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199" y="2930652"/>
            <a:ext cx="14859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0" b="1">
                <a:solidFill>
                  <a:srgbClr val="0F172A"/>
                </a:solidFill>
                <a:latin typeface="Calibri"/>
                <a:ea typeface="Microsoft YaHei"/>
              </a:rPr>
              <a:t>短视频平台的算法推荐机制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4551426"/>
            <a:ext cx="128016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《数字媒体导论》期末小组汇报 | 第 3 小组 |</a:t>
            </a:r>
          </a:p>
          <a:p>
            <a:r>
              <a:rPr sz="360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2026 年 6 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" y="6286500"/>
            <a:ext cx="380999" cy="38100"/>
          </a:xfrm>
          <a:prstGeom prst="rect">
            <a:avLst/>
          </a:prstGeom>
          <a:solidFill>
            <a:srgbClr val="275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699" y="6178677"/>
            <a:ext cx="107060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334155"/>
                </a:solidFill>
                <a:latin typeface="Calibri"/>
                <a:ea typeface="Microsoft YaHei"/>
              </a:rPr>
              <a:t>01 /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1D4ED8">
                  <a:alpha val="15000"/>
                </a:srgbClr>
              </a:gs>
              <a:gs pos="10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576FF">
                  <a:alpha val="10000"/>
                </a:srgbClr>
              </a:gs>
              <a:gs pos="100000">
                <a:srgbClr val="457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1D4ED8">
                  <a:alpha val="40000"/>
                </a:srgbClr>
              </a:gs>
              <a:gs pos="50000">
                <a:srgbClr val="1D4ED8">
                  <a:alpha val="90000"/>
                </a:srgbClr>
              </a:gs>
              <a:gs pos="100000">
                <a:srgbClr val="1D4ED8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02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1D4ED8"/>
                </a:solidFill>
                <a:latin typeface="Calibri"/>
                <a:ea typeface="Microsoft YaHei"/>
              </a:rPr>
              <a:t>PROCESS → 4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" y="48691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Calibri"/>
                <a:ea typeface="Microsoft YaHei"/>
              </a:rPr>
              <a:t>为什么研究推荐算法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" y="1943100"/>
            <a:ext cx="38099" cy="157162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0524" y="1990724"/>
            <a:ext cx="5429249" cy="1476375"/>
          </a:xfrm>
          <a:prstGeom prst="roundRect">
            <a:avLst/>
          </a:prstGeom>
          <a:noFill/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14649" y="2133599"/>
            <a:ext cx="380999" cy="380999"/>
          </a:xfrm>
          <a:prstGeom prst="ellipse">
            <a:avLst/>
          </a:prstGeom>
          <a:noFill/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71799" y="2190749"/>
            <a:ext cx="266699" cy="266699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01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649" y="2653283"/>
            <a:ext cx="571500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短视频人均单日使用时长已超过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150 分钟，位居各类应用之首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4599" y="1943100"/>
            <a:ext cx="38099" cy="1571625"/>
          </a:xfrm>
          <a:prstGeom prst="rect">
            <a:avLst/>
          </a:prstGeom>
          <a:solidFill>
            <a:srgbClr val="002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2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2224" y="1990724"/>
            <a:ext cx="5429249" cy="1476375"/>
          </a:xfrm>
          <a:prstGeom prst="roundRect">
            <a:avLst/>
          </a:prstGeom>
          <a:noFill/>
          <a:ln w="12700">
            <a:solidFill>
              <a:srgbClr val="002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6349" y="2133599"/>
            <a:ext cx="380999" cy="380999"/>
          </a:xfrm>
          <a:prstGeom prst="ellipse">
            <a:avLst/>
          </a:prstGeom>
          <a:noFill/>
          <a:ln w="15240">
            <a:solidFill>
              <a:srgbClr val="002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53499" y="2190749"/>
            <a:ext cx="266699" cy="266699"/>
          </a:xfrm>
          <a:prstGeom prst="ellipse">
            <a:avLst/>
          </a:prstGeom>
          <a:solidFill>
            <a:srgbClr val="002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18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9299" y="2653283"/>
            <a:ext cx="651510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"刷到停不下来"的体验背后，是一整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套工业级推荐系统在实时决策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899" y="3971925"/>
            <a:ext cx="38099" cy="1571625"/>
          </a:xfrm>
          <a:prstGeom prst="rect">
            <a:avLst/>
          </a:prstGeom>
          <a:solidFill>
            <a:srgbClr val="4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4F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0524" y="4019549"/>
            <a:ext cx="5429249" cy="1476375"/>
          </a:xfrm>
          <a:prstGeom prst="roundRect">
            <a:avLst/>
          </a:prstGeom>
          <a:noFill/>
          <a:ln w="12700">
            <a:solidFill>
              <a:srgbClr val="4F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4649" y="4162424"/>
            <a:ext cx="380999" cy="380999"/>
          </a:xfrm>
          <a:prstGeom prst="ellipse">
            <a:avLst/>
          </a:prstGeom>
          <a:noFill/>
          <a:ln w="15240">
            <a:solidFill>
              <a:srgbClr val="4F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71799" y="4219575"/>
            <a:ext cx="266699" cy="266699"/>
          </a:xfrm>
          <a:prstGeom prst="ellipse">
            <a:avLst/>
          </a:prstGeom>
          <a:solidFill>
            <a:srgbClr val="4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01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682109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理解推荐机制，是数字媒体从业者做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内容、做投放的基本功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4599" y="3971925"/>
            <a:ext cx="38099" cy="1571625"/>
          </a:xfrm>
          <a:prstGeom prst="rect">
            <a:avLst/>
          </a:prstGeom>
          <a:solidFill>
            <a:srgbClr val="09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93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72224" y="4019549"/>
            <a:ext cx="5429249" cy="1476375"/>
          </a:xfrm>
          <a:prstGeom prst="roundRect">
            <a:avLst/>
          </a:prstGeom>
          <a:noFill/>
          <a:ln w="12700">
            <a:solidFill>
              <a:srgbClr val="093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96349" y="4162424"/>
            <a:ext cx="380999" cy="380999"/>
          </a:xfrm>
          <a:prstGeom prst="ellipse">
            <a:avLst/>
          </a:prstGeom>
          <a:noFill/>
          <a:ln w="15240">
            <a:solidFill>
              <a:srgbClr val="093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53499" y="4219575"/>
            <a:ext cx="266699" cy="266699"/>
          </a:xfrm>
          <a:prstGeom prst="ellipse">
            <a:avLst/>
          </a:prstGeom>
          <a:solidFill>
            <a:srgbClr val="093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18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5974" y="4682109"/>
            <a:ext cx="638175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汇报路线：机制拆解 → 真实案例 →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争议反思 → 课堂讨论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758E2">
                  <a:alpha val="15000"/>
                </a:srgbClr>
              </a:gs>
              <a:gs pos="100000">
                <a:srgbClr val="2758E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F80FF">
                  <a:alpha val="10000"/>
                </a:srgbClr>
              </a:gs>
              <a:gs pos="100000">
                <a:srgbClr val="4F80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758E2">
                  <a:alpha val="40000"/>
                </a:srgbClr>
              </a:gs>
              <a:gs pos="50000">
                <a:srgbClr val="2758E2">
                  <a:alpha val="90000"/>
                </a:srgbClr>
              </a:gs>
              <a:gs pos="100000">
                <a:srgbClr val="2758E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03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2758E2"/>
                </a:solidFill>
                <a:latin typeface="Calibri"/>
                <a:ea typeface="Microsoft YaHei"/>
              </a:rPr>
              <a:t>PROCESS → 4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" y="57454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Calibri"/>
                <a:ea typeface="Microsoft YaHei"/>
              </a:rPr>
              <a:t>推荐系统如何工作：三个环节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" y="1943100"/>
            <a:ext cx="38099" cy="1571625"/>
          </a:xfrm>
          <a:prstGeom prst="rect">
            <a:avLst/>
          </a:prstGeom>
          <a:solidFill>
            <a:srgbClr val="275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0524" y="1990724"/>
            <a:ext cx="5429249" cy="1476375"/>
          </a:xfrm>
          <a:prstGeom prst="roundRect">
            <a:avLst/>
          </a:prstGeom>
          <a:noFill/>
          <a:ln w="127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14649" y="2133599"/>
            <a:ext cx="380999" cy="380999"/>
          </a:xfrm>
          <a:prstGeom prst="ellipse">
            <a:avLst/>
          </a:prstGeom>
          <a:noFill/>
          <a:ln w="1524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71799" y="2190749"/>
            <a:ext cx="266699" cy="266699"/>
          </a:xfrm>
          <a:prstGeom prst="ellipse">
            <a:avLst/>
          </a:prstGeom>
          <a:solidFill>
            <a:srgbClr val="275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01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650998"/>
            <a:ext cx="6560343" cy="690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75" b="0">
                <a:solidFill>
                  <a:srgbClr val="0F172A"/>
                </a:solidFill>
                <a:latin typeface="Calibri"/>
                <a:ea typeface="Microsoft YaHei"/>
              </a:rPr>
              <a:t>召回：从千万级内容池中粗筛出数千条候</a:t>
            </a:r>
          </a:p>
          <a:p>
            <a:pPr algn="ctr"/>
            <a:r>
              <a:rPr sz="2175" b="0">
                <a:solidFill>
                  <a:srgbClr val="0F172A"/>
                </a:solidFill>
                <a:latin typeface="Calibri"/>
                <a:ea typeface="Microsoft YaHei"/>
              </a:rPr>
              <a:t>选（协同过滤、标签匹配、关注关系）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4599" y="1943100"/>
            <a:ext cx="38099" cy="1571625"/>
          </a:xfrm>
          <a:prstGeom prst="rect">
            <a:avLst/>
          </a:prstGeom>
          <a:solidFill>
            <a:srgbClr val="003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2224" y="1990724"/>
            <a:ext cx="5429249" cy="1476375"/>
          </a:xfrm>
          <a:prstGeom prst="roundRect">
            <a:avLst/>
          </a:prstGeom>
          <a:noFill/>
          <a:ln w="1270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6349" y="2133599"/>
            <a:ext cx="380999" cy="380999"/>
          </a:xfrm>
          <a:prstGeom prst="ellipse">
            <a:avLst/>
          </a:prstGeom>
          <a:noFill/>
          <a:ln w="1524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53499" y="2190749"/>
            <a:ext cx="266699" cy="266699"/>
          </a:xfrm>
          <a:prstGeom prst="ellipse">
            <a:avLst/>
          </a:prstGeom>
          <a:solidFill>
            <a:srgbClr val="003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18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8349" y="2653283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排序：深度模型对候选逐条打分，预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测"你会看完、点赞的概率"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899" y="3971925"/>
            <a:ext cx="38099" cy="1571625"/>
          </a:xfrm>
          <a:prstGeom prst="rect">
            <a:avLst/>
          </a:prstGeom>
          <a:solidFill>
            <a:srgbClr val="59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59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0524" y="4019549"/>
            <a:ext cx="5429249" cy="1476375"/>
          </a:xfrm>
          <a:prstGeom prst="roundRect">
            <a:avLst/>
          </a:prstGeom>
          <a:noFill/>
          <a:ln w="12700">
            <a:solidFill>
              <a:srgbClr val="59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4649" y="4162424"/>
            <a:ext cx="380999" cy="380999"/>
          </a:xfrm>
          <a:prstGeom prst="ellipse">
            <a:avLst/>
          </a:prstGeom>
          <a:noFill/>
          <a:ln w="15240">
            <a:solidFill>
              <a:srgbClr val="59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71799" y="4219575"/>
            <a:ext cx="266699" cy="266699"/>
          </a:xfrm>
          <a:prstGeom prst="ellipse">
            <a:avLst/>
          </a:prstGeom>
          <a:solidFill>
            <a:srgbClr val="59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01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49" y="4682109"/>
            <a:ext cx="6095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重排：多样性打散、去重、流量调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控，生成最终信息流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4599" y="3971925"/>
            <a:ext cx="38099" cy="1571625"/>
          </a:xfrm>
          <a:prstGeom prst="rect">
            <a:avLst/>
          </a:prstGeom>
          <a:solidFill>
            <a:srgbClr val="134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134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72224" y="4019549"/>
            <a:ext cx="5429249" cy="1476375"/>
          </a:xfrm>
          <a:prstGeom prst="roundRect">
            <a:avLst/>
          </a:prstGeom>
          <a:noFill/>
          <a:ln w="12700">
            <a:solidFill>
              <a:srgbClr val="134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96349" y="4162424"/>
            <a:ext cx="380999" cy="380999"/>
          </a:xfrm>
          <a:prstGeom prst="ellipse">
            <a:avLst/>
          </a:prstGeom>
          <a:noFill/>
          <a:ln w="15240">
            <a:solidFill>
              <a:srgbClr val="134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53499" y="4219575"/>
            <a:ext cx="266699" cy="266699"/>
          </a:xfrm>
          <a:prstGeom prst="ellipse">
            <a:avLst/>
          </a:prstGeom>
          <a:solidFill>
            <a:srgbClr val="134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18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5974" y="4682109"/>
            <a:ext cx="638174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全过程在 200 毫秒内完成，每一次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Calibri"/>
                <a:ea typeface="Microsoft YaHei"/>
              </a:rPr>
              <a:t>滑动都在更新你的画像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1D4ED8">
                  <a:alpha val="15000"/>
                </a:srgbClr>
              </a:gs>
              <a:gs pos="10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576FF">
                  <a:alpha val="10000"/>
                </a:srgbClr>
              </a:gs>
              <a:gs pos="100000">
                <a:srgbClr val="457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1D4ED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1D4ED8">
                  <a:alpha val="40000"/>
                </a:srgbClr>
              </a:gs>
              <a:gs pos="50000">
                <a:srgbClr val="1D4ED8">
                  <a:alpha val="90000"/>
                </a:srgbClr>
              </a:gs>
              <a:gs pos="100000">
                <a:srgbClr val="1D4ED8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Calibri"/>
                <a:ea typeface="Microsoft YaHei"/>
              </a:rPr>
              <a:t>关键信号：平台在看什么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1D4E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D4ED8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1D4E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9001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完播率：短视频最核心的质量信号，权重最高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030B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030B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30BA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030B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9001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互动率：点赞、评论、转发、收藏的加权组合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457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4576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B6CF6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4576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关注转化：看完是否点了关注，衡量账号的长期价值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1D4E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D4ED8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1D4E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07584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负反馈：快速划走、点"不感兴趣"，同样会被记录学习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758E2">
                  <a:alpha val="15000"/>
                </a:srgbClr>
              </a:gs>
              <a:gs pos="100000">
                <a:srgbClr val="2758E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F80FF">
                  <a:alpha val="10000"/>
                </a:srgbClr>
              </a:gs>
              <a:gs pos="100000">
                <a:srgbClr val="4F80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2758E2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758E2">
                  <a:alpha val="40000"/>
                </a:srgbClr>
              </a:gs>
              <a:gs pos="50000">
                <a:srgbClr val="2758E2">
                  <a:alpha val="90000"/>
                </a:srgbClr>
              </a:gs>
              <a:gs pos="100000">
                <a:srgbClr val="2758E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Calibri"/>
                <a:ea typeface="Microsoft YaHei"/>
              </a:rPr>
              <a:t>冷启动与流量池机制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758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676649" cy="38100"/>
          </a:xfrm>
          <a:prstGeom prst="roundRect">
            <a:avLst/>
          </a:prstGeom>
          <a:solidFill>
            <a:srgbClr val="2758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4049" y="1552574"/>
            <a:ext cx="514349" cy="514350"/>
          </a:xfrm>
          <a:prstGeom prst="ellipse">
            <a:avLst/>
          </a:prstGeom>
          <a:noFill/>
          <a:ln w="127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2149" y="1590675"/>
            <a:ext cx="438149" cy="438149"/>
          </a:xfrm>
          <a:prstGeom prst="ellipse">
            <a:avLst/>
          </a:prstGeom>
          <a:solidFill>
            <a:srgbClr val="2758E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4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758E2">
                    <a:alpha val="90000"/>
                  </a:srgbClr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533399" y="4038599"/>
            <a:ext cx="3422649" cy="285750"/>
          </a:xfrm>
          <a:noFill/>
          <a:ln w="254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0474" y="4010024"/>
            <a:ext cx="57149" cy="57150"/>
          </a:xfrm>
          <a:prstGeom prst="ellipse">
            <a:avLst/>
          </a:prstGeom>
          <a:solidFill>
            <a:srgbClr val="2758E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406777"/>
            <a:ext cx="4491037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Calibri"/>
                <a:ea typeface="Microsoft YaHei"/>
              </a:rPr>
              <a:t>500 播放的初始</a:t>
            </a:r>
          </a:p>
          <a:p>
            <a:pPr algn="ctr"/>
            <a:r>
              <a:rPr sz="3450" b="1">
                <a:latin typeface="Calibri"/>
                <a:ea typeface="Microsoft YaHei"/>
              </a:rPr>
              <a:t>池"考试"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1131" y="4166615"/>
            <a:ext cx="150018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新视频先进入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14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48149" y="1371600"/>
            <a:ext cx="3676649" cy="38100"/>
          </a:xfrm>
          <a:prstGeom prst="roundRect">
            <a:avLst/>
          </a:prstGeom>
          <a:solidFill>
            <a:srgbClr val="0435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9299" y="1552574"/>
            <a:ext cx="514349" cy="514350"/>
          </a:xfrm>
          <a:prstGeom prst="ellipse">
            <a:avLst/>
          </a:prstGeom>
          <a:noFill/>
          <a:ln w="1270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7399" y="1590675"/>
            <a:ext cx="438149" cy="438149"/>
          </a:xfrm>
          <a:prstGeom prst="ellipse">
            <a:avLst/>
          </a:prstGeom>
          <a:solidFill>
            <a:srgbClr val="0435B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72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435BF">
                    <a:alpha val="90000"/>
                  </a:srgbClr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4438649" y="4038599"/>
            <a:ext cx="3422649" cy="285750"/>
          </a:xfrm>
          <a:noFill/>
          <a:ln w="2540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5724" y="4010024"/>
            <a:ext cx="57149" cy="57150"/>
          </a:xfrm>
          <a:prstGeom prst="ellipse">
            <a:avLst/>
          </a:prstGeom>
          <a:solidFill>
            <a:srgbClr val="0435B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05274" y="2582798"/>
            <a:ext cx="396239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Calibri"/>
                <a:ea typeface="Microsoft YaHei"/>
              </a:rPr>
              <a:t>500 → 1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7332" y="4166615"/>
            <a:ext cx="3418284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→ 10 万 → 百万级推荐 层层晋级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33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399" y="1371600"/>
            <a:ext cx="3676649" cy="38100"/>
          </a:xfrm>
          <a:prstGeom prst="roundRect">
            <a:avLst/>
          </a:prstGeom>
          <a:solidFill>
            <a:srgbClr val="5485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4549" y="1552574"/>
            <a:ext cx="514349" cy="514350"/>
          </a:xfrm>
          <a:prstGeom prst="ellipse">
            <a:avLst/>
          </a:prstGeom>
          <a:noFill/>
          <a:ln w="12700"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2649" y="1590675"/>
            <a:ext cx="438149" cy="438149"/>
          </a:xfrm>
          <a:prstGeom prst="ellipse">
            <a:avLst/>
          </a:prstGeom>
          <a:solidFill>
            <a:srgbClr val="5485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59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3B6CF6">
                    <a:alpha val="90000"/>
                  </a:srgbClr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8343899" y="4038599"/>
            <a:ext cx="3422649" cy="285750"/>
          </a:xfrm>
          <a:noFill/>
          <a:ln w="25400"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10974" y="4010024"/>
            <a:ext cx="57149" cy="57150"/>
          </a:xfrm>
          <a:prstGeom prst="ellipse">
            <a:avLst/>
          </a:prstGeom>
          <a:solidFill>
            <a:srgbClr val="5485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51266" y="2496693"/>
            <a:ext cx="4480917" cy="928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925" b="1">
                <a:latin typeface="Calibri"/>
                <a:ea typeface="Microsoft YaHei"/>
              </a:rPr>
              <a:t>3 秒决定生死 数据</a:t>
            </a:r>
          </a:p>
          <a:p>
            <a:pPr algn="ctr"/>
            <a:r>
              <a:rPr sz="2925" b="1">
                <a:latin typeface="Calibri"/>
                <a:ea typeface="Microsoft YaHei"/>
              </a:rPr>
              <a:t>不达标则停止推荐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0162" y="4166615"/>
            <a:ext cx="2143125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发布时间、封面、前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1D4ED8">
                  <a:alpha val="15000"/>
                </a:srgbClr>
              </a:gs>
              <a:gs pos="10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576FF">
                  <a:alpha val="10000"/>
                </a:srgbClr>
              </a:gs>
              <a:gs pos="100000">
                <a:srgbClr val="457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1D4ED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1D4ED8">
                  <a:alpha val="40000"/>
                </a:srgbClr>
              </a:gs>
              <a:gs pos="50000">
                <a:srgbClr val="1D4ED8">
                  <a:alpha val="90000"/>
                </a:srgbClr>
              </a:gs>
              <a:gs pos="100000">
                <a:srgbClr val="1D4ED8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Calibri"/>
                <a:ea typeface="Microsoft YaHei"/>
              </a:rPr>
              <a:t>案例：一条校园美食视频的 72 小时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9052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905249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110799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334155"/>
                </a:solidFill>
                <a:latin typeface="Calibri"/>
                <a:ea typeface="Microsoft YaHei"/>
              </a:rPr>
              <a:t>小组成员实拍食堂探店视频，发布于周五 17 30 晚高峰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13585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334155"/>
                </a:solidFill>
                <a:latin typeface="Calibri"/>
                <a:ea typeface="Microsoft YaHei"/>
              </a:rPr>
              <a:t>初始池表现 完播率 42%、互动率 6.8%，均高于同类均值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906541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334155"/>
                </a:solidFill>
                <a:latin typeface="Calibri"/>
                <a:ea typeface="Microsoft YaHei"/>
              </a:rPr>
              <a:t>12 小时晋级 1 万池，48 小时进入 10 万池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1399460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334155"/>
                </a:solidFill>
                <a:latin typeface="Calibri"/>
                <a:ea typeface="Microsoft YaHei"/>
              </a:rPr>
              <a:t>最终 72 小时播放 86 万、涨粉 2,300 —前 3 秒"拉镜头 + 价格悬念</a:t>
            </a:r>
          </a:p>
          <a:p>
            <a:r>
              <a:rPr sz="2700" b="0">
                <a:solidFill>
                  <a:srgbClr val="334155"/>
                </a:solidFill>
                <a:latin typeface="Calibri"/>
                <a:ea typeface="Microsoft YaHei"/>
              </a:rPr>
              <a:t>"是关键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758E2">
                  <a:alpha val="15000"/>
                </a:srgbClr>
              </a:gs>
              <a:gs pos="100000">
                <a:srgbClr val="2758E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F80FF">
                  <a:alpha val="10000"/>
                </a:srgbClr>
              </a:gs>
              <a:gs pos="100000">
                <a:srgbClr val="4F80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2758E2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758E2">
                  <a:alpha val="40000"/>
                </a:srgbClr>
              </a:gs>
              <a:gs pos="50000">
                <a:srgbClr val="2758E2">
                  <a:alpha val="90000"/>
                </a:srgbClr>
              </a:gs>
              <a:gs pos="100000">
                <a:srgbClr val="2758E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Calibri"/>
                <a:ea typeface="Microsoft YaHei"/>
              </a:rPr>
              <a:t>算法的另一面：信息茧房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758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56387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5638799" cy="38100"/>
          </a:xfrm>
          <a:prstGeom prst="roundRect">
            <a:avLst/>
          </a:prstGeom>
          <a:solidFill>
            <a:srgbClr val="2758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05124" y="1552574"/>
            <a:ext cx="514349" cy="514350"/>
          </a:xfrm>
          <a:prstGeom prst="ellipse">
            <a:avLst/>
          </a:prstGeom>
          <a:noFill/>
          <a:ln w="127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3224" y="1590675"/>
            <a:ext cx="438149" cy="438149"/>
          </a:xfrm>
          <a:prstGeom prst="ellipse">
            <a:avLst/>
          </a:prstGeom>
          <a:solidFill>
            <a:srgbClr val="2758E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65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758E2">
                    <a:alpha val="90000"/>
                  </a:srgbClr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5378449" h="285750">
                <a:moveTo>
                  <a:pt x="0" y="285750"/>
                </a:moveTo>
                <a:cubicBezTo>
                  <a:pt x="1123949" y="158750"/>
                  <a:pt x="2311399" y="126999"/>
                  <a:pt x="3562349" y="190499"/>
                </a:cubicBezTo>
                <a:cubicBezTo>
                  <a:pt x="4813299" y="254000"/>
                  <a:pt x="5378449" y="190499"/>
                  <a:pt x="5257799" y="0"/>
                </a:cubicBezTo>
              </a:path>
            </a:pathLst>
          </a:custGeom>
          <a:xfrm>
            <a:off x="533399" y="4038599"/>
            <a:ext cx="5378449" cy="285750"/>
          </a:xfrm>
          <a:noFill/>
          <a:ln w="254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2758E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442590"/>
            <a:ext cx="6706790" cy="1023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25" b="1">
                <a:latin typeface="Calibri"/>
                <a:ea typeface="Microsoft YaHei"/>
              </a:rPr>
              <a:t>5 名成员新注册账号，连续</a:t>
            </a:r>
          </a:p>
          <a:p>
            <a:pPr algn="ctr"/>
            <a:r>
              <a:rPr sz="3225" b="1">
                <a:latin typeface="Calibri"/>
                <a:ea typeface="Microsoft YaHei"/>
              </a:rPr>
              <a:t>7 天只观看单一品类内容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6518" y="416661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小组实验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299" y="1371600"/>
            <a:ext cx="56387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5000"/>
                </a:srgbClr>
              </a:gs>
            </a:gsLst>
            <a:lin ang="0" scaled="0"/>
          </a:gradFill>
          <a:ln w="1905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0299" y="1371600"/>
            <a:ext cx="5638799" cy="38100"/>
          </a:xfrm>
          <a:prstGeom prst="roundRect">
            <a:avLst/>
          </a:prstGeom>
          <a:solidFill>
            <a:srgbClr val="0435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2524" y="1552574"/>
            <a:ext cx="514349" cy="514350"/>
          </a:xfrm>
          <a:prstGeom prst="ellipse">
            <a:avLst/>
          </a:prstGeom>
          <a:noFill/>
          <a:ln w="1270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10624" y="1590675"/>
            <a:ext cx="438149" cy="438149"/>
          </a:xfrm>
          <a:prstGeom prst="ellipse">
            <a:avLst/>
          </a:prstGeom>
          <a:solidFill>
            <a:srgbClr val="0435B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39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435BF">
                    <a:alpha val="90000"/>
                  </a:srgbClr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5378449" h="285750">
                <a:moveTo>
                  <a:pt x="0" y="285750"/>
                </a:moveTo>
                <a:cubicBezTo>
                  <a:pt x="1123949" y="158750"/>
                  <a:pt x="2311399" y="126999"/>
                  <a:pt x="3562349" y="190499"/>
                </a:cubicBezTo>
                <a:cubicBezTo>
                  <a:pt x="4813299" y="254000"/>
                  <a:pt x="5378449" y="190499"/>
                  <a:pt x="5257799" y="0"/>
                </a:cubicBezTo>
              </a:path>
            </a:pathLst>
          </a:custGeom>
          <a:xfrm>
            <a:off x="6400799" y="4038599"/>
            <a:ext cx="5378449" cy="285750"/>
          </a:xfrm>
          <a:noFill/>
          <a:ln w="25400">
            <a:solidFill>
              <a:srgbClr val="043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0435B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9456" y="2582798"/>
            <a:ext cx="3900487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Calibri"/>
                <a:ea typeface="Microsoft YaHei"/>
              </a:rPr>
              <a:t>7 天的 74%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6556" y="4166615"/>
            <a:ext cx="458628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34155">
                    <a:alpha val="90000"/>
                  </a:srgbClr>
                </a:solidFill>
                <a:latin typeface="Calibri"/>
                <a:ea typeface="Microsoft YaHei"/>
              </a:rPr>
              <a:t>首页推荐同质化比例从第 1 天的 31% 升至第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1D4ED8">
                  <a:alpha val="15000"/>
                </a:srgbClr>
              </a:gs>
              <a:gs pos="10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576FF">
                  <a:alpha val="10000"/>
                </a:srgbClr>
              </a:gs>
              <a:gs pos="100000">
                <a:srgbClr val="457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1D4ED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1D4ED8">
                  <a:alpha val="40000"/>
                </a:srgbClr>
              </a:gs>
              <a:gs pos="50000">
                <a:srgbClr val="1D4ED8">
                  <a:alpha val="90000"/>
                </a:srgbClr>
              </a:gs>
              <a:gs pos="100000">
                <a:srgbClr val="1D4ED8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Calibri"/>
                <a:ea typeface="Microsoft YaHei"/>
              </a:rPr>
              <a:t>小组观点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1D4E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D4ED8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1D4E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94297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算法本身无善恶，目标函数的设计立场才是关键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030B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030B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30BA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030B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20443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创作者视角：与其"猜算法"，不如死磕完播率背后的内容质量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03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457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4576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3B6CF6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4576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32873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用户视角：主动搜索与主动负反馈，是夺回信息主动权的低成本方式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45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80000"/>
                </a:srgbClr>
              </a:gs>
            </a:gsLst>
            <a:lin ang="5400000" scaled="0"/>
          </a:gra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1D4ED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1D4E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D4ED8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1D4E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16157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Calibri"/>
                <a:ea typeface="Microsoft YaHei"/>
              </a:rPr>
              <a:t>监管视角：算法备案与"可关闭个性化推荐"已写入国内法规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758E2">
                  <a:alpha val="15000"/>
                </a:srgbClr>
              </a:gs>
              <a:gs pos="100000">
                <a:srgbClr val="2758E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F80FF">
                  <a:alpha val="10000"/>
                </a:srgbClr>
              </a:gs>
              <a:gs pos="100000">
                <a:srgbClr val="4F80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758E2">
                  <a:alpha val="40000"/>
                </a:srgbClr>
              </a:gs>
              <a:gs pos="50000">
                <a:srgbClr val="2758E2">
                  <a:alpha val="90000"/>
                </a:srgbClr>
              </a:gs>
              <a:gs pos="100000">
                <a:srgbClr val="2758E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Calibri"/>
                <a:ea typeface="Microsoft YaHei"/>
              </a:rPr>
              <a:t>讨论问题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2758E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8FAFC"/>
          </a:solidFill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2758E2"/>
                </a:solidFill>
                <a:latin typeface="Calibri"/>
                <a:ea typeface="Microsoft YaHei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0F172A"/>
                </a:solidFill>
                <a:latin typeface="Calibri"/>
                <a:ea typeface="Microsoft YaHei"/>
              </a:rPr>
              <a:t>讨论问题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334155">
                    <a:alpha val="80000"/>
                  </a:srgbClr>
                </a:solidFill>
                <a:latin typeface="Calibri"/>
                <a:ea typeface="Microsoft YaHei"/>
              </a:rPr>
              <a:t>3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8FAFC"/>
          </a:solidFill>
          <a:ln w="19050">
            <a:solidFill>
              <a:srgbClr val="154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546D0"/>
                </a:solidFill>
                <a:latin typeface="Calibri"/>
                <a:ea typeface="Microsoft YaHei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56816"/>
            <a:ext cx="6236493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Calibri"/>
                <a:ea typeface="Microsoft YaHei"/>
              </a:rPr>
              <a:t>如果由你设计目标函数，你会在"用户时长"之外加入什么指标？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8FAFC"/>
          </a:solidFill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758E2"/>
                </a:solidFill>
                <a:latin typeface="Calibri"/>
                <a:ea typeface="Microsoft YaHei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25140"/>
            <a:ext cx="63698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Calibri"/>
                <a:ea typeface="Microsoft YaHei"/>
              </a:rPr>
              <a:t>"可关闭个性化推荐"上线后使用率不足 4%，说明了什么？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8FAFC"/>
          </a:solidFill>
          <a:ln w="19050">
            <a:solidFill>
              <a:srgbClr val="396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3B6CF6"/>
                </a:solidFill>
                <a:latin typeface="Calibri"/>
                <a:ea typeface="Microsoft YaHei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0990"/>
            <a:ext cx="63698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Calibri"/>
                <a:ea typeface="Microsoft YaHei"/>
              </a:rPr>
              <a:t>创作者为流量池数据优化前 3 秒，算不算被算法"驯化"？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2758E2">
                  <a:alpha val="15000"/>
                </a:srgbClr>
              </a:gs>
              <a:gs pos="100000">
                <a:srgbClr val="2758E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4F80FF">
                  <a:alpha val="10000"/>
                </a:srgbClr>
              </a:gs>
              <a:gs pos="100000">
                <a:srgbClr val="4F80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275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2758E2">
                  <a:alpha val="40000"/>
                </a:srgbClr>
              </a:gs>
              <a:gs pos="50000">
                <a:srgbClr val="2758E2">
                  <a:alpha val="90000"/>
                </a:srgbClr>
              </a:gs>
              <a:gs pos="100000">
                <a:srgbClr val="2758E2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334155">
                    <a:alpha val="70000"/>
                  </a:srgbClr>
                </a:solidFill>
                <a:latin typeface="Calibri"/>
                <a:ea typeface="Microsoft YaHei"/>
              </a:rPr>
              <a:t>10 /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8FAFC"/>
              </a:gs>
              <a:gs pos="100000">
                <a:srgbClr val="F8FAFC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2758E2">
              <a:alpha val="10000"/>
            </a:srgbClr>
          </a:solidFill>
          <a:ln w="12700">
            <a:solidFill>
              <a:srgbClr val="275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2758E2"/>
                </a:solidFill>
                <a:latin typeface="Calibri"/>
                <a:ea typeface="Microsoft YaHe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718" y="2552319"/>
            <a:ext cx="22145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0F172A"/>
                </a:solidFill>
                <a:latin typeface="Calibri"/>
                <a:ea typeface="Microsoft YaHei"/>
              </a:rPr>
              <a:t>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5968" y="3426713"/>
            <a:ext cx="8120062" cy="1047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334155"/>
                </a:solidFill>
                <a:latin typeface="Calibri"/>
                <a:ea typeface="Microsoft YaHei"/>
              </a:rPr>
              <a:t>推荐系统是召回、排序、重排三段流水线，以完播与互动为核心信号</a:t>
            </a:r>
          </a:p>
          <a:p>
            <a:pPr algn="ctr"/>
            <a:r>
              <a:rPr sz="1650" b="0">
                <a:solidFill>
                  <a:srgbClr val="334155"/>
                </a:solidFill>
                <a:latin typeface="Calibri"/>
                <a:ea typeface="Microsoft YaHei"/>
              </a:rPr>
              <a:t>流量池逐级晋级机制决定了内容的生死节奏</a:t>
            </a:r>
          </a:p>
          <a:p>
            <a:pPr algn="ctr"/>
            <a:r>
              <a:rPr sz="1650" b="0">
                <a:solidFill>
                  <a:srgbClr val="334155"/>
                </a:solidFill>
                <a:latin typeface="Calibri"/>
                <a:ea typeface="Microsoft YaHei"/>
              </a:rPr>
              <a:t>算法带来效率也带来茧房，理解机制才能与它共处</a:t>
            </a:r>
          </a:p>
          <a:p>
            <a:pPr algn="ctr"/>
            <a:r>
              <a:rPr sz="1650" b="0">
                <a:solidFill>
                  <a:srgbClr val="334155"/>
                </a:solidFill>
                <a:latin typeface="Calibri"/>
                <a:ea typeface="Microsoft YaHei"/>
              </a:rPr>
              <a:t>感谢聆听，欢迎大家在讨论环节交流！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