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各位评审老师好。我们申报的项目是「心屿」——大学生心理健康 AI 陪伴助手，一个陪学生走到咨询室门口的数字化缓冲层。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项目源于一组数据：21.4% 的大学生存在抑郁风险，而咨询师配比普遍不达标，预约动辄两周。轻度困扰得不到及时疏导，就可能演化成危机个案。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所以定位很清楚：不替代咨询师，而是补上 7 乘 24 小时可及的第一道缓冲；同时它也是我们心理学加计算机跨学科团队的实践场。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国外 Woebot 这类 CBT 机器人已有随机对照试验证据，但国内产品缺校园场景适配——学业、宿舍、就业这些语境没有对应语料，这是我们的空白点。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三个创新点：8 类校园情境语料库、三级风险分层加人工转介闭环、数据不出校的隐私架构。每一条都落在"可验证"上，不是口号。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实施路线四步走：语料构建、模型微调、系统开发、试点评估。5000 组标注对话全部经心理中心督导审核，这是质量底线。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模块设计上：共情对话引擎用"倾听、共情、引导"三段式；风险识别双通道、召回优先；高风险对话 10 分钟内推给值班老师。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安全和伦理是这类项目的生命线：知情同意、危机兜底热线、每周督导抽检、伦理审查——四道防线在申报阶段就设计好了。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进度具体到月：前四个月做语料和微调，寒假后三个月开发，四五月做 500 人灰度试点，暑期完成评估和结题。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预期成果可量化：原型系统一套、语料库和红线清单各一份、软著一项、论文一到两篇，最后向心理中心移交运行手册。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经费总额两万元，与国家级大创资助额度对齐。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分项看：云服务和设备八千、数据标注五千，其余是试点激励、调研差旅和材料，每一项都对应具体的实验内容。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最后重复一句我们的初心：不做替代咨询师的 AI，做陪学生走到咨询室门口的桥。恳请各位专家批评指正！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199" y="0"/>
            <a:ext cx="0" cy="6858000"/>
          </a:xfrm>
          <a:prstGeom prst="line">
            <a:avLst/>
          </a:prstGeom>
          <a:ln w="12700">
            <a:solidFill>
              <a:srgbClr val="6D70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504950"/>
            <a:ext cx="12191999" cy="0"/>
          </a:xfrm>
          <a:prstGeom prst="line">
            <a:avLst/>
          </a:prstGeom>
          <a:ln w="12700">
            <a:solidFill>
              <a:srgbClr val="E0E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6095999"/>
            <a:ext cx="12191999" cy="0"/>
          </a:xfrm>
          <a:prstGeom prst="line">
            <a:avLst/>
          </a:prstGeom>
          <a:ln w="12700">
            <a:solidFill>
              <a:srgbClr val="E0E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199" y="1504950"/>
            <a:ext cx="11277599" cy="28575"/>
          </a:xfrm>
          <a:prstGeom prst="rect">
            <a:avLst/>
          </a:prstGeom>
          <a:solidFill>
            <a:srgbClr val="6D7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199" y="867536"/>
            <a:ext cx="11277599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6D70FB"/>
                </a:solidFill>
                <a:latin typeface="Poppins"/>
                <a:ea typeface="PingFang SC"/>
              </a:rPr>
              <a:t>RESEARCH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" y="1794890"/>
            <a:ext cx="13115925" cy="16192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099" b="1">
                <a:solidFill>
                  <a:srgbClr val="1E1B4B"/>
                </a:solidFill>
                <a:latin typeface="Poppins"/>
                <a:ea typeface="PingFang SC"/>
              </a:rPr>
              <a:t>「心屿」：大学生心理健康 AI 陪</a:t>
            </a:r>
          </a:p>
          <a:p>
            <a:r>
              <a:rPr sz="5099" b="1">
                <a:solidFill>
                  <a:srgbClr val="1E1B4B"/>
                </a:solidFill>
                <a:latin typeface="Poppins"/>
                <a:ea typeface="PingFang SC"/>
              </a:rPr>
              <a:t>伴助手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" y="3104006"/>
            <a:ext cx="13415962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A4485">
                    <a:alpha val="85000"/>
                  </a:srgbClr>
                </a:solidFill>
                <a:latin typeface="Poppins"/>
                <a:ea typeface="PingFang SC"/>
              </a:rPr>
              <a:t>国家级大学生创新创业训练计划项目申报 | 创新训练类 | 项目周期</a:t>
            </a:r>
          </a:p>
          <a:p>
            <a:r>
              <a:rPr sz="2700" b="0">
                <a:solidFill>
                  <a:srgbClr val="4A4485">
                    <a:alpha val="85000"/>
                  </a:srgbClr>
                </a:solidFill>
                <a:latin typeface="Poppins"/>
                <a:ea typeface="PingFang SC"/>
              </a:rPr>
              <a:t>12 个月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" y="6249162"/>
            <a:ext cx="11277599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4A4485"/>
                </a:solidFill>
                <a:latin typeface="Poppins"/>
                <a:ea typeface="PingFang SC"/>
              </a:rPr>
              <a:t>PAGES: 13 / ACADEMIC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6366F1">
                  <a:alpha val="15000"/>
                </a:srgbClr>
              </a:gs>
              <a:gs pos="100000">
                <a:srgbClr val="6366F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8B8EFF">
                  <a:alpha val="10000"/>
                </a:srgbClr>
              </a:gs>
              <a:gs pos="100000">
                <a:srgbClr val="8B8E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6366F1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6366F1">
                  <a:alpha val="40000"/>
                </a:srgbClr>
              </a:gs>
              <a:gs pos="50000">
                <a:srgbClr val="6366F1">
                  <a:alpha val="90000"/>
                </a:srgbClr>
              </a:gs>
              <a:gs pos="100000">
                <a:srgbClr val="6366F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A4485">
                    <a:alpha val="70000"/>
                  </a:srgbClr>
                </a:solidFill>
                <a:latin typeface="Poppins"/>
                <a:ea typeface="PingFang SC"/>
              </a:rPr>
              <a:t>02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E1B4B"/>
                </a:solidFill>
                <a:latin typeface="Poppins"/>
                <a:ea typeface="PingFang SC"/>
              </a:rPr>
              <a:t>项目背景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6366F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367664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3676649" cy="38100"/>
          </a:xfrm>
          <a:prstGeom prst="roundRect">
            <a:avLst/>
          </a:prstGeom>
          <a:solidFill>
            <a:srgbClr val="6366F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24049" y="1552574"/>
            <a:ext cx="514349" cy="514350"/>
          </a:xfrm>
          <a:prstGeom prst="ellipse">
            <a:avLst/>
          </a:prstGeom>
          <a:noFill/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962149" y="1590675"/>
            <a:ext cx="438149" cy="438149"/>
          </a:xfrm>
          <a:prstGeom prst="ellipse">
            <a:avLst/>
          </a:prstGeom>
          <a:solidFill>
            <a:srgbClr val="6366F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95474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8184FF">
                    <a:alpha val="90000"/>
                  </a:srgbClr>
                </a:solidFill>
                <a:latin typeface="Poppins"/>
                <a:ea typeface="PingFang SC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custGeom>
            <a:pathLst>
              <a:path w="3422649" h="285750">
                <a:moveTo>
                  <a:pt x="0" y="285750"/>
                </a:moveTo>
                <a:cubicBezTo>
                  <a:pt x="685799" y="158750"/>
                  <a:pt x="1438274" y="126999"/>
                  <a:pt x="2257424" y="190499"/>
                </a:cubicBezTo>
                <a:cubicBezTo>
                  <a:pt x="3076574" y="254000"/>
                  <a:pt x="3422649" y="190499"/>
                  <a:pt x="3295649" y="0"/>
                </a:cubicBezTo>
              </a:path>
            </a:pathLst>
          </a:custGeom>
          <a:xfrm>
            <a:off x="533399" y="4038599"/>
            <a:ext cx="3422649" cy="285750"/>
          </a:xfrm>
          <a:noFill/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00474" y="4010024"/>
            <a:ext cx="57149" cy="57150"/>
          </a:xfrm>
          <a:prstGeom prst="ellipse">
            <a:avLst/>
          </a:prstGeom>
          <a:solidFill>
            <a:srgbClr val="6366F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2406777"/>
            <a:ext cx="4545806" cy="1095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450" b="1">
                <a:latin typeface="Poppins"/>
                <a:ea typeface="PingFang SC"/>
              </a:rPr>
              <a:t>21.4% 受访者存</a:t>
            </a:r>
          </a:p>
          <a:p>
            <a:pPr algn="ctr"/>
            <a:r>
              <a:rPr sz="3450" b="1">
                <a:latin typeface="Poppins"/>
                <a:ea typeface="PingFang SC"/>
              </a:rPr>
              <a:t>在抑郁风险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49" y="4166615"/>
            <a:ext cx="2571750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A4485">
                    <a:alpha val="90000"/>
                  </a:srgbClr>
                </a:solidFill>
                <a:latin typeface="Poppins"/>
                <a:ea typeface="PingFang SC"/>
              </a:rPr>
              <a:t>全国大学生心理健康报告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8149" y="1371600"/>
            <a:ext cx="367664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404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48149" y="1371600"/>
            <a:ext cx="3676649" cy="38100"/>
          </a:xfrm>
          <a:prstGeom prst="roundRect">
            <a:avLst/>
          </a:prstGeom>
          <a:solidFill>
            <a:srgbClr val="4043C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29299" y="1552574"/>
            <a:ext cx="514349" cy="514350"/>
          </a:xfrm>
          <a:prstGeom prst="ellipse">
            <a:avLst/>
          </a:prstGeom>
          <a:noFill/>
          <a:ln w="12700">
            <a:solidFill>
              <a:srgbClr val="404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67399" y="1590675"/>
            <a:ext cx="438149" cy="438149"/>
          </a:xfrm>
          <a:prstGeom prst="ellipse">
            <a:avLst/>
          </a:prstGeom>
          <a:solidFill>
            <a:srgbClr val="4043C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0724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4043CE">
                    <a:alpha val="90000"/>
                  </a:srgbClr>
                </a:solidFill>
                <a:latin typeface="Poppins"/>
                <a:ea typeface="PingFang SC"/>
              </a:rPr>
              <a:t>02</a:t>
            </a:r>
          </a:p>
        </p:txBody>
      </p:sp>
      <p:sp>
        <p:nvSpPr>
          <p:cNvPr id="26" name="Rectangle 25"/>
          <p:cNvSpPr/>
          <p:nvPr/>
        </p:nvSpPr>
        <p:spPr>
          <a:custGeom>
            <a:pathLst>
              <a:path w="3422649" h="285750">
                <a:moveTo>
                  <a:pt x="0" y="285750"/>
                </a:moveTo>
                <a:cubicBezTo>
                  <a:pt x="685799" y="158750"/>
                  <a:pt x="1438274" y="126999"/>
                  <a:pt x="2257424" y="190499"/>
                </a:cubicBezTo>
                <a:cubicBezTo>
                  <a:pt x="3076574" y="254000"/>
                  <a:pt x="3422649" y="190499"/>
                  <a:pt x="3295649" y="0"/>
                </a:cubicBezTo>
              </a:path>
            </a:pathLst>
          </a:custGeom>
          <a:xfrm>
            <a:off x="4438649" y="4038599"/>
            <a:ext cx="3422649" cy="285750"/>
          </a:xfrm>
          <a:noFill/>
          <a:ln w="25400">
            <a:solidFill>
              <a:srgbClr val="4043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05724" y="4010024"/>
            <a:ext cx="57149" cy="57150"/>
          </a:xfrm>
          <a:prstGeom prst="ellipse">
            <a:avLst/>
          </a:prstGeom>
          <a:solidFill>
            <a:srgbClr val="4043C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64185" y="2406777"/>
            <a:ext cx="4244578" cy="1095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450" b="1">
                <a:latin typeface="Poppins"/>
                <a:ea typeface="PingFang SC"/>
              </a:rPr>
              <a:t>4000 标准，预</a:t>
            </a:r>
          </a:p>
          <a:p>
            <a:pPr algn="ctr"/>
            <a:r>
              <a:rPr sz="3450" b="1">
                <a:latin typeface="Poppins"/>
                <a:ea typeface="PingFang SC"/>
              </a:rPr>
              <a:t>约常超 2 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7040" y="4166615"/>
            <a:ext cx="2378868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A4485">
                    <a:alpha val="90000"/>
                  </a:srgbClr>
                </a:solidFill>
                <a:latin typeface="Poppins"/>
                <a:ea typeface="PingFang SC"/>
              </a:rPr>
              <a:t>咨询师配比普遍未达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3399" y="1371600"/>
            <a:ext cx="367664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90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53399" y="1371600"/>
            <a:ext cx="3676649" cy="38100"/>
          </a:xfrm>
          <a:prstGeom prst="roundRect">
            <a:avLst/>
          </a:prstGeom>
          <a:solidFill>
            <a:srgbClr val="9093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34549" y="1552574"/>
            <a:ext cx="514349" cy="514350"/>
          </a:xfrm>
          <a:prstGeom prst="ellipse">
            <a:avLst/>
          </a:prstGeom>
          <a:noFill/>
          <a:ln w="12700">
            <a:solidFill>
              <a:srgbClr val="90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72649" y="1590675"/>
            <a:ext cx="438149" cy="438149"/>
          </a:xfrm>
          <a:prstGeom prst="ellipse">
            <a:avLst/>
          </a:prstGeom>
          <a:solidFill>
            <a:srgbClr val="9093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05974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8184FF">
                    <a:alpha val="90000"/>
                  </a:srgbClr>
                </a:solidFill>
                <a:latin typeface="Poppins"/>
                <a:ea typeface="PingFang SC"/>
              </a:rPr>
              <a:t>03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3422649" h="285750">
                <a:moveTo>
                  <a:pt x="0" y="285750"/>
                </a:moveTo>
                <a:cubicBezTo>
                  <a:pt x="685799" y="158750"/>
                  <a:pt x="1438274" y="126999"/>
                  <a:pt x="2257424" y="190499"/>
                </a:cubicBezTo>
                <a:cubicBezTo>
                  <a:pt x="3076574" y="254000"/>
                  <a:pt x="3422649" y="190499"/>
                  <a:pt x="3295649" y="0"/>
                </a:cubicBezTo>
              </a:path>
            </a:pathLst>
          </a:custGeom>
          <a:xfrm>
            <a:off x="8343899" y="4038599"/>
            <a:ext cx="3422649" cy="285750"/>
          </a:xfrm>
          <a:noFill/>
          <a:ln w="25400">
            <a:solidFill>
              <a:srgbClr val="90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610974" y="4010024"/>
            <a:ext cx="57149" cy="57150"/>
          </a:xfrm>
          <a:prstGeom prst="ellipse">
            <a:avLst/>
          </a:prstGeom>
          <a:solidFill>
            <a:srgbClr val="9093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93248" y="2470784"/>
            <a:ext cx="4196953" cy="107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50" b="1">
                <a:latin typeface="Poppins"/>
                <a:ea typeface="PingFang SC"/>
              </a:rPr>
              <a:t>68% 有困扰的学生首选"</a:t>
            </a:r>
          </a:p>
          <a:p>
            <a:pPr algn="ctr"/>
            <a:r>
              <a:rPr sz="2250" b="1">
                <a:latin typeface="Poppins"/>
                <a:ea typeface="PingFang SC"/>
              </a:rPr>
              <a:t>自己扛"或向同伴倾诉，</a:t>
            </a:r>
          </a:p>
          <a:p>
            <a:pPr algn="ctr"/>
            <a:r>
              <a:rPr sz="2250" b="1">
                <a:latin typeface="Poppins"/>
                <a:ea typeface="PingFang SC"/>
              </a:rPr>
              <a:t>咨询室"门槛感"明显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55943" y="4166615"/>
            <a:ext cx="1071562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A4485">
                    <a:alpha val="90000"/>
                  </a:srgbClr>
                </a:solidFill>
                <a:latin typeface="Poppins"/>
                <a:ea typeface="PingFang SC"/>
              </a:rPr>
              <a:t>调研显示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6D70FB">
                  <a:alpha val="15000"/>
                </a:srgbClr>
              </a:gs>
              <a:gs pos="100000">
                <a:srgbClr val="6D7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9598FF">
                  <a:alpha val="10000"/>
                </a:srgbClr>
              </a:gs>
              <a:gs pos="100000">
                <a:srgbClr val="959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6D70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6D70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6D70FB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6D70FB">
                  <a:alpha val="40000"/>
                </a:srgbClr>
              </a:gs>
              <a:gs pos="50000">
                <a:srgbClr val="6D70FB">
                  <a:alpha val="90000"/>
                </a:srgbClr>
              </a:gs>
              <a:gs pos="100000">
                <a:srgbClr val="6D70FB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A4485">
                    <a:alpha val="70000"/>
                  </a:srgbClr>
                </a:solidFill>
                <a:latin typeface="Poppins"/>
                <a:ea typeface="PingFang SC"/>
              </a:rPr>
              <a:t>03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E1B4B"/>
                </a:solidFill>
                <a:latin typeface="Poppins"/>
                <a:ea typeface="PingFang SC"/>
              </a:rPr>
              <a:t>选题意义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6D70F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1219200"/>
          </a:xfrm>
          <a:prstGeom prst="roundRect">
            <a:avLst/>
          </a:prstGeom>
          <a:solidFill>
            <a:srgbClr val="6D70F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390650"/>
            <a:ext cx="419099" cy="419100"/>
          </a:xfrm>
          <a:prstGeom prst="ellipse">
            <a:avLst/>
          </a:prstGeom>
          <a:noFill/>
          <a:ln w="1905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457325"/>
            <a:ext cx="285749" cy="285750"/>
          </a:xfrm>
          <a:prstGeom prst="ellipse">
            <a:avLst/>
          </a:prstGeom>
          <a:solidFill>
            <a:srgbClr val="6D70F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4638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8184FF"/>
                </a:solidFill>
                <a:latin typeface="Poppins"/>
                <a:ea typeface="PingFang SC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6D70FB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2365831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现实意义：为高校心理服务体系补上"7×24 小时可及"的第一道</a:t>
            </a:r>
          </a:p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缓冲层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543050"/>
            <a:ext cx="57149" cy="114300"/>
          </a:xfrm>
          <a:noFill/>
          <a:ln w="2540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23241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4F5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2324100"/>
            <a:ext cx="38099" cy="723900"/>
          </a:xfrm>
          <a:prstGeom prst="roundRect">
            <a:avLst/>
          </a:prstGeom>
          <a:solidFill>
            <a:srgbClr val="4F52D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2476499"/>
            <a:ext cx="419099" cy="419100"/>
          </a:xfrm>
          <a:prstGeom prst="ellipse">
            <a:avLst/>
          </a:prstGeom>
          <a:noFill/>
          <a:ln w="19050">
            <a:solidFill>
              <a:srgbClr val="4F5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543175"/>
            <a:ext cx="285749" cy="285750"/>
          </a:xfrm>
          <a:prstGeom prst="ellipse">
            <a:avLst/>
          </a:prstGeom>
          <a:solidFill>
            <a:srgbClr val="4F52D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5496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4F52DD"/>
                </a:solidFill>
                <a:latin typeface="Poppins"/>
                <a:ea typeface="PingFang SC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667000"/>
            <a:ext cx="76199" cy="76200"/>
          </a:xfrm>
          <a:prstGeom prst="ellipse">
            <a:avLst/>
          </a:prstGeom>
          <a:solidFill>
            <a:srgbClr val="4F52DD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2446781"/>
            <a:ext cx="1328737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理论意义：探索大语言模型共情对话在校园细分场景中的边界与规范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628900"/>
            <a:ext cx="57149" cy="114300"/>
          </a:xfrm>
          <a:noFill/>
          <a:ln w="25400">
            <a:solidFill>
              <a:srgbClr val="4F5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31622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95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3162299"/>
            <a:ext cx="38099" cy="723900"/>
          </a:xfrm>
          <a:prstGeom prst="roundRect">
            <a:avLst/>
          </a:prstGeom>
          <a:solidFill>
            <a:srgbClr val="959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3314700"/>
            <a:ext cx="419099" cy="419100"/>
          </a:xfrm>
          <a:prstGeom prst="ellipse">
            <a:avLst/>
          </a:prstGeom>
          <a:noFill/>
          <a:ln w="19050">
            <a:solidFill>
              <a:srgbClr val="95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3381375"/>
            <a:ext cx="285749" cy="285750"/>
          </a:xfrm>
          <a:prstGeom prst="ellipse">
            <a:avLst/>
          </a:prstGeom>
          <a:solidFill>
            <a:srgbClr val="9598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33878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8184FF"/>
                </a:solidFill>
                <a:latin typeface="Poppins"/>
                <a:ea typeface="PingFang SC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505199"/>
            <a:ext cx="76199" cy="76200"/>
          </a:xfrm>
          <a:prstGeom prst="ellipse">
            <a:avLst/>
          </a:prstGeom>
          <a:solidFill>
            <a:srgbClr val="9598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3284982"/>
            <a:ext cx="1243012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教育意义：项目本身即是心理学与计算机专业学生的跨学科实践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467100"/>
            <a:ext cx="57149" cy="114300"/>
          </a:xfrm>
          <a:noFill/>
          <a:ln w="25400">
            <a:solidFill>
              <a:srgbClr val="95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40005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4000500"/>
            <a:ext cx="38099" cy="723900"/>
          </a:xfrm>
          <a:prstGeom prst="roundRect">
            <a:avLst/>
          </a:prstGeom>
          <a:solidFill>
            <a:srgbClr val="6D70F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4152899"/>
            <a:ext cx="419099" cy="419100"/>
          </a:xfrm>
          <a:prstGeom prst="ellipse">
            <a:avLst/>
          </a:prstGeom>
          <a:noFill/>
          <a:ln w="1905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4219575"/>
            <a:ext cx="285749" cy="285750"/>
          </a:xfrm>
          <a:prstGeom prst="ellipse">
            <a:avLst/>
          </a:prstGeom>
          <a:solidFill>
            <a:srgbClr val="6D70F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4226051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8184FF"/>
                </a:solidFill>
                <a:latin typeface="Poppins"/>
                <a:ea typeface="PingFang SC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4343400"/>
            <a:ext cx="76199" cy="76200"/>
          </a:xfrm>
          <a:prstGeom prst="ellipse">
            <a:avLst/>
          </a:prstGeom>
          <a:solidFill>
            <a:srgbClr val="6D70FB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4123181"/>
            <a:ext cx="1157287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社会价值：形成可复制、可移交的校园心理数字化服务范式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4305300"/>
            <a:ext cx="57149" cy="114300"/>
          </a:xfrm>
          <a:noFill/>
          <a:ln w="2540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6366F1">
                  <a:alpha val="15000"/>
                </a:srgbClr>
              </a:gs>
              <a:gs pos="100000">
                <a:srgbClr val="6366F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8B8EFF">
                  <a:alpha val="10000"/>
                </a:srgbClr>
              </a:gs>
              <a:gs pos="100000">
                <a:srgbClr val="8B8E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6366F1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6366F1">
                  <a:alpha val="40000"/>
                </a:srgbClr>
              </a:gs>
              <a:gs pos="50000">
                <a:srgbClr val="6366F1">
                  <a:alpha val="90000"/>
                </a:srgbClr>
              </a:gs>
              <a:gs pos="100000">
                <a:srgbClr val="6366F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A4485">
                    <a:alpha val="70000"/>
                  </a:srgbClr>
                </a:solidFill>
                <a:latin typeface="Poppins"/>
                <a:ea typeface="PingFang SC"/>
              </a:rPr>
              <a:t>04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E1B4B"/>
                </a:solidFill>
                <a:latin typeface="Poppins"/>
                <a:ea typeface="PingFang SC"/>
              </a:rPr>
              <a:t>研究现状与空白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6366F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1219200"/>
          </a:xfrm>
          <a:prstGeom prst="roundRect">
            <a:avLst/>
          </a:prstGeom>
          <a:solidFill>
            <a:srgbClr val="6366F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390650"/>
            <a:ext cx="419099" cy="419100"/>
          </a:xfrm>
          <a:prstGeom prst="ellipse">
            <a:avLst/>
          </a:prstGeom>
          <a:noFill/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457325"/>
            <a:ext cx="285749" cy="285750"/>
          </a:xfrm>
          <a:prstGeom prst="ellipse">
            <a:avLst/>
          </a:prstGeom>
          <a:solidFill>
            <a:srgbClr val="6366F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4638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8184FF"/>
                </a:solidFill>
                <a:latin typeface="Poppins"/>
                <a:ea typeface="PingFang SC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6366F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2880181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国外：Woebot、Wysa 等认知行为疗法聊天机器人已有随机对照试</a:t>
            </a:r>
          </a:p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验证据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543050"/>
            <a:ext cx="57149" cy="114300"/>
          </a:xfrm>
          <a:noFill/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23241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454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2324100"/>
            <a:ext cx="38099" cy="723900"/>
          </a:xfrm>
          <a:prstGeom prst="roundRect">
            <a:avLst/>
          </a:prstGeom>
          <a:solidFill>
            <a:srgbClr val="4548D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2476499"/>
            <a:ext cx="419099" cy="419100"/>
          </a:xfrm>
          <a:prstGeom prst="ellipse">
            <a:avLst/>
          </a:prstGeom>
          <a:noFill/>
          <a:ln w="19050">
            <a:solidFill>
              <a:srgbClr val="454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543175"/>
            <a:ext cx="285749" cy="285750"/>
          </a:xfrm>
          <a:prstGeom prst="ellipse">
            <a:avLst/>
          </a:prstGeom>
          <a:solidFill>
            <a:srgbClr val="4548D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5496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4548D3"/>
                </a:solidFill>
                <a:latin typeface="Poppins"/>
                <a:ea typeface="PingFang SC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667000"/>
            <a:ext cx="76199" cy="76200"/>
          </a:xfrm>
          <a:prstGeom prst="ellipse">
            <a:avLst/>
          </a:prstGeom>
          <a:solidFill>
            <a:srgbClr val="4548D3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2446781"/>
            <a:ext cx="12322968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国内：通用心理助手 App 多面向社会用户，缺乏校园场景适配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628900"/>
            <a:ext cx="57149" cy="114300"/>
          </a:xfrm>
          <a:noFill/>
          <a:ln w="25400">
            <a:solidFill>
              <a:srgbClr val="454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31622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8B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3162299"/>
            <a:ext cx="38099" cy="723900"/>
          </a:xfrm>
          <a:prstGeom prst="roundRect">
            <a:avLst/>
          </a:prstGeom>
          <a:solidFill>
            <a:srgbClr val="8B8E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3314700"/>
            <a:ext cx="419099" cy="419100"/>
          </a:xfrm>
          <a:prstGeom prst="ellipse">
            <a:avLst/>
          </a:prstGeom>
          <a:noFill/>
          <a:ln w="19050">
            <a:solidFill>
              <a:srgbClr val="8B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3381375"/>
            <a:ext cx="285749" cy="285750"/>
          </a:xfrm>
          <a:prstGeom prst="ellipse">
            <a:avLst/>
          </a:prstGeom>
          <a:solidFill>
            <a:srgbClr val="8B8E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33878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8184FF"/>
                </a:solidFill>
                <a:latin typeface="Poppins"/>
                <a:ea typeface="PingFang SC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505199"/>
            <a:ext cx="76199" cy="76200"/>
          </a:xfrm>
          <a:prstGeom prst="ellipse">
            <a:avLst/>
          </a:prstGeom>
          <a:solidFill>
            <a:srgbClr val="8B8E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3284982"/>
            <a:ext cx="1243012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高校实践：多停留在测评量表线上化，对话式陪伴产品近乎空白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467100"/>
            <a:ext cx="57149" cy="114300"/>
          </a:xfrm>
          <a:noFill/>
          <a:ln w="25400">
            <a:solidFill>
              <a:srgbClr val="8B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4000500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4000500"/>
            <a:ext cx="38099" cy="1219200"/>
          </a:xfrm>
          <a:prstGeom prst="roundRect">
            <a:avLst/>
          </a:prstGeom>
          <a:solidFill>
            <a:srgbClr val="6366F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4400550"/>
            <a:ext cx="419099" cy="419100"/>
          </a:xfrm>
          <a:prstGeom prst="ellipse">
            <a:avLst/>
          </a:prstGeom>
          <a:noFill/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4467224"/>
            <a:ext cx="285749" cy="285750"/>
          </a:xfrm>
          <a:prstGeom prst="ellipse">
            <a:avLst/>
          </a:prstGeom>
          <a:solidFill>
            <a:srgbClr val="6366F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44737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8184FF"/>
                </a:solidFill>
                <a:latin typeface="Poppins"/>
                <a:ea typeface="PingFang SC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4343400"/>
            <a:ext cx="76199" cy="76200"/>
          </a:xfrm>
          <a:prstGeom prst="ellipse">
            <a:avLst/>
          </a:prstGeom>
          <a:solidFill>
            <a:srgbClr val="6366F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4123181"/>
            <a:ext cx="13287375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研究空白：缺少针对中国大学生语境（学业、宿舍、就业）的对话语</a:t>
            </a:r>
          </a:p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料与安全规范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4552949"/>
            <a:ext cx="57149" cy="114300"/>
          </a:xfrm>
          <a:noFill/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2899" y="2819399"/>
            <a:ext cx="3524249" cy="212407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24349" y="2819399"/>
            <a:ext cx="3524249" cy="212407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05799" y="2819399"/>
            <a:ext cx="3524249" cy="212407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6D70FB">
                  <a:alpha val="15000"/>
                </a:srgbClr>
              </a:gs>
              <a:gs pos="100000">
                <a:srgbClr val="6D7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9598FF">
                  <a:alpha val="10000"/>
                </a:srgbClr>
              </a:gs>
              <a:gs pos="100000">
                <a:srgbClr val="959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6D70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6D70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6D70FB">
                  <a:alpha val="40000"/>
                </a:srgbClr>
              </a:gs>
              <a:gs pos="50000">
                <a:srgbClr val="6D70FB">
                  <a:alpha val="90000"/>
                </a:srgbClr>
              </a:gs>
              <a:gs pos="100000">
                <a:srgbClr val="6D70FB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A4485">
                    <a:alpha val="70000"/>
                  </a:srgbClr>
                </a:solidFill>
                <a:latin typeface="Poppins"/>
                <a:ea typeface="PingFang SC"/>
              </a:rPr>
              <a:t>05 /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9" y="387476"/>
            <a:ext cx="11391899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75" b="1">
                <a:solidFill>
                  <a:srgbClr val="6D70FB"/>
                </a:solidFill>
                <a:latin typeface="Poppins"/>
                <a:ea typeface="PingFang SC"/>
              </a:rPr>
              <a:t>PROCESS → 3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9" y="48691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E1B4B"/>
                </a:solidFill>
                <a:latin typeface="Poppins"/>
                <a:ea typeface="PingFang SC"/>
              </a:rPr>
              <a:t>核心创新点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899" y="2819399"/>
            <a:ext cx="3524249" cy="2124075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899" y="2819399"/>
            <a:ext cx="38099" cy="2124075"/>
          </a:xfrm>
          <a:prstGeom prst="rect">
            <a:avLst/>
          </a:prstGeom>
          <a:solidFill>
            <a:srgbClr val="6D7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2899" y="2819399"/>
            <a:ext cx="3524249" cy="212407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0524" y="2867025"/>
            <a:ext cx="3428999" cy="2028825"/>
          </a:xfrm>
          <a:prstGeom prst="roundRect">
            <a:avLst/>
          </a:prstGeom>
          <a:noFill/>
          <a:ln w="1270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14524" y="3047999"/>
            <a:ext cx="380999" cy="380999"/>
          </a:xfrm>
          <a:prstGeom prst="ellipse">
            <a:avLst/>
          </a:prstGeom>
          <a:noFill/>
          <a:ln w="1524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71674" y="3105149"/>
            <a:ext cx="266699" cy="266699"/>
          </a:xfrm>
          <a:prstGeom prst="ellipse">
            <a:avLst/>
          </a:prstGeom>
          <a:solidFill>
            <a:srgbClr val="6D7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9984" y="3058287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1E1B4B"/>
                </a:solidFill>
                <a:latin typeface="Poppins"/>
                <a:ea typeface="PingFang SC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68" y="3867911"/>
            <a:ext cx="4024312" cy="9286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0">
                <a:solidFill>
                  <a:srgbClr val="1E1B4B"/>
                </a:solidFill>
                <a:latin typeface="Poppins"/>
                <a:ea typeface="PingFang SC"/>
              </a:rPr>
              <a:t>场景语料创新：构建考试</a:t>
            </a:r>
          </a:p>
          <a:p>
            <a:pPr algn="ctr"/>
            <a:r>
              <a:rPr sz="1950" b="0">
                <a:solidFill>
                  <a:srgbClr val="1E1B4B"/>
                </a:solidFill>
                <a:latin typeface="Poppins"/>
                <a:ea typeface="PingFang SC"/>
              </a:rPr>
              <a:t>周、宿舍关系、就业焦虑等</a:t>
            </a:r>
          </a:p>
          <a:p>
            <a:pPr algn="ctr"/>
            <a:r>
              <a:rPr sz="1950" b="0">
                <a:solidFill>
                  <a:srgbClr val="1E1B4B"/>
                </a:solidFill>
                <a:latin typeface="Poppins"/>
                <a:ea typeface="PingFang SC"/>
              </a:rPr>
              <a:t>8 类校园情境对话语料库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81449" y="3876674"/>
            <a:ext cx="228600" cy="0"/>
          </a:xfrm>
          <a:prstGeom prst="line">
            <a:avLst/>
          </a:prstGeom>
          <a:ln w="31750">
            <a:solidFill>
              <a:srgbClr val="6D70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981449" y="3876674"/>
            <a:ext cx="228600" cy="0"/>
          </a:xfrm>
          <a:prstGeom prst="line">
            <a:avLst/>
          </a:prstGeom>
          <a:ln w="15240">
            <a:solidFill>
              <a:srgbClr val="F5F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custGeom>
            <a:pathLst>
              <a:path w="209549" h="95249">
                <a:moveTo>
                  <a:pt x="0" y="0"/>
                </a:moveTo>
                <a:lnTo>
                  <a:pt x="209549" y="47624"/>
                </a:lnTo>
                <a:lnTo>
                  <a:pt x="0" y="95249"/>
                </a:lnTo>
                <a:close/>
              </a:path>
            </a:pathLst>
          </a:custGeom>
          <a:xfrm>
            <a:off x="4210049" y="3829050"/>
            <a:ext cx="209549" cy="95249"/>
          </a:xfrm>
          <a:solidFill>
            <a:srgbClr val="6D70F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24349" y="2819399"/>
            <a:ext cx="3524249" cy="2124075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24349" y="2819399"/>
            <a:ext cx="38099" cy="2124075"/>
          </a:xfrm>
          <a:prstGeom prst="rect">
            <a:avLst/>
          </a:prstGeom>
          <a:solidFill>
            <a:srgbClr val="454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24349" y="2819399"/>
            <a:ext cx="3524249" cy="212407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454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71974" y="2867025"/>
            <a:ext cx="3428999" cy="2028825"/>
          </a:xfrm>
          <a:prstGeom prst="roundRect">
            <a:avLst/>
          </a:prstGeom>
          <a:noFill/>
          <a:ln w="12700">
            <a:solidFill>
              <a:srgbClr val="454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95974" y="3047999"/>
            <a:ext cx="380999" cy="380999"/>
          </a:xfrm>
          <a:prstGeom prst="ellipse">
            <a:avLst/>
          </a:prstGeom>
          <a:noFill/>
          <a:ln w="15240">
            <a:solidFill>
              <a:srgbClr val="454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53124" y="3105149"/>
            <a:ext cx="266699" cy="266699"/>
          </a:xfrm>
          <a:prstGeom prst="ellipse">
            <a:avLst/>
          </a:prstGeom>
          <a:solidFill>
            <a:srgbClr val="454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1434" y="3058287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F5F3FF"/>
                </a:solidFill>
                <a:latin typeface="Poppins"/>
                <a:ea typeface="PingFang SC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2646" y="3865625"/>
            <a:ext cx="4107656" cy="8215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25" b="0">
                <a:solidFill>
                  <a:srgbClr val="1E1B4B"/>
                </a:solidFill>
                <a:latin typeface="Poppins"/>
                <a:ea typeface="PingFang SC"/>
              </a:rPr>
              <a:t>安全机制创新：三级风险分层（</a:t>
            </a:r>
          </a:p>
          <a:p>
            <a:pPr algn="ctr"/>
            <a:r>
              <a:rPr sz="1725" b="0">
                <a:solidFill>
                  <a:srgbClr val="1E1B4B"/>
                </a:solidFill>
                <a:latin typeface="Poppins"/>
                <a:ea typeface="PingFang SC"/>
              </a:rPr>
              <a:t>日常倾诉 / 持续低落 / 危机</a:t>
            </a:r>
          </a:p>
          <a:p>
            <a:pPr algn="ctr"/>
            <a:r>
              <a:rPr sz="1725" b="0">
                <a:solidFill>
                  <a:srgbClr val="1E1B4B"/>
                </a:solidFill>
                <a:latin typeface="Poppins"/>
                <a:ea typeface="PingFang SC"/>
              </a:rPr>
              <a:t>信号），高风险自动转介人工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962899" y="3876674"/>
            <a:ext cx="228600" cy="0"/>
          </a:xfrm>
          <a:prstGeom prst="line">
            <a:avLst/>
          </a:prstGeom>
          <a:ln w="31750">
            <a:solidFill>
              <a:srgbClr val="454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962899" y="3876674"/>
            <a:ext cx="228600" cy="0"/>
          </a:xfrm>
          <a:prstGeom prst="line">
            <a:avLst/>
          </a:prstGeom>
          <a:ln w="15240">
            <a:solidFill>
              <a:srgbClr val="F5F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custGeom>
            <a:pathLst>
              <a:path w="209549" h="95249">
                <a:moveTo>
                  <a:pt x="0" y="0"/>
                </a:moveTo>
                <a:lnTo>
                  <a:pt x="209549" y="47624"/>
                </a:lnTo>
                <a:lnTo>
                  <a:pt x="0" y="95249"/>
                </a:lnTo>
                <a:close/>
              </a:path>
            </a:pathLst>
          </a:custGeom>
          <a:xfrm>
            <a:off x="8191499" y="3829050"/>
            <a:ext cx="209549" cy="95249"/>
          </a:xfrm>
          <a:solidFill>
            <a:srgbClr val="4548D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05799" y="2819399"/>
            <a:ext cx="3524249" cy="2124075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05799" y="2819399"/>
            <a:ext cx="38099" cy="2124075"/>
          </a:xfrm>
          <a:prstGeom prst="rect">
            <a:avLst/>
          </a:prstGeom>
          <a:solidFill>
            <a:srgbClr val="9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05799" y="2819399"/>
            <a:ext cx="3524249" cy="212407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9F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53424" y="2867025"/>
            <a:ext cx="3428999" cy="2028825"/>
          </a:xfrm>
          <a:prstGeom prst="roundRect">
            <a:avLst/>
          </a:prstGeom>
          <a:noFill/>
          <a:ln w="12700">
            <a:solidFill>
              <a:srgbClr val="9F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877424" y="3047999"/>
            <a:ext cx="380999" cy="380999"/>
          </a:xfrm>
          <a:prstGeom prst="ellipse">
            <a:avLst/>
          </a:prstGeom>
          <a:noFill/>
          <a:ln w="15240">
            <a:solidFill>
              <a:srgbClr val="9F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934574" y="3105149"/>
            <a:ext cx="266699" cy="266699"/>
          </a:xfrm>
          <a:prstGeom prst="ellipse">
            <a:avLst/>
          </a:prstGeom>
          <a:solidFill>
            <a:srgbClr val="9F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42884" y="3058287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1E1B4B"/>
                </a:solidFill>
                <a:latin typeface="Poppins"/>
                <a:ea typeface="PingFang SC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9112" y="3868673"/>
            <a:ext cx="3857625" cy="964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25" b="0">
                <a:solidFill>
                  <a:srgbClr val="1E1B4B"/>
                </a:solidFill>
                <a:latin typeface="Poppins"/>
                <a:ea typeface="PingFang SC"/>
              </a:rPr>
              <a:t>隐私架构创新：对话端侧</a:t>
            </a:r>
          </a:p>
          <a:p>
            <a:pPr algn="ctr"/>
            <a:r>
              <a:rPr sz="2025" b="0">
                <a:solidFill>
                  <a:srgbClr val="1E1B4B"/>
                </a:solidFill>
                <a:latin typeface="Poppins"/>
                <a:ea typeface="PingFang SC"/>
              </a:rPr>
              <a:t>脱敏加校内私有化部署，</a:t>
            </a:r>
          </a:p>
          <a:p>
            <a:pPr algn="ctr"/>
            <a:r>
              <a:rPr sz="2025" b="0">
                <a:solidFill>
                  <a:srgbClr val="1E1B4B"/>
                </a:solidFill>
                <a:latin typeface="Poppins"/>
                <a:ea typeface="PingFang SC"/>
              </a:rPr>
              <a:t>数据不出校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6366F1">
                  <a:alpha val="15000"/>
                </a:srgbClr>
              </a:gs>
              <a:gs pos="100000">
                <a:srgbClr val="6366F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8B8EFF">
                  <a:alpha val="10000"/>
                </a:srgbClr>
              </a:gs>
              <a:gs pos="100000">
                <a:srgbClr val="8B8E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6366F1">
                  <a:alpha val="40000"/>
                </a:srgbClr>
              </a:gs>
              <a:gs pos="50000">
                <a:srgbClr val="6366F1">
                  <a:alpha val="90000"/>
                </a:srgbClr>
              </a:gs>
              <a:gs pos="100000">
                <a:srgbClr val="6366F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A4485">
                    <a:alpha val="70000"/>
                  </a:srgbClr>
                </a:solidFill>
                <a:latin typeface="Poppins"/>
                <a:ea typeface="PingFang SC"/>
              </a:rPr>
              <a:t>06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1E1B4B"/>
                </a:solidFill>
                <a:latin typeface="Poppins"/>
                <a:ea typeface="PingFang SC"/>
              </a:rPr>
              <a:t>实施方案：总体技术路线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6366F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899" y="1352549"/>
            <a:ext cx="5629274" cy="173355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515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399" y="1536192"/>
            <a:ext cx="112013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5154DF"/>
                </a:solidFill>
                <a:latin typeface="Poppins"/>
                <a:ea typeface="PingFang SC"/>
              </a:rPr>
              <a:t>✓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399" y="1863089"/>
            <a:ext cx="5715000" cy="4762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1E1B4B"/>
                </a:solidFill>
                <a:latin typeface="Poppins"/>
                <a:ea typeface="PingFang SC"/>
              </a:rPr>
              <a:t>语料构建：文献案例改编加心理中心督导审核，形成</a:t>
            </a:r>
          </a:p>
          <a:p>
            <a:r>
              <a:rPr sz="1499" b="1">
                <a:solidFill>
                  <a:srgbClr val="1E1B4B"/>
                </a:solidFill>
                <a:latin typeface="Poppins"/>
                <a:ea typeface="PingFang SC"/>
              </a:rPr>
              <a:t>5,000 组标注对话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9824" y="1352549"/>
            <a:ext cx="5629274" cy="173355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0324" y="1536192"/>
            <a:ext cx="5324474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8184FF"/>
                </a:solidFill>
                <a:latin typeface="Poppins"/>
                <a:ea typeface="PingFang SC"/>
              </a:rPr>
              <a:t>✓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4" y="1863089"/>
            <a:ext cx="6191249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1E1B4B"/>
                </a:solidFill>
                <a:latin typeface="Poppins"/>
                <a:ea typeface="PingFang SC"/>
              </a:rPr>
              <a:t>模型微调：在开源大模型基座上进行指令微调与安全对齐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899" y="3333749"/>
            <a:ext cx="5629274" cy="173355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75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399" y="3517392"/>
            <a:ext cx="112013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8184FF"/>
                </a:solidFill>
                <a:latin typeface="Poppins"/>
                <a:ea typeface="PingFang SC"/>
              </a:rPr>
              <a:t>✓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399" y="3844290"/>
            <a:ext cx="6191249" cy="4762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1E1B4B"/>
                </a:solidFill>
                <a:latin typeface="Poppins"/>
                <a:ea typeface="PingFang SC"/>
              </a:rPr>
              <a:t>系统开发：小程序前端、校内服务器推理后端、管理端预</a:t>
            </a:r>
          </a:p>
          <a:p>
            <a:r>
              <a:rPr sz="1499" b="1">
                <a:solidFill>
                  <a:srgbClr val="1E1B4B"/>
                </a:solidFill>
                <a:latin typeface="Poppins"/>
                <a:ea typeface="PingFang SC"/>
              </a:rPr>
              <a:t>警看板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9824" y="3333749"/>
            <a:ext cx="5629274" cy="173355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87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0324" y="3517392"/>
            <a:ext cx="5324474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8184FF"/>
                </a:solidFill>
                <a:latin typeface="Poppins"/>
                <a:ea typeface="PingFang SC"/>
              </a:rPr>
              <a:t>✓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0324" y="3844290"/>
            <a:ext cx="6715124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1E1B4B"/>
                </a:solidFill>
                <a:latin typeface="Poppins"/>
                <a:ea typeface="PingFang SC"/>
              </a:rPr>
              <a:t>试点评估：500 名志愿者灰度试点，量表前后测对照评估效果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6D70FB">
                  <a:alpha val="15000"/>
                </a:srgbClr>
              </a:gs>
              <a:gs pos="100000">
                <a:srgbClr val="6D7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9598FF">
                  <a:alpha val="10000"/>
                </a:srgbClr>
              </a:gs>
              <a:gs pos="100000">
                <a:srgbClr val="959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6D70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6D70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6D70FB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6D70FB">
                  <a:alpha val="40000"/>
                </a:srgbClr>
              </a:gs>
              <a:gs pos="50000">
                <a:srgbClr val="6D70FB">
                  <a:alpha val="90000"/>
                </a:srgbClr>
              </a:gs>
              <a:gs pos="100000">
                <a:srgbClr val="6D70FB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A4485">
                    <a:alpha val="70000"/>
                  </a:srgbClr>
                </a:solidFill>
                <a:latin typeface="Poppins"/>
                <a:ea typeface="PingFang SC"/>
              </a:rPr>
              <a:t>07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E1B4B"/>
                </a:solidFill>
                <a:latin typeface="Poppins"/>
                <a:ea typeface="PingFang SC"/>
              </a:rPr>
              <a:t>关键模块设计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6D70F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723900"/>
          </a:xfrm>
          <a:prstGeom prst="roundRect">
            <a:avLst/>
          </a:prstGeom>
          <a:solidFill>
            <a:srgbClr val="6D70F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143000"/>
            <a:ext cx="419099" cy="419100"/>
          </a:xfrm>
          <a:prstGeom prst="ellipse">
            <a:avLst/>
          </a:prstGeom>
          <a:noFill/>
          <a:ln w="1905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209674"/>
            <a:ext cx="285749" cy="285750"/>
          </a:xfrm>
          <a:prstGeom prst="ellipse">
            <a:avLst/>
          </a:prstGeom>
          <a:solidFill>
            <a:srgbClr val="6D70F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2161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8184FF"/>
                </a:solidFill>
                <a:latin typeface="Poppins"/>
                <a:ea typeface="PingFang SC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6D70FB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328737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共情对话引擎：倾听、共情、引导三段式回复策略，避免说教式输出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295399"/>
            <a:ext cx="57149" cy="114300"/>
          </a:xfrm>
          <a:noFill/>
          <a:ln w="2540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18288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4F5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1828800"/>
            <a:ext cx="38099" cy="723900"/>
          </a:xfrm>
          <a:prstGeom prst="roundRect">
            <a:avLst/>
          </a:prstGeom>
          <a:solidFill>
            <a:srgbClr val="4F52D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1981199"/>
            <a:ext cx="419099" cy="419100"/>
          </a:xfrm>
          <a:prstGeom prst="ellipse">
            <a:avLst/>
          </a:prstGeom>
          <a:noFill/>
          <a:ln w="19050">
            <a:solidFill>
              <a:srgbClr val="4F5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047874"/>
            <a:ext cx="285749" cy="285750"/>
          </a:xfrm>
          <a:prstGeom prst="ellipse">
            <a:avLst/>
          </a:prstGeom>
          <a:solidFill>
            <a:srgbClr val="4F52D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0543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4F52DD"/>
                </a:solidFill>
                <a:latin typeface="Poppins"/>
                <a:ea typeface="PingFang SC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171700"/>
            <a:ext cx="76199" cy="76200"/>
          </a:xfrm>
          <a:prstGeom prst="ellipse">
            <a:avLst/>
          </a:prstGeom>
          <a:solidFill>
            <a:srgbClr val="4F52DD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1951481"/>
            <a:ext cx="1114425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风险识别模块：关键词规则与分类模型双通道，召回优先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133599"/>
            <a:ext cx="57149" cy="114300"/>
          </a:xfrm>
          <a:noFill/>
          <a:ln w="25400">
            <a:solidFill>
              <a:srgbClr val="4F5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26670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95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2667000"/>
            <a:ext cx="38099" cy="723900"/>
          </a:xfrm>
          <a:prstGeom prst="roundRect">
            <a:avLst/>
          </a:prstGeom>
          <a:solidFill>
            <a:srgbClr val="959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2819399"/>
            <a:ext cx="419099" cy="419100"/>
          </a:xfrm>
          <a:prstGeom prst="ellipse">
            <a:avLst/>
          </a:prstGeom>
          <a:noFill/>
          <a:ln w="19050">
            <a:solidFill>
              <a:srgbClr val="95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2886075"/>
            <a:ext cx="285749" cy="285750"/>
          </a:xfrm>
          <a:prstGeom prst="ellipse">
            <a:avLst/>
          </a:prstGeom>
          <a:solidFill>
            <a:srgbClr val="9598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28925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8184FF"/>
                </a:solidFill>
                <a:latin typeface="Poppins"/>
                <a:ea typeface="PingFang SC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009900"/>
            <a:ext cx="76199" cy="76200"/>
          </a:xfrm>
          <a:prstGeom prst="ellipse">
            <a:avLst/>
          </a:prstGeom>
          <a:solidFill>
            <a:srgbClr val="9598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2789681"/>
            <a:ext cx="1122997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转介闭环：高风险对话 10 分钟内推送心理中心值班老师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971800"/>
            <a:ext cx="57149" cy="114300"/>
          </a:xfrm>
          <a:noFill/>
          <a:ln w="25400">
            <a:solidFill>
              <a:srgbClr val="95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35051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3505199"/>
            <a:ext cx="38099" cy="723900"/>
          </a:xfrm>
          <a:prstGeom prst="roundRect">
            <a:avLst/>
          </a:prstGeom>
          <a:solidFill>
            <a:srgbClr val="6D70F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3657600"/>
            <a:ext cx="419099" cy="419100"/>
          </a:xfrm>
          <a:prstGeom prst="ellipse">
            <a:avLst/>
          </a:prstGeom>
          <a:noFill/>
          <a:ln w="1905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3724274"/>
            <a:ext cx="285749" cy="285750"/>
          </a:xfrm>
          <a:prstGeom prst="ellipse">
            <a:avLst/>
          </a:prstGeom>
          <a:solidFill>
            <a:srgbClr val="6D70F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37307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8184FF"/>
                </a:solidFill>
                <a:latin typeface="Poppins"/>
                <a:ea typeface="PingFang SC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3848099"/>
            <a:ext cx="76199" cy="76200"/>
          </a:xfrm>
          <a:prstGeom prst="ellipse">
            <a:avLst/>
          </a:prstGeom>
          <a:solidFill>
            <a:srgbClr val="6D70FB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3627882"/>
            <a:ext cx="102870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自助工具箱：正念音频、情绪日记、认知重构练习卡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809999"/>
            <a:ext cx="57149" cy="114300"/>
          </a:xfrm>
          <a:noFill/>
          <a:ln w="2540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6366F1">
                  <a:alpha val="15000"/>
                </a:srgbClr>
              </a:gs>
              <a:gs pos="100000">
                <a:srgbClr val="6366F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8B8EFF">
                  <a:alpha val="10000"/>
                </a:srgbClr>
              </a:gs>
              <a:gs pos="100000">
                <a:srgbClr val="8B8E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6366F1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6366F1">
                  <a:alpha val="40000"/>
                </a:srgbClr>
              </a:gs>
              <a:gs pos="50000">
                <a:srgbClr val="6366F1">
                  <a:alpha val="90000"/>
                </a:srgbClr>
              </a:gs>
              <a:gs pos="100000">
                <a:srgbClr val="6366F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A4485">
                    <a:alpha val="70000"/>
                  </a:srgbClr>
                </a:solidFill>
                <a:latin typeface="Poppins"/>
                <a:ea typeface="PingFang SC"/>
              </a:rPr>
              <a:t>08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E1B4B"/>
                </a:solidFill>
                <a:latin typeface="Poppins"/>
                <a:ea typeface="PingFang SC"/>
              </a:rPr>
              <a:t>安全与伦理机制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6366F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11506199" cy="340995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38099" cy="3409950"/>
          </a:xfrm>
          <a:prstGeom prst="roundRect">
            <a:avLst/>
          </a:prstGeom>
          <a:solidFill>
            <a:srgbClr val="6366F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1695449"/>
            <a:ext cx="76199" cy="76200"/>
          </a:xfrm>
          <a:solidFill>
            <a:srgbClr val="6366F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699" y="1608582"/>
            <a:ext cx="1208722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A4485"/>
                </a:solidFill>
                <a:latin typeface="Poppins"/>
                <a:ea typeface="PingFang SC"/>
              </a:rPr>
              <a:t>知情同意：首次使用明确告知 AI 身份、能力边界与数据用途</a:t>
            </a:r>
          </a:p>
        </p:txBody>
      </p:sp>
      <p:sp>
        <p:nvSpPr>
          <p:cNvPr id="16" name="Rectangle 15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2381250"/>
            <a:ext cx="76199" cy="76200"/>
          </a:xfrm>
          <a:solidFill>
            <a:srgbClr val="6366F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699" y="2294381"/>
            <a:ext cx="133731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A4485"/>
                </a:solidFill>
                <a:latin typeface="Poppins"/>
                <a:ea typeface="PingFang SC"/>
              </a:rPr>
              <a:t>危机兜底：自伤相关表述立即弹出 24 小时心理援助热线并转介人工</a:t>
            </a:r>
          </a:p>
        </p:txBody>
      </p:sp>
      <p:sp>
        <p:nvSpPr>
          <p:cNvPr id="18" name="Rectangle 17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067050"/>
            <a:ext cx="76199" cy="76200"/>
          </a:xfrm>
          <a:solidFill>
            <a:srgbClr val="6366F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699" y="2980181"/>
            <a:ext cx="1243012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A4485"/>
                </a:solidFill>
                <a:latin typeface="Poppins"/>
                <a:ea typeface="PingFang SC"/>
              </a:rPr>
              <a:t>督导抽检：心理中心教师每周抽检对话质量，沉淀红线负面清单</a:t>
            </a:r>
          </a:p>
        </p:txBody>
      </p:sp>
      <p:sp>
        <p:nvSpPr>
          <p:cNvPr id="20" name="Rectangle 19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752849"/>
            <a:ext cx="76199" cy="76200"/>
          </a:xfrm>
          <a:solidFill>
            <a:srgbClr val="6366F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699" y="3665981"/>
            <a:ext cx="102870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A4485"/>
                </a:solidFill>
                <a:latin typeface="Poppins"/>
                <a:ea typeface="PingFang SC"/>
              </a:rPr>
              <a:t>伦理审查：试点方案已按学校科研伦理流程提交审查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6D70FB">
                  <a:alpha val="15000"/>
                </a:srgbClr>
              </a:gs>
              <a:gs pos="100000">
                <a:srgbClr val="6D7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9598FF">
                  <a:alpha val="10000"/>
                </a:srgbClr>
              </a:gs>
              <a:gs pos="100000">
                <a:srgbClr val="959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6D70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6D70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6D70FB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6D70FB">
                  <a:alpha val="40000"/>
                </a:srgbClr>
              </a:gs>
              <a:gs pos="50000">
                <a:srgbClr val="6D70FB">
                  <a:alpha val="90000"/>
                </a:srgbClr>
              </a:gs>
              <a:gs pos="100000">
                <a:srgbClr val="6D70FB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A4485">
                    <a:alpha val="70000"/>
                  </a:srgbClr>
                </a:solidFill>
                <a:latin typeface="Poppins"/>
                <a:ea typeface="PingFang SC"/>
              </a:rPr>
              <a:t>09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E1B4B"/>
                </a:solidFill>
                <a:latin typeface="Poppins"/>
                <a:ea typeface="PingFang SC"/>
              </a:rPr>
              <a:t>进度安排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6D70F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723900"/>
          </a:xfrm>
          <a:prstGeom prst="roundRect">
            <a:avLst/>
          </a:prstGeom>
          <a:solidFill>
            <a:srgbClr val="6D70F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143000"/>
            <a:ext cx="419099" cy="419100"/>
          </a:xfrm>
          <a:prstGeom prst="ellipse">
            <a:avLst/>
          </a:prstGeom>
          <a:noFill/>
          <a:ln w="1905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209674"/>
            <a:ext cx="285749" cy="285750"/>
          </a:xfrm>
          <a:prstGeom prst="ellipse">
            <a:avLst/>
          </a:prstGeom>
          <a:solidFill>
            <a:srgbClr val="6D70F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2161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8184FF"/>
                </a:solidFill>
                <a:latin typeface="Poppins"/>
                <a:ea typeface="PingFang SC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6D70FB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9451181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2026 年 9-10 月：需求调研，语料库框架设计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295399"/>
            <a:ext cx="57149" cy="114300"/>
          </a:xfrm>
          <a:noFill/>
          <a:ln w="2540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18288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4F5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1828800"/>
            <a:ext cx="38099" cy="723900"/>
          </a:xfrm>
          <a:prstGeom prst="roundRect">
            <a:avLst/>
          </a:prstGeom>
          <a:solidFill>
            <a:srgbClr val="4F52D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1981199"/>
            <a:ext cx="419099" cy="419100"/>
          </a:xfrm>
          <a:prstGeom prst="ellipse">
            <a:avLst/>
          </a:prstGeom>
          <a:noFill/>
          <a:ln w="19050">
            <a:solidFill>
              <a:srgbClr val="4F5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047874"/>
            <a:ext cx="285749" cy="285750"/>
          </a:xfrm>
          <a:prstGeom prst="ellipse">
            <a:avLst/>
          </a:prstGeom>
          <a:solidFill>
            <a:srgbClr val="4F52D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0543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4F52DD"/>
                </a:solidFill>
                <a:latin typeface="Poppins"/>
                <a:ea typeface="PingFang SC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171700"/>
            <a:ext cx="76199" cy="76200"/>
          </a:xfrm>
          <a:prstGeom prst="ellipse">
            <a:avLst/>
          </a:prstGeom>
          <a:solidFill>
            <a:srgbClr val="4F52DD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1951481"/>
            <a:ext cx="1054417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2026 年 11-12 月：语料标注完成，模型第一轮微调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133599"/>
            <a:ext cx="57149" cy="114300"/>
          </a:xfrm>
          <a:noFill/>
          <a:ln w="25400">
            <a:solidFill>
              <a:srgbClr val="4F5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26670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95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2667000"/>
            <a:ext cx="38099" cy="723900"/>
          </a:xfrm>
          <a:prstGeom prst="roundRect">
            <a:avLst/>
          </a:prstGeom>
          <a:solidFill>
            <a:srgbClr val="959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2819399"/>
            <a:ext cx="419099" cy="419100"/>
          </a:xfrm>
          <a:prstGeom prst="ellipse">
            <a:avLst/>
          </a:prstGeom>
          <a:noFill/>
          <a:ln w="19050">
            <a:solidFill>
              <a:srgbClr val="95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2886075"/>
            <a:ext cx="285749" cy="285750"/>
          </a:xfrm>
          <a:prstGeom prst="ellipse">
            <a:avLst/>
          </a:prstGeom>
          <a:solidFill>
            <a:srgbClr val="9598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28925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8184FF"/>
                </a:solidFill>
                <a:latin typeface="Poppins"/>
                <a:ea typeface="PingFang SC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009900"/>
            <a:ext cx="76199" cy="76200"/>
          </a:xfrm>
          <a:prstGeom prst="ellipse">
            <a:avLst/>
          </a:prstGeom>
          <a:solidFill>
            <a:srgbClr val="9598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2789681"/>
            <a:ext cx="7929562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2027 年 1-3 月：系统开发与内部测试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971800"/>
            <a:ext cx="57149" cy="114300"/>
          </a:xfrm>
          <a:noFill/>
          <a:ln w="25400">
            <a:solidFill>
              <a:srgbClr val="95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35051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3505199"/>
            <a:ext cx="38099" cy="723900"/>
          </a:xfrm>
          <a:prstGeom prst="roundRect">
            <a:avLst/>
          </a:prstGeom>
          <a:solidFill>
            <a:srgbClr val="6D70F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3657600"/>
            <a:ext cx="419099" cy="419100"/>
          </a:xfrm>
          <a:prstGeom prst="ellipse">
            <a:avLst/>
          </a:prstGeom>
          <a:noFill/>
          <a:ln w="1905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3724274"/>
            <a:ext cx="285749" cy="285750"/>
          </a:xfrm>
          <a:prstGeom prst="ellipse">
            <a:avLst/>
          </a:prstGeom>
          <a:solidFill>
            <a:srgbClr val="6D70F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37307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8184FF"/>
                </a:solidFill>
                <a:latin typeface="Poppins"/>
                <a:ea typeface="PingFang SC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3848099"/>
            <a:ext cx="76199" cy="76200"/>
          </a:xfrm>
          <a:prstGeom prst="ellipse">
            <a:avLst/>
          </a:prstGeom>
          <a:solidFill>
            <a:srgbClr val="6D70FB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3627882"/>
            <a:ext cx="10587037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2027 年 4-5 月：500 人灰度试点，收集前后测数据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809999"/>
            <a:ext cx="57149" cy="114300"/>
          </a:xfrm>
          <a:noFill/>
          <a:ln w="2540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42899" y="43434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4F5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42899" y="4343400"/>
            <a:ext cx="38099" cy="723900"/>
          </a:xfrm>
          <a:prstGeom prst="roundRect">
            <a:avLst/>
          </a:prstGeom>
          <a:solidFill>
            <a:srgbClr val="4F52D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8149" y="4495799"/>
            <a:ext cx="419099" cy="419100"/>
          </a:xfrm>
          <a:prstGeom prst="ellipse">
            <a:avLst/>
          </a:prstGeom>
          <a:noFill/>
          <a:ln w="19050">
            <a:solidFill>
              <a:srgbClr val="4F5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04824" y="4562475"/>
            <a:ext cx="285749" cy="285750"/>
          </a:xfrm>
          <a:prstGeom prst="ellipse">
            <a:avLst/>
          </a:prstGeom>
          <a:solidFill>
            <a:srgbClr val="4F52D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1949" y="4568951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4F52DD"/>
                </a:solidFill>
                <a:latin typeface="Poppins"/>
                <a:ea typeface="PingFang SC"/>
              </a:rPr>
              <a:t>05</a:t>
            </a:r>
          </a:p>
        </p:txBody>
      </p:sp>
      <p:sp>
        <p:nvSpPr>
          <p:cNvPr id="49" name="Oval 48"/>
          <p:cNvSpPr/>
          <p:nvPr/>
        </p:nvSpPr>
        <p:spPr>
          <a:xfrm>
            <a:off x="1009649" y="4686300"/>
            <a:ext cx="76199" cy="76200"/>
          </a:xfrm>
          <a:prstGeom prst="ellipse">
            <a:avLst/>
          </a:prstGeom>
          <a:solidFill>
            <a:srgbClr val="4F52DD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1099" y="4466082"/>
            <a:ext cx="10929937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2027 年 6-8 月：效果评估、迭代优化、结题材料撰写</a:t>
            </a:r>
          </a:p>
        </p:txBody>
      </p:sp>
      <p:sp>
        <p:nvSpPr>
          <p:cNvPr id="51" name="Rectangle 50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4648200"/>
            <a:ext cx="57149" cy="114300"/>
          </a:xfrm>
          <a:noFill/>
          <a:ln w="25400">
            <a:solidFill>
              <a:srgbClr val="4F5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6D70FB">
                  <a:alpha val="15000"/>
                </a:srgbClr>
              </a:gs>
              <a:gs pos="100000">
                <a:srgbClr val="6D7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9598FF">
                  <a:alpha val="10000"/>
                </a:srgbClr>
              </a:gs>
              <a:gs pos="100000">
                <a:srgbClr val="959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6D70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6D70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6D70FB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6D70FB">
                  <a:alpha val="40000"/>
                </a:srgbClr>
              </a:gs>
              <a:gs pos="50000">
                <a:srgbClr val="6D70FB">
                  <a:alpha val="90000"/>
                </a:srgbClr>
              </a:gs>
              <a:gs pos="100000">
                <a:srgbClr val="6D70FB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A4485">
                    <a:alpha val="70000"/>
                  </a:srgbClr>
                </a:solidFill>
                <a:latin typeface="Poppins"/>
                <a:ea typeface="PingFang SC"/>
              </a:rPr>
              <a:t>10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E1B4B"/>
                </a:solidFill>
                <a:latin typeface="Poppins"/>
                <a:ea typeface="PingFang SC"/>
              </a:rPr>
              <a:t>预期成果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6D70F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723900"/>
          </a:xfrm>
          <a:prstGeom prst="roundRect">
            <a:avLst/>
          </a:prstGeom>
          <a:solidFill>
            <a:srgbClr val="6D70F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143000"/>
            <a:ext cx="419099" cy="419100"/>
          </a:xfrm>
          <a:prstGeom prst="ellipse">
            <a:avLst/>
          </a:prstGeom>
          <a:noFill/>
          <a:ln w="1905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209674"/>
            <a:ext cx="285749" cy="285750"/>
          </a:xfrm>
          <a:prstGeom prst="ellipse">
            <a:avLst/>
          </a:prstGeom>
          <a:solidFill>
            <a:srgbClr val="6D70F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2161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8184FF"/>
                </a:solidFill>
                <a:latin typeface="Poppins"/>
                <a:ea typeface="PingFang SC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6D70FB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2280106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可运行的「心屿」小程序原型系统 1 套（含管理端预警看板）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295399"/>
            <a:ext cx="57149" cy="114300"/>
          </a:xfrm>
          <a:noFill/>
          <a:ln w="2540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18288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4F5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1828800"/>
            <a:ext cx="38099" cy="723900"/>
          </a:xfrm>
          <a:prstGeom prst="roundRect">
            <a:avLst/>
          </a:prstGeom>
          <a:solidFill>
            <a:srgbClr val="4F52D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1981199"/>
            <a:ext cx="419099" cy="419100"/>
          </a:xfrm>
          <a:prstGeom prst="ellipse">
            <a:avLst/>
          </a:prstGeom>
          <a:noFill/>
          <a:ln w="19050">
            <a:solidFill>
              <a:srgbClr val="4F5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047874"/>
            <a:ext cx="285749" cy="285750"/>
          </a:xfrm>
          <a:prstGeom prst="ellipse">
            <a:avLst/>
          </a:prstGeom>
          <a:solidFill>
            <a:srgbClr val="4F52D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0543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4F52DD"/>
                </a:solidFill>
                <a:latin typeface="Poppins"/>
                <a:ea typeface="PingFang SC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171700"/>
            <a:ext cx="76199" cy="76200"/>
          </a:xfrm>
          <a:prstGeom prst="ellipse">
            <a:avLst/>
          </a:prstGeom>
          <a:solidFill>
            <a:srgbClr val="4F52DD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1951481"/>
            <a:ext cx="8851106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校园心理对话语料库与安全红线清单各 1 份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133599"/>
            <a:ext cx="57149" cy="114300"/>
          </a:xfrm>
          <a:noFill/>
          <a:ln w="25400">
            <a:solidFill>
              <a:srgbClr val="4F5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26670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95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2667000"/>
            <a:ext cx="38099" cy="723900"/>
          </a:xfrm>
          <a:prstGeom prst="roundRect">
            <a:avLst/>
          </a:prstGeom>
          <a:solidFill>
            <a:srgbClr val="959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2819399"/>
            <a:ext cx="419099" cy="419100"/>
          </a:xfrm>
          <a:prstGeom prst="ellipse">
            <a:avLst/>
          </a:prstGeom>
          <a:noFill/>
          <a:ln w="19050">
            <a:solidFill>
              <a:srgbClr val="95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2886075"/>
            <a:ext cx="285749" cy="285750"/>
          </a:xfrm>
          <a:prstGeom prst="ellipse">
            <a:avLst/>
          </a:prstGeom>
          <a:solidFill>
            <a:srgbClr val="9598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28925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8184FF"/>
                </a:solidFill>
                <a:latin typeface="Poppins"/>
                <a:ea typeface="PingFang SC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009900"/>
            <a:ext cx="76199" cy="76200"/>
          </a:xfrm>
          <a:prstGeom prst="ellipse">
            <a:avLst/>
          </a:prstGeom>
          <a:solidFill>
            <a:srgbClr val="9598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2789681"/>
            <a:ext cx="745807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软件著作权 1 项，学术论文 1-2 篇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971800"/>
            <a:ext cx="57149" cy="114300"/>
          </a:xfrm>
          <a:noFill/>
          <a:ln w="25400">
            <a:solidFill>
              <a:srgbClr val="95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35051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3505199"/>
            <a:ext cx="38099" cy="723900"/>
          </a:xfrm>
          <a:prstGeom prst="roundRect">
            <a:avLst/>
          </a:prstGeom>
          <a:solidFill>
            <a:srgbClr val="6D70F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3657600"/>
            <a:ext cx="419099" cy="419100"/>
          </a:xfrm>
          <a:prstGeom prst="ellipse">
            <a:avLst/>
          </a:prstGeom>
          <a:noFill/>
          <a:ln w="1905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3724274"/>
            <a:ext cx="285749" cy="285750"/>
          </a:xfrm>
          <a:prstGeom prst="ellipse">
            <a:avLst/>
          </a:prstGeom>
          <a:solidFill>
            <a:srgbClr val="6D70F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37307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8184FF"/>
                </a:solidFill>
                <a:latin typeface="Poppins"/>
                <a:ea typeface="PingFang SC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3848099"/>
            <a:ext cx="76199" cy="76200"/>
          </a:xfrm>
          <a:prstGeom prst="ellipse">
            <a:avLst/>
          </a:prstGeom>
          <a:solidFill>
            <a:srgbClr val="6D70FB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3627882"/>
            <a:ext cx="10994231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E1B4B"/>
                </a:solidFill>
                <a:latin typeface="Poppins"/>
                <a:ea typeface="PingFang SC"/>
              </a:rPr>
              <a:t>试点效果评估报告 1 份，向学校心理中心移交运行手册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809999"/>
            <a:ext cx="57149" cy="114300"/>
          </a:xfrm>
          <a:noFill/>
          <a:ln w="2540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5B5EE9">
                  <a:alpha val="15000"/>
                </a:srgbClr>
              </a:gs>
              <a:gs pos="100000">
                <a:srgbClr val="5B5EE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8386FF">
                  <a:alpha val="10000"/>
                </a:srgbClr>
              </a:gs>
              <a:gs pos="100000">
                <a:srgbClr val="8386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5B5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5B5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5B5EE9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5B5EE9">
                  <a:alpha val="40000"/>
                </a:srgbClr>
              </a:gs>
              <a:gs pos="50000">
                <a:srgbClr val="5B5EE9">
                  <a:alpha val="90000"/>
                </a:srgbClr>
              </a:gs>
              <a:gs pos="100000">
                <a:srgbClr val="5B5EE9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A4485">
                    <a:alpha val="70000"/>
                  </a:srgbClr>
                </a:solidFill>
                <a:latin typeface="Poppins"/>
                <a:ea typeface="PingFang SC"/>
              </a:rPr>
              <a:t>11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E1B4B"/>
                </a:solidFill>
                <a:latin typeface="Poppins"/>
                <a:ea typeface="PingFang SC"/>
              </a:rPr>
              <a:t>经费预算 (1/2)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5B5EE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11506199" cy="47815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5B5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38099" cy="4781549"/>
          </a:xfrm>
          <a:prstGeom prst="roundRect">
            <a:avLst/>
          </a:prstGeom>
          <a:solidFill>
            <a:srgbClr val="5B5EE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1695449"/>
            <a:ext cx="76199" cy="76200"/>
          </a:xfrm>
          <a:solidFill>
            <a:srgbClr val="5B5EE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699" y="1608582"/>
            <a:ext cx="5614987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A4485"/>
                </a:solidFill>
                <a:latin typeface="Poppins"/>
                <a:ea typeface="PingFang SC"/>
              </a:rPr>
              <a:t>科目|金额（元）|用途说明</a:t>
            </a:r>
          </a:p>
        </p:txBody>
      </p:sp>
      <p:sp>
        <p:nvSpPr>
          <p:cNvPr id="16" name="Rectangle 15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2381250"/>
            <a:ext cx="76199" cy="76200"/>
          </a:xfrm>
          <a:solidFill>
            <a:srgbClr val="5B5EE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699" y="2294381"/>
            <a:ext cx="10737056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A4485"/>
                </a:solidFill>
                <a:latin typeface="Poppins"/>
                <a:ea typeface="PingFang SC"/>
              </a:rPr>
              <a:t>云服务与设备|8,000|GPU 推理服务器租用、测试设备</a:t>
            </a:r>
          </a:p>
        </p:txBody>
      </p:sp>
      <p:sp>
        <p:nvSpPr>
          <p:cNvPr id="18" name="Rectangle 17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067050"/>
            <a:ext cx="76199" cy="76200"/>
          </a:xfrm>
          <a:solidFill>
            <a:srgbClr val="5B5EE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699" y="2980181"/>
            <a:ext cx="8508206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A4485"/>
                </a:solidFill>
                <a:latin typeface="Poppins"/>
                <a:ea typeface="PingFang SC"/>
              </a:rPr>
              <a:t>数据标注|5,000|语料标注与督导审核劳务</a:t>
            </a:r>
          </a:p>
        </p:txBody>
      </p:sp>
      <p:sp>
        <p:nvSpPr>
          <p:cNvPr id="20" name="Rectangle 19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752849"/>
            <a:ext cx="76199" cy="76200"/>
          </a:xfrm>
          <a:solidFill>
            <a:srgbClr val="5B5EE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699" y="3665981"/>
            <a:ext cx="8079581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A4485"/>
                </a:solidFill>
                <a:latin typeface="Poppins"/>
                <a:ea typeface="PingFang SC"/>
              </a:rPr>
              <a:t>试点激励|3,000|志愿者问卷与访谈补贴</a:t>
            </a:r>
          </a:p>
        </p:txBody>
      </p:sp>
      <p:sp>
        <p:nvSpPr>
          <p:cNvPr id="22" name="Rectangle 21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4438649"/>
            <a:ext cx="76199" cy="76200"/>
          </a:xfrm>
          <a:solidFill>
            <a:srgbClr val="5B5EE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699" y="4351782"/>
            <a:ext cx="8079581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A4485"/>
                </a:solidFill>
                <a:latin typeface="Poppins"/>
                <a:ea typeface="PingFang SC"/>
              </a:rPr>
              <a:t>调研差旅|2,000|兄弟院校心理中心调研</a:t>
            </a:r>
          </a:p>
        </p:txBody>
      </p:sp>
      <p:sp>
        <p:nvSpPr>
          <p:cNvPr id="24" name="Rectangle 23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5124449"/>
            <a:ext cx="76199" cy="76200"/>
          </a:xfrm>
          <a:solidFill>
            <a:srgbClr val="5B5EE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699" y="5037582"/>
            <a:ext cx="7650956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A4485"/>
                </a:solidFill>
                <a:latin typeface="Poppins"/>
                <a:ea typeface="PingFang SC"/>
              </a:rPr>
              <a:t>资料印刷|2,000|文献资料与结题材料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5B5EE9">
                  <a:alpha val="15000"/>
                </a:srgbClr>
              </a:gs>
              <a:gs pos="100000">
                <a:srgbClr val="5B5EE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8386FF">
                  <a:alpha val="10000"/>
                </a:srgbClr>
              </a:gs>
              <a:gs pos="100000">
                <a:srgbClr val="8386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5B5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5B5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5B5EE9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5B5EE9">
                  <a:alpha val="40000"/>
                </a:srgbClr>
              </a:gs>
              <a:gs pos="50000">
                <a:srgbClr val="5B5EE9">
                  <a:alpha val="90000"/>
                </a:srgbClr>
              </a:gs>
              <a:gs pos="100000">
                <a:srgbClr val="5B5EE9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A4485">
                    <a:alpha val="70000"/>
                  </a:srgbClr>
                </a:solidFill>
                <a:latin typeface="Poppins"/>
                <a:ea typeface="PingFang SC"/>
              </a:rPr>
              <a:t>12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E1B4B"/>
                </a:solidFill>
                <a:latin typeface="Poppins"/>
                <a:ea typeface="PingFang SC"/>
              </a:rPr>
              <a:t>经费预算 (2/2)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5B5EE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11506199" cy="30861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5B5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38099" cy="3086100"/>
          </a:xfrm>
          <a:prstGeom prst="roundRect">
            <a:avLst/>
          </a:prstGeom>
          <a:solidFill>
            <a:srgbClr val="5B5EE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1695449"/>
            <a:ext cx="76199" cy="76200"/>
          </a:xfrm>
          <a:solidFill>
            <a:srgbClr val="5B5EE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699" y="1608582"/>
            <a:ext cx="831532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A4485"/>
                </a:solidFill>
                <a:latin typeface="Poppins"/>
                <a:ea typeface="PingFang SC"/>
              </a:rPr>
              <a:t>合计|20,000|与国家级大创资助额度匹配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6D70FB">
                  <a:alpha val="15000"/>
                </a:srgbClr>
              </a:gs>
              <a:gs pos="100000">
                <a:srgbClr val="6D7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9598FF">
                  <a:alpha val="10000"/>
                </a:srgbClr>
              </a:gs>
              <a:gs pos="100000">
                <a:srgbClr val="9598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6D70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6D70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-1447799" y="-1047749"/>
            <a:ext cx="3047999" cy="3047999"/>
          </a:xfrm>
          <a:prstGeom prst="ellipse">
            <a:avLst/>
          </a:prstGeom>
          <a:noFill/>
          <a:ln w="1524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647699" y="-1047749"/>
            <a:ext cx="3047999" cy="3047999"/>
          </a:xfrm>
          <a:prstGeom prst="ellipse">
            <a:avLst/>
          </a:prstGeom>
          <a:noFill/>
          <a:ln w="1524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custGeom>
            <a:pathLst>
              <a:path w="9591674" h="95">
                <a:moveTo>
                  <a:pt x="0" y="0"/>
                </a:moveTo>
                <a:lnTo>
                  <a:pt x="9591674" y="0"/>
                </a:lnTo>
              </a:path>
            </a:pathLst>
          </a:custGeom>
          <a:xfrm>
            <a:off x="1304924" y="4819650"/>
            <a:ext cx="9591674" cy="95"/>
          </a:xfrm>
          <a:noFill/>
          <a:ln w="1905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6D70FB">
                  <a:alpha val="40000"/>
                </a:srgbClr>
              </a:gs>
              <a:gs pos="50000">
                <a:srgbClr val="6D70FB">
                  <a:alpha val="90000"/>
                </a:srgbClr>
              </a:gs>
              <a:gs pos="100000">
                <a:srgbClr val="6D70FB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A4485">
                    <a:alpha val="70000"/>
                  </a:srgbClr>
                </a:solidFill>
                <a:latin typeface="Poppins"/>
                <a:ea typeface="PingFang SC"/>
              </a:rPr>
              <a:t>13 / 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074" y="1714500"/>
            <a:ext cx="10239374" cy="34290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90000"/>
                </a:srgbClr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7274" y="1790700"/>
            <a:ext cx="10086974" cy="327659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524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24499" y="2019299"/>
            <a:ext cx="1142999" cy="228600"/>
          </a:xfrm>
          <a:prstGeom prst="roundRect">
            <a:avLst/>
          </a:prstGeom>
          <a:solidFill>
            <a:srgbClr val="6D70FB">
              <a:alpha val="10000"/>
            </a:srgbClr>
          </a:solidFill>
          <a:ln w="12700">
            <a:solidFill>
              <a:srgbClr val="6D7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999" y="2005203"/>
            <a:ext cx="1346001" cy="226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25" b="1">
                <a:solidFill>
                  <a:srgbClr val="6D70FB"/>
                </a:solidFill>
                <a:latin typeface="Poppins"/>
                <a:ea typeface="PingFang SC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8718" y="2552319"/>
            <a:ext cx="2214562" cy="7381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4649" b="1">
                <a:solidFill>
                  <a:srgbClr val="1E1B4B"/>
                </a:solidFill>
                <a:latin typeface="Poppins"/>
                <a:ea typeface="PingFang SC"/>
              </a:rPr>
              <a:t>结语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151" y="3426713"/>
            <a:ext cx="10909696" cy="10477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4A4485"/>
                </a:solidFill>
                <a:latin typeface="Poppins"/>
                <a:ea typeface="PingFang SC"/>
              </a:rPr>
              <a:t>我们不做"替代咨询师"的 AI，而做"陪学生走到咨询室门口"的桥。</a:t>
            </a:r>
          </a:p>
          <a:p>
            <a:pPr algn="ctr"/>
            <a:r>
              <a:rPr sz="1650" b="0">
                <a:solidFill>
                  <a:srgbClr val="4A4485"/>
                </a:solidFill>
                <a:latin typeface="Poppins"/>
                <a:ea typeface="PingFang SC"/>
              </a:rPr>
              <a:t>团队 5 人覆盖应用心理学、计算机、交互设计三个专业，指导教师为校心理中心专职咨询师</a:t>
            </a:r>
          </a:p>
          <a:p>
            <a:pPr algn="ctr"/>
            <a:r>
              <a:rPr sz="1650" b="0">
                <a:solidFill>
                  <a:srgbClr val="4A4485"/>
                </a:solidFill>
                <a:latin typeface="Poppins"/>
                <a:ea typeface="PingFang SC"/>
              </a:rPr>
              <a:t>。</a:t>
            </a:r>
          </a:p>
          <a:p>
            <a:pPr algn="ctr"/>
            <a:r>
              <a:rPr sz="1650" b="0">
                <a:solidFill>
                  <a:srgbClr val="4A4485"/>
                </a:solidFill>
                <a:latin typeface="Poppins"/>
                <a:ea typeface="PingFang SC"/>
              </a:rPr>
              <a:t>恳请各位评审专家批评指正！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