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各位评委老师好。我们汇报的作品是《基于多源数据融合的城市内涝风险评估研究》，来自城市水安全研究小组。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为什么做内涝？全国每年因内涝直接损失超过 1600 亿元，研究区 Z 市的小时强降雨事件五年间翻了一倍多。传统"重末端、轻预警"的治理模式，应对不了短历时强降雨。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我们的科学问题是：多源异构数据如何融合，动态评估街区尺度的内涝风险。落到实践上，就是给防汛指挥提供提前两小时的分级预警。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现状梳理下来：水动力模拟算得准但算不快，指数法快但是静态的，机器学习方法普遍忽略管网拓扑。这就是我们的切入点。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这张表是文献综述的浓缩：三类方法各有局限，我们用 XGBoost 加图卷积融合五类多源数据，专门补拓扑建模这个短板。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技术路线分四层：数据、特征、模型、验证，37 场历史降雨回放，再加 2025 年汛期实测检验。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数据是这项工作的地基，我们整合了五类数据源，先看采集侧。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从雷达降雨、管网 GIS 到报灾文本，以住建部门确认的 612 个内涝点位作为标签；4.2 万条管段构建成有向图，这是拓扑通道的输入。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模型是双通道设计：XGBoost 学属性特征，GCN 在管网有向图上传播过载压力信号，加权融合输出四级风险，逐小时滚动更新。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实验严格按降雨事件划分数据集，杜绝时间泄漏。全城一次推理 11 秒，这是能上实时业务的前提。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三个创新点都有量化支撑：标注成本降 60%，高风险召回率提到 87.4%，AUC 比传统水文模型提升 16.8%。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整体精度：融合模型 AUC 0.913，比单一 XGBoost 高 5 个点，低洼片区的漏报改善最明显。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分项对比看这张表：精度、召回、推理速度，融合模型全面占优。细节欢迎在问答环节深入追问。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去年 8 月 4 日特大暴雨是最好的检验：提前两小时预警 41 个极高风险网格，实际命中 35 处、命中率 85.4%，防汛部门据此提前预置了泵车。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结论：多源融合加拓扑建模在街区尺度上有效，系统已在 Z 市防汛平台试运行一个汛期。局限在跨城泛化和极端事件样本，这也是下一步方向。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感谢导师和水务、气象部门的支持，也感谢团队在 37 场暴雨数据里泡过的日夜。恳请各位评委批评指正！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5999" y="0"/>
            <a:ext cx="6095999" cy="6858000"/>
          </a:xfrm>
          <a:prstGeom prst="rect">
            <a:avLst/>
          </a:prstGeom>
          <a:solidFill>
            <a:srgbClr val="E7EB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429499" y="1714500"/>
            <a:ext cx="3428999" cy="3429000"/>
          </a:xfrm>
          <a:prstGeom prst="ellipse">
            <a:avLst/>
          </a:prstGeom>
          <a:noFill/>
          <a:ln w="25400">
            <a:solidFill>
              <a:srgbClr val="0C8E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810499" y="2095499"/>
            <a:ext cx="2666999" cy="2667000"/>
          </a:xfrm>
          <a:prstGeom prst="ellipse">
            <a:avLst/>
          </a:prstGeom>
          <a:solidFill>
            <a:srgbClr val="0C8ED1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199" y="2400300"/>
            <a:ext cx="57149" cy="2457450"/>
          </a:xfrm>
          <a:prstGeom prst="rect">
            <a:avLst/>
          </a:prstGeom>
          <a:solidFill>
            <a:srgbClr val="0C8E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7699" y="2455164"/>
            <a:ext cx="6858000" cy="25717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5400" b="1">
                <a:solidFill>
                  <a:srgbClr val="0F172A"/>
                </a:solidFill>
                <a:latin typeface="Roboto"/>
                <a:ea typeface="Microsoft YaHei"/>
              </a:rPr>
              <a:t>基于多源数据融</a:t>
            </a:r>
          </a:p>
          <a:p>
            <a:r>
              <a:rPr sz="5400" b="1">
                <a:solidFill>
                  <a:srgbClr val="0F172A"/>
                </a:solidFill>
                <a:latin typeface="Roboto"/>
                <a:ea typeface="Microsoft YaHei"/>
              </a:rPr>
              <a:t>合的城市内涝风</a:t>
            </a:r>
          </a:p>
          <a:p>
            <a:r>
              <a:rPr sz="5400" b="1">
                <a:solidFill>
                  <a:srgbClr val="0F172A"/>
                </a:solidFill>
                <a:latin typeface="Roboto"/>
                <a:ea typeface="Microsoft YaHei"/>
              </a:rPr>
              <a:t>险评估研究</a:t>
            </a:r>
          </a:p>
        </p:txBody>
      </p:sp>
      <p:sp>
        <p:nvSpPr>
          <p:cNvPr id="8" name="Rectangle 7"/>
          <p:cNvSpPr/>
          <p:nvPr/>
        </p:nvSpPr>
        <p:spPr>
          <a:xfrm>
            <a:off x="647699" y="4914900"/>
            <a:ext cx="380999" cy="19050"/>
          </a:xfrm>
          <a:prstGeom prst="rect">
            <a:avLst/>
          </a:prstGeom>
          <a:solidFill>
            <a:srgbClr val="E2E8F0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7699" y="4955286"/>
            <a:ext cx="6434137" cy="10001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099" b="0">
                <a:solidFill>
                  <a:srgbClr val="475569">
                    <a:alpha val="85000"/>
                  </a:srgbClr>
                </a:solidFill>
                <a:latin typeface="Roboto"/>
                <a:ea typeface="Microsoft YaHei"/>
              </a:rPr>
              <a:t>「挑战杯」全国大学生课外学术科技作品</a:t>
            </a:r>
          </a:p>
          <a:p>
            <a:r>
              <a:rPr sz="2099" b="0">
                <a:solidFill>
                  <a:srgbClr val="475569">
                    <a:alpha val="85000"/>
                  </a:srgbClr>
                </a:solidFill>
                <a:latin typeface="Roboto"/>
                <a:ea typeface="Microsoft YaHei"/>
              </a:rPr>
              <a:t>竞赛 | 自然科学类学术论文 | 城市水安</a:t>
            </a:r>
          </a:p>
          <a:p>
            <a:r>
              <a:rPr sz="2099" b="0">
                <a:solidFill>
                  <a:srgbClr val="475569">
                    <a:alpha val="85000"/>
                  </a:srgbClr>
                </a:solidFill>
                <a:latin typeface="Roboto"/>
                <a:ea typeface="Microsoft YaHei"/>
              </a:rPr>
              <a:t>全研究小组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67499" y="2857500"/>
            <a:ext cx="4952999" cy="1143000"/>
          </a:xfrm>
          <a:prstGeom prst="roundRect">
            <a:avLst/>
          </a:prstGeom>
          <a:effectLst>
            <a:blur rad="203200"/>
            <a:outerShdw dist="38100" dir="0" blurRad="203200" algn="bl" rotWithShape="0">
              <a:srgbClr val="000000">
                <a:alpha val="10000"/>
              </a:srgbClr>
            </a:outerShdw>
          </a:effectLst>
          <a:solidFill>
            <a:srgbClr val="FFFFFF"/>
          </a:solidFill>
          <a:ln>
            <a:solidFill>
              <a:srgbClr val="0C8E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53249" y="3105912"/>
            <a:ext cx="4781549" cy="309562"/>
          </a:xfrm>
          <a:prstGeom prst="rect">
            <a:avLst/>
          </a:prstGeom>
          <a:effectLst>
            <a:blur rad="203200"/>
            <a:outerShdw dist="38100" dir="0" blurRad="203200" algn="bl" rotWithShape="0">
              <a:srgbClr val="000000">
                <a:alpha val="10000"/>
              </a:srgbClr>
            </a:outerShdw>
          </a:effectLst>
          <a:noFill/>
        </p:spPr>
        <p:txBody>
          <a:bodyPr wrap="none" lIns="0" rIns="0" tIns="0" bIns="0">
            <a:spAutoFit/>
          </a:bodyPr>
          <a:lstStyle/>
          <a:p>
            <a:r>
              <a:rPr sz="1950" b="1">
                <a:solidFill>
                  <a:srgbClr val="475569"/>
                </a:solidFill>
                <a:latin typeface="Roboto"/>
                <a:ea typeface="Microsoft YaHei"/>
              </a:rPr>
              <a:t>PAGES DESIGNED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53249" y="3236594"/>
            <a:ext cx="4781549" cy="714375"/>
          </a:xfrm>
          <a:prstGeom prst="rect">
            <a:avLst/>
          </a:prstGeom>
          <a:effectLst>
            <a:blur rad="203200"/>
            <a:outerShdw dist="38100" dir="0" blurRad="203200" algn="bl" rotWithShape="0">
              <a:srgbClr val="000000">
                <a:alpha val="10000"/>
              </a:srgbClr>
            </a:outerShdw>
          </a:effectLst>
          <a:noFill/>
        </p:spPr>
        <p:txBody>
          <a:bodyPr wrap="none" lIns="0" rIns="0" tIns="0" bIns="0">
            <a:spAutoFit/>
          </a:bodyPr>
          <a:lstStyle/>
          <a:p>
            <a:r>
              <a:rPr sz="4500" b="1">
                <a:solidFill>
                  <a:srgbClr val="0C8ED1"/>
                </a:solidFill>
                <a:latin typeface="Roboto"/>
                <a:ea typeface="Microsoft YaHei"/>
              </a:rPr>
              <a:t>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00999" y="-2381250"/>
            <a:ext cx="7619999" cy="5334000"/>
          </a:xfrm>
          <a:prstGeom prst="ellipse">
            <a:avLst/>
          </a:prstGeom>
          <a:gradFill>
            <a:gsLst>
              <a:gs pos="0">
                <a:srgbClr val="0284C7">
                  <a:alpha val="15000"/>
                </a:srgbClr>
              </a:gs>
              <a:gs pos="100000">
                <a:srgbClr val="0284C7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095499" y="4667249"/>
            <a:ext cx="5333999" cy="3809999"/>
          </a:xfrm>
          <a:prstGeom prst="ellipse">
            <a:avLst/>
          </a:prstGeom>
          <a:gradFill>
            <a:gsLst>
              <a:gs pos="0">
                <a:srgbClr val="2AACEF">
                  <a:alpha val="10000"/>
                </a:srgbClr>
              </a:gs>
              <a:gs pos="100000">
                <a:srgbClr val="2AACE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 flipH="1">
            <a:off x="10286999" y="0"/>
            <a:ext cx="1905000" cy="1714500"/>
          </a:xfrm>
          <a:prstGeom prst="line">
            <a:avLst/>
          </a:prstGeom>
          <a:ln w="25400">
            <a:solidFill>
              <a:srgbClr val="0284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H="1">
            <a:off x="10858499" y="0"/>
            <a:ext cx="1333500" cy="1143000"/>
          </a:xfrm>
          <a:prstGeom prst="line">
            <a:avLst/>
          </a:prstGeom>
          <a:ln w="12700">
            <a:solidFill>
              <a:srgbClr val="0284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11734799" y="0"/>
            <a:ext cx="457199" cy="6858000"/>
          </a:xfrm>
          <a:prstGeom prst="rect">
            <a:avLst/>
          </a:prstGeom>
          <a:solidFill>
            <a:srgbClr val="0284C7">
              <a:alpha val="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14299" cy="6858000"/>
          </a:xfrm>
          <a:prstGeom prst="rect">
            <a:avLst/>
          </a:prstGeom>
          <a:gradFill>
            <a:gsLst>
              <a:gs pos="0">
                <a:srgbClr val="0284C7">
                  <a:alpha val="40000"/>
                </a:srgbClr>
              </a:gs>
              <a:gs pos="50000">
                <a:srgbClr val="0284C7">
                  <a:alpha val="90000"/>
                </a:srgbClr>
              </a:gs>
              <a:gs pos="100000">
                <a:srgbClr val="0284C7">
                  <a:alpha val="40000"/>
                </a:srgbClr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93548" y="6216777"/>
            <a:ext cx="1212651" cy="25003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575" b="0">
                <a:solidFill>
                  <a:srgbClr val="475569">
                    <a:alpha val="70000"/>
                  </a:srgbClr>
                </a:solidFill>
                <a:latin typeface="Roboto"/>
                <a:ea typeface="Microsoft YaHei"/>
              </a:rPr>
              <a:t>02 / 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899" y="136397"/>
            <a:ext cx="11391899" cy="64293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4050" b="1">
                <a:solidFill>
                  <a:srgbClr val="0F172A"/>
                </a:solidFill>
                <a:latin typeface="Roboto"/>
                <a:ea typeface="Microsoft YaHei"/>
              </a:rPr>
              <a:t>研究背景：内涝为何越来越常见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899" y="723900"/>
            <a:ext cx="685799" cy="33337"/>
          </a:xfrm>
          <a:prstGeom prst="roundRect">
            <a:avLst/>
          </a:prstGeom>
          <a:solidFill>
            <a:srgbClr val="0284C7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42899" y="990599"/>
            <a:ext cx="11506199" cy="1219200"/>
          </a:xfrm>
          <a:prstGeom prst="roundRect">
            <a:avLst/>
          </a:prstGeom>
          <a:effectLst>
            <a:blur rad="203200"/>
            <a:outerShdw dist="38100" dir="0" blurRad="203200" algn="bl" rotWithShape="0">
              <a:srgbClr val="000000">
                <a:alpha val="10000"/>
              </a:srgbClr>
            </a:outerShdw>
          </a:effectLst>
          <a:gradFill>
            <a:gsLst>
              <a:gs pos="0">
                <a:srgbClr val="FFFFFF"/>
              </a:gs>
              <a:gs pos="100000">
                <a:srgbClr val="FFFFFF">
                  <a:alpha val="80000"/>
                </a:srgbClr>
              </a:gs>
            </a:gsLst>
            <a:lin ang="5400000" scaled="0"/>
          </a:gra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42899" y="990599"/>
            <a:ext cx="38099" cy="1219200"/>
          </a:xfrm>
          <a:prstGeom prst="roundRect">
            <a:avLst/>
          </a:prstGeom>
          <a:solidFill>
            <a:srgbClr val="0284C7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38149" y="1390650"/>
            <a:ext cx="419099" cy="419100"/>
          </a:xfrm>
          <a:prstGeom prst="ellipse">
            <a:avLst/>
          </a:prstGeom>
          <a:noFill/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04824" y="1457325"/>
            <a:ext cx="285749" cy="285750"/>
          </a:xfrm>
          <a:prstGeom prst="ellipse">
            <a:avLst/>
          </a:prstGeom>
          <a:solidFill>
            <a:srgbClr val="0284C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1949" y="1463802"/>
            <a:ext cx="571500" cy="25003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575" b="1">
                <a:solidFill>
                  <a:srgbClr val="20A2E5"/>
                </a:solidFill>
                <a:latin typeface="Roboto"/>
                <a:ea typeface="Microsoft YaHei"/>
              </a:rPr>
              <a:t>01</a:t>
            </a:r>
          </a:p>
        </p:txBody>
      </p:sp>
      <p:sp>
        <p:nvSpPr>
          <p:cNvPr id="17" name="Oval 16"/>
          <p:cNvSpPr/>
          <p:nvPr/>
        </p:nvSpPr>
        <p:spPr>
          <a:xfrm>
            <a:off x="1009649" y="1333500"/>
            <a:ext cx="76199" cy="76200"/>
          </a:xfrm>
          <a:prstGeom prst="ellipse">
            <a:avLst/>
          </a:prstGeom>
          <a:solidFill>
            <a:srgbClr val="0284C7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81099" y="1113282"/>
            <a:ext cx="11358562" cy="857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700" b="0">
                <a:solidFill>
                  <a:srgbClr val="0F172A"/>
                </a:solidFill>
                <a:latin typeface="Roboto"/>
                <a:ea typeface="Microsoft YaHei"/>
              </a:rPr>
              <a:t>2021-2025 年全国因城市内涝造成的直接经济损失年均超</a:t>
            </a:r>
          </a:p>
          <a:p>
            <a:r>
              <a:rPr sz="2700" b="0">
                <a:solidFill>
                  <a:srgbClr val="0F172A"/>
                </a:solidFill>
                <a:latin typeface="Roboto"/>
                <a:ea typeface="Microsoft YaHei"/>
              </a:rPr>
              <a:t>1,600 亿元</a:t>
            </a:r>
          </a:p>
        </p:txBody>
      </p:sp>
      <p:sp>
        <p:nvSpPr>
          <p:cNvPr id="19" name="Rectangle 18"/>
          <p:cNvSpPr/>
          <p:nvPr/>
        </p:nvSpPr>
        <p:spPr>
          <a:custGeom>
            <a:pathLst>
              <a:path w="57149" h="114300">
                <a:moveTo>
                  <a:pt x="0" y="0"/>
                </a:moveTo>
                <a:lnTo>
                  <a:pt x="57149" y="57150"/>
                </a:lnTo>
                <a:lnTo>
                  <a:pt x="0" y="114300"/>
                </a:lnTo>
              </a:path>
            </a:pathLst>
          </a:custGeom>
          <a:xfrm>
            <a:off x="11620499" y="1543050"/>
            <a:ext cx="57149" cy="114300"/>
          </a:xfrm>
          <a:noFill/>
          <a:ln w="254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42899" y="2324100"/>
            <a:ext cx="11506199" cy="1219200"/>
          </a:xfrm>
          <a:prstGeom prst="roundRect">
            <a:avLst/>
          </a:prstGeom>
          <a:effectLst>
            <a:blur rad="203200"/>
            <a:outerShdw dist="38100" dir="0" blurRad="203200" algn="bl" rotWithShape="0">
              <a:srgbClr val="000000">
                <a:alpha val="10000"/>
              </a:srgbClr>
            </a:outerShdw>
          </a:effectLst>
          <a:gradFill>
            <a:gsLst>
              <a:gs pos="0">
                <a:srgbClr val="FFFFFF"/>
              </a:gs>
              <a:gs pos="100000">
                <a:srgbClr val="FFFFFF">
                  <a:alpha val="80000"/>
                </a:srgbClr>
              </a:gs>
            </a:gsLst>
            <a:lin ang="5400000" scaled="0"/>
          </a:gradFill>
          <a:ln w="19050">
            <a:solidFill>
              <a:srgbClr val="0066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42899" y="2324100"/>
            <a:ext cx="38099" cy="1219200"/>
          </a:xfrm>
          <a:prstGeom prst="roundRect">
            <a:avLst/>
          </a:prstGeom>
          <a:solidFill>
            <a:srgbClr val="0066A9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38149" y="2724150"/>
            <a:ext cx="419099" cy="419100"/>
          </a:xfrm>
          <a:prstGeom prst="ellipse">
            <a:avLst/>
          </a:prstGeom>
          <a:noFill/>
          <a:ln w="19050">
            <a:solidFill>
              <a:srgbClr val="0066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04824" y="2790824"/>
            <a:ext cx="285749" cy="285750"/>
          </a:xfrm>
          <a:prstGeom prst="ellipse">
            <a:avLst/>
          </a:prstGeom>
          <a:solidFill>
            <a:srgbClr val="0066A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1949" y="2797302"/>
            <a:ext cx="571500" cy="25003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575" b="1">
                <a:solidFill>
                  <a:srgbClr val="0066A9"/>
                </a:solidFill>
                <a:latin typeface="Roboto"/>
                <a:ea typeface="Microsoft YaHei"/>
              </a:rPr>
              <a:t>02</a:t>
            </a:r>
          </a:p>
        </p:txBody>
      </p:sp>
      <p:sp>
        <p:nvSpPr>
          <p:cNvPr id="25" name="Oval 24"/>
          <p:cNvSpPr/>
          <p:nvPr/>
        </p:nvSpPr>
        <p:spPr>
          <a:xfrm>
            <a:off x="1009649" y="2667000"/>
            <a:ext cx="76199" cy="76200"/>
          </a:xfrm>
          <a:prstGeom prst="ellipse">
            <a:avLst/>
          </a:prstGeom>
          <a:solidFill>
            <a:srgbClr val="0066A9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81099" y="2446781"/>
            <a:ext cx="12794456" cy="857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700" b="0">
                <a:solidFill>
                  <a:srgbClr val="0F172A"/>
                </a:solidFill>
                <a:latin typeface="Roboto"/>
                <a:ea typeface="Microsoft YaHei"/>
              </a:rPr>
              <a:t>极端降雨频次上升：研究区 Z 市小时雨强超 50 毫米事件由年均</a:t>
            </a:r>
          </a:p>
          <a:p>
            <a:r>
              <a:rPr sz="2700" b="0">
                <a:solidFill>
                  <a:srgbClr val="0F172A"/>
                </a:solidFill>
                <a:latin typeface="Roboto"/>
                <a:ea typeface="Microsoft YaHei"/>
              </a:rPr>
              <a:t>2.1 次增至 4.7 次</a:t>
            </a:r>
          </a:p>
        </p:txBody>
      </p:sp>
      <p:sp>
        <p:nvSpPr>
          <p:cNvPr id="27" name="Rectangle 26"/>
          <p:cNvSpPr/>
          <p:nvPr/>
        </p:nvSpPr>
        <p:spPr>
          <a:custGeom>
            <a:pathLst>
              <a:path w="57149" h="114300">
                <a:moveTo>
                  <a:pt x="0" y="0"/>
                </a:moveTo>
                <a:lnTo>
                  <a:pt x="57149" y="57150"/>
                </a:lnTo>
                <a:lnTo>
                  <a:pt x="0" y="114300"/>
                </a:lnTo>
              </a:path>
            </a:pathLst>
          </a:custGeom>
          <a:xfrm>
            <a:off x="11620499" y="2876549"/>
            <a:ext cx="57149" cy="114300"/>
          </a:xfrm>
          <a:noFill/>
          <a:ln w="25400">
            <a:solidFill>
              <a:srgbClr val="0066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342899" y="3657600"/>
            <a:ext cx="11506199" cy="723900"/>
          </a:xfrm>
          <a:prstGeom prst="roundRect">
            <a:avLst/>
          </a:prstGeom>
          <a:effectLst>
            <a:blur rad="203200"/>
            <a:outerShdw dist="38100" dir="0" blurRad="203200" algn="bl" rotWithShape="0">
              <a:srgbClr val="000000">
                <a:alpha val="10000"/>
              </a:srgbClr>
            </a:outerShdw>
          </a:effectLst>
          <a:gradFill>
            <a:gsLst>
              <a:gs pos="0">
                <a:srgbClr val="FFFFFF"/>
              </a:gs>
              <a:gs pos="100000">
                <a:srgbClr val="FFFFFF">
                  <a:alpha val="80000"/>
                </a:srgbClr>
              </a:gs>
            </a:gsLst>
            <a:lin ang="5400000" scaled="0"/>
          </a:gradFill>
          <a:ln w="19050">
            <a:solidFill>
              <a:srgbClr val="2AA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342899" y="3657600"/>
            <a:ext cx="38099" cy="723900"/>
          </a:xfrm>
          <a:prstGeom prst="roundRect">
            <a:avLst/>
          </a:prstGeom>
          <a:solidFill>
            <a:srgbClr val="2AACEF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38149" y="3809999"/>
            <a:ext cx="419099" cy="419100"/>
          </a:xfrm>
          <a:prstGeom prst="ellipse">
            <a:avLst/>
          </a:prstGeom>
          <a:noFill/>
          <a:ln w="19050">
            <a:solidFill>
              <a:srgbClr val="2AA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04824" y="3876674"/>
            <a:ext cx="285749" cy="285750"/>
          </a:xfrm>
          <a:prstGeom prst="ellipse">
            <a:avLst/>
          </a:prstGeom>
          <a:solidFill>
            <a:srgbClr val="2AACE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1949" y="3883151"/>
            <a:ext cx="571500" cy="25003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575" b="1">
                <a:solidFill>
                  <a:srgbClr val="20A2E5"/>
                </a:solidFill>
                <a:latin typeface="Roboto"/>
                <a:ea typeface="Microsoft YaHei"/>
              </a:rPr>
              <a:t>03</a:t>
            </a:r>
          </a:p>
        </p:txBody>
      </p:sp>
      <p:sp>
        <p:nvSpPr>
          <p:cNvPr id="33" name="Oval 32"/>
          <p:cNvSpPr/>
          <p:nvPr/>
        </p:nvSpPr>
        <p:spPr>
          <a:xfrm>
            <a:off x="1009649" y="4000500"/>
            <a:ext cx="76199" cy="76200"/>
          </a:xfrm>
          <a:prstGeom prst="ellipse">
            <a:avLst/>
          </a:prstGeom>
          <a:solidFill>
            <a:srgbClr val="2AACEF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81099" y="3780281"/>
            <a:ext cx="10758487" cy="4286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700" b="0">
                <a:solidFill>
                  <a:srgbClr val="0F172A"/>
                </a:solidFill>
                <a:latin typeface="Roboto"/>
                <a:ea typeface="Microsoft YaHei"/>
              </a:rPr>
              <a:t>传统"重末端、轻预警"治理模式难以应对短历时强降雨</a:t>
            </a:r>
          </a:p>
        </p:txBody>
      </p:sp>
      <p:sp>
        <p:nvSpPr>
          <p:cNvPr id="35" name="Rectangle 34"/>
          <p:cNvSpPr/>
          <p:nvPr/>
        </p:nvSpPr>
        <p:spPr>
          <a:custGeom>
            <a:pathLst>
              <a:path w="57149" h="114300">
                <a:moveTo>
                  <a:pt x="0" y="0"/>
                </a:moveTo>
                <a:lnTo>
                  <a:pt x="57149" y="57150"/>
                </a:lnTo>
                <a:lnTo>
                  <a:pt x="0" y="114300"/>
                </a:lnTo>
              </a:path>
            </a:pathLst>
          </a:custGeom>
          <a:xfrm>
            <a:off x="11620499" y="3962399"/>
            <a:ext cx="57149" cy="114300"/>
          </a:xfrm>
          <a:noFill/>
          <a:ln w="25400">
            <a:solidFill>
              <a:srgbClr val="2AA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342899" y="4495799"/>
            <a:ext cx="11506199" cy="723900"/>
          </a:xfrm>
          <a:prstGeom prst="roundRect">
            <a:avLst/>
          </a:prstGeom>
          <a:effectLst>
            <a:blur rad="203200"/>
            <a:outerShdw dist="38100" dir="0" blurRad="203200" algn="bl" rotWithShape="0">
              <a:srgbClr val="000000">
                <a:alpha val="10000"/>
              </a:srgbClr>
            </a:outerShdw>
          </a:effectLst>
          <a:gradFill>
            <a:gsLst>
              <a:gs pos="0">
                <a:srgbClr val="FFFFFF"/>
              </a:gs>
              <a:gs pos="100000">
                <a:srgbClr val="FFFFFF">
                  <a:alpha val="80000"/>
                </a:srgbClr>
              </a:gs>
            </a:gsLst>
            <a:lin ang="5400000" scaled="0"/>
          </a:gra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342899" y="4495799"/>
            <a:ext cx="38099" cy="723900"/>
          </a:xfrm>
          <a:prstGeom prst="roundRect">
            <a:avLst/>
          </a:prstGeom>
          <a:solidFill>
            <a:srgbClr val="0284C7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438149" y="4648200"/>
            <a:ext cx="419099" cy="419100"/>
          </a:xfrm>
          <a:prstGeom prst="ellipse">
            <a:avLst/>
          </a:prstGeom>
          <a:noFill/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04824" y="4714875"/>
            <a:ext cx="285749" cy="285750"/>
          </a:xfrm>
          <a:prstGeom prst="ellipse">
            <a:avLst/>
          </a:prstGeom>
          <a:solidFill>
            <a:srgbClr val="0284C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1949" y="4721352"/>
            <a:ext cx="571500" cy="25003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575" b="1">
                <a:solidFill>
                  <a:srgbClr val="20A2E5"/>
                </a:solidFill>
                <a:latin typeface="Roboto"/>
                <a:ea typeface="Microsoft YaHei"/>
              </a:rPr>
              <a:t>04</a:t>
            </a:r>
          </a:p>
        </p:txBody>
      </p:sp>
      <p:sp>
        <p:nvSpPr>
          <p:cNvPr id="41" name="Oval 40"/>
          <p:cNvSpPr/>
          <p:nvPr/>
        </p:nvSpPr>
        <p:spPr>
          <a:xfrm>
            <a:off x="1009649" y="4838699"/>
            <a:ext cx="76199" cy="76200"/>
          </a:xfrm>
          <a:prstGeom prst="ellipse">
            <a:avLst/>
          </a:prstGeom>
          <a:solidFill>
            <a:srgbClr val="0284C7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81099" y="4618482"/>
            <a:ext cx="11144250" cy="4286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700" b="0">
                <a:solidFill>
                  <a:srgbClr val="0F172A"/>
                </a:solidFill>
                <a:latin typeface="Roboto"/>
                <a:ea typeface="Microsoft YaHei"/>
              </a:rPr>
              <a:t>街区尺度的内涝风险动态评估是海绵城市调度的关键前提</a:t>
            </a:r>
          </a:p>
        </p:txBody>
      </p:sp>
      <p:sp>
        <p:nvSpPr>
          <p:cNvPr id="43" name="Rectangle 42"/>
          <p:cNvSpPr/>
          <p:nvPr/>
        </p:nvSpPr>
        <p:spPr>
          <a:custGeom>
            <a:pathLst>
              <a:path w="57149" h="114300">
                <a:moveTo>
                  <a:pt x="0" y="0"/>
                </a:moveTo>
                <a:lnTo>
                  <a:pt x="57149" y="57150"/>
                </a:lnTo>
                <a:lnTo>
                  <a:pt x="0" y="114300"/>
                </a:lnTo>
              </a:path>
            </a:pathLst>
          </a:custGeom>
          <a:xfrm>
            <a:off x="11620499" y="4800600"/>
            <a:ext cx="57149" cy="114300"/>
          </a:xfrm>
          <a:noFill/>
          <a:ln w="254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00999" y="-2381250"/>
            <a:ext cx="7619999" cy="5334000"/>
          </a:xfrm>
          <a:prstGeom prst="ellipse">
            <a:avLst/>
          </a:prstGeom>
          <a:gradFill>
            <a:gsLst>
              <a:gs pos="0">
                <a:srgbClr val="0C8ED1">
                  <a:alpha val="15000"/>
                </a:srgbClr>
              </a:gs>
              <a:gs pos="100000">
                <a:srgbClr val="0C8ED1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095499" y="4667249"/>
            <a:ext cx="5333999" cy="3809999"/>
          </a:xfrm>
          <a:prstGeom prst="ellipse">
            <a:avLst/>
          </a:prstGeom>
          <a:gradFill>
            <a:gsLst>
              <a:gs pos="0">
                <a:srgbClr val="34B6F9">
                  <a:alpha val="10000"/>
                </a:srgbClr>
              </a:gs>
              <a:gs pos="100000">
                <a:srgbClr val="34B6F9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 flipH="1">
            <a:off x="10286999" y="0"/>
            <a:ext cx="1905000" cy="1714500"/>
          </a:xfrm>
          <a:prstGeom prst="line">
            <a:avLst/>
          </a:prstGeom>
          <a:ln w="25400">
            <a:solidFill>
              <a:srgbClr val="0C8E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H="1">
            <a:off x="10858499" y="0"/>
            <a:ext cx="1333500" cy="1143000"/>
          </a:xfrm>
          <a:prstGeom prst="line">
            <a:avLst/>
          </a:prstGeom>
          <a:ln w="12700">
            <a:solidFill>
              <a:srgbClr val="0C8E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0" y="0"/>
            <a:ext cx="114299" cy="6858000"/>
          </a:xfrm>
          <a:prstGeom prst="rect">
            <a:avLst/>
          </a:prstGeom>
          <a:gradFill>
            <a:gsLst>
              <a:gs pos="0">
                <a:srgbClr val="0C8ED1">
                  <a:alpha val="40000"/>
                </a:srgbClr>
              </a:gs>
              <a:gs pos="50000">
                <a:srgbClr val="0C8ED1">
                  <a:alpha val="90000"/>
                </a:srgbClr>
              </a:gs>
              <a:gs pos="100000">
                <a:srgbClr val="0C8ED1">
                  <a:alpha val="40000"/>
                </a:srgbClr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93548" y="6216777"/>
            <a:ext cx="1212651" cy="25003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575" b="0">
                <a:solidFill>
                  <a:srgbClr val="475569">
                    <a:alpha val="70000"/>
                  </a:srgbClr>
                </a:solidFill>
                <a:latin typeface="Roboto"/>
                <a:ea typeface="Microsoft YaHei"/>
              </a:rPr>
              <a:t>03 / 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2899" y="136397"/>
            <a:ext cx="11391899" cy="64293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4050" b="1">
                <a:solidFill>
                  <a:srgbClr val="0F172A"/>
                </a:solidFill>
                <a:latin typeface="Roboto"/>
                <a:ea typeface="Microsoft YaHei"/>
              </a:rPr>
              <a:t>研究问题与意义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899" y="723900"/>
            <a:ext cx="685799" cy="33337"/>
          </a:xfrm>
          <a:prstGeom prst="roundRect">
            <a:avLst/>
          </a:prstGeom>
          <a:solidFill>
            <a:srgbClr val="0C8ED1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42899" y="1428750"/>
            <a:ext cx="4876799" cy="3238500"/>
          </a:xfrm>
          <a:prstGeom prst="roundRect">
            <a:avLst/>
          </a:prstGeom>
          <a:effectLst>
            <a:blur rad="203200"/>
            <a:outerShdw dist="38100" dir="0" blurRad="203200" algn="bl" rotWithShape="0">
              <a:srgbClr val="000000">
                <a:alpha val="10000"/>
              </a:srgbClr>
            </a:outerShdw>
          </a:effectLst>
          <a:solidFill>
            <a:srgbClr val="FFFFFF"/>
          </a:solidFill>
          <a:ln w="19050">
            <a:solidFill>
              <a:srgbClr val="0C8E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6749" y="2087117"/>
            <a:ext cx="11068049" cy="16668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49" b="1">
                <a:solidFill>
                  <a:srgbClr val="20A2E5"/>
                </a:solidFill>
                <a:latin typeface="Roboto"/>
                <a:ea typeface="Microsoft YaHei"/>
              </a:rPr>
              <a:t>FRICTION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6749" y="2611373"/>
            <a:ext cx="11068049" cy="6191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900" b="1">
                <a:solidFill>
                  <a:srgbClr val="0F172A"/>
                </a:solidFill>
                <a:latin typeface="Roboto"/>
                <a:ea typeface="Microsoft YaHei"/>
              </a:rPr>
              <a:t>研究问题与意义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6749" y="4090415"/>
            <a:ext cx="11068049" cy="2143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350" b="0">
                <a:solidFill>
                  <a:srgbClr val="475569">
                    <a:alpha val="80000"/>
                  </a:srgbClr>
                </a:solidFill>
                <a:latin typeface="Roboto"/>
                <a:ea typeface="Microsoft YaHei"/>
              </a:rPr>
              <a:t>4 mapped signals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95999" y="1428750"/>
            <a:ext cx="5362574" cy="914400"/>
          </a:xfrm>
          <a:prstGeom prst="roundRect">
            <a:avLst/>
          </a:prstGeom>
          <a:effectLst>
            <a:blur rad="203200"/>
            <a:outerShdw dist="38100" dir="0" blurRad="203200" algn="bl" rotWithShape="0">
              <a:srgbClr val="000000">
                <a:alpha val="10000"/>
              </a:srgbClr>
            </a:outerShdw>
          </a:effectLst>
          <a:solidFill>
            <a:srgbClr val="FFFFFF"/>
          </a:solidFill>
          <a:ln w="19050">
            <a:solidFill>
              <a:srgbClr val="007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86499" y="1612391"/>
            <a:ext cx="5448299" cy="1904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00" b="1">
                <a:solidFill>
                  <a:srgbClr val="007CBF"/>
                </a:solidFill>
                <a:latin typeface="Roboto"/>
                <a:ea typeface="Microsoft YaHei"/>
              </a:rPr>
              <a:t>! 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86499" y="1939290"/>
            <a:ext cx="5715000" cy="2381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499" b="1">
                <a:solidFill>
                  <a:srgbClr val="0F172A"/>
                </a:solidFill>
                <a:latin typeface="Roboto"/>
                <a:ea typeface="Microsoft YaHei"/>
              </a:rPr>
              <a:t>科学问题：多源异构数据如何融合评估街区内涝风险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95999" y="2514600"/>
            <a:ext cx="5362574" cy="914400"/>
          </a:xfrm>
          <a:prstGeom prst="roundRect">
            <a:avLst/>
          </a:prstGeom>
          <a:effectLst>
            <a:blur rad="203200"/>
            <a:outerShdw dist="38100" dir="0" blurRad="203200" algn="bl" rotWithShape="0">
              <a:srgbClr val="000000">
                <a:alpha val="10000"/>
              </a:srgbClr>
            </a:outerShdw>
          </a:effectLst>
          <a:solidFill>
            <a:srgbClr val="FFFFFF"/>
          </a:solidFill>
          <a:ln w="19050">
            <a:solidFill>
              <a:srgbClr val="0C8E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86499" y="2698242"/>
            <a:ext cx="5448299" cy="1904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00" b="1">
                <a:solidFill>
                  <a:srgbClr val="20A2E5"/>
                </a:solidFill>
                <a:latin typeface="Roboto"/>
                <a:ea typeface="Microsoft YaHei"/>
              </a:rPr>
              <a:t>! 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86499" y="3025140"/>
            <a:ext cx="6191249" cy="2381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499" b="1">
                <a:solidFill>
                  <a:srgbClr val="0F172A"/>
                </a:solidFill>
                <a:latin typeface="Roboto"/>
                <a:ea typeface="Microsoft YaHei"/>
              </a:rPr>
              <a:t>理论意义：验证图结构建模对排水管网拓扑表达的有效性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95999" y="3600450"/>
            <a:ext cx="5362574" cy="914400"/>
          </a:xfrm>
          <a:prstGeom prst="roundRect">
            <a:avLst/>
          </a:prstGeom>
          <a:effectLst>
            <a:blur rad="203200"/>
            <a:outerShdw dist="38100" dir="0" blurRad="203200" algn="bl" rotWithShape="0">
              <a:srgbClr val="000000">
                <a:alpha val="10000"/>
              </a:srgbClr>
            </a:outerShdw>
          </a:effectLst>
          <a:solidFill>
            <a:srgbClr val="FFFFFF"/>
          </a:solidFill>
          <a:ln w="19050">
            <a:solidFill>
              <a:srgbClr val="1EA0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86499" y="3784091"/>
            <a:ext cx="5448299" cy="1904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00" b="1">
                <a:solidFill>
                  <a:srgbClr val="20A2E5"/>
                </a:solidFill>
                <a:latin typeface="Roboto"/>
                <a:ea typeface="Microsoft YaHei"/>
              </a:rPr>
              <a:t>! 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86499" y="4119753"/>
            <a:ext cx="6254948" cy="22621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425" b="1">
                <a:solidFill>
                  <a:srgbClr val="0F172A"/>
                </a:solidFill>
                <a:latin typeface="Roboto"/>
                <a:ea typeface="Microsoft YaHei"/>
              </a:rPr>
              <a:t>实践意义：为城市防汛指挥提供提前 2 小时的分级预警依据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095999" y="4686300"/>
            <a:ext cx="5362574" cy="914400"/>
          </a:xfrm>
          <a:prstGeom prst="roundRect">
            <a:avLst/>
          </a:prstGeom>
          <a:effectLst>
            <a:blur rad="203200"/>
            <a:outerShdw dist="38100" dir="0" blurRad="203200" algn="bl" rotWithShape="0">
              <a:srgbClr val="000000">
                <a:alpha val="10000"/>
              </a:srgbClr>
            </a:outerShdw>
          </a:effectLst>
          <a:solidFill>
            <a:srgbClr val="FFFFFF"/>
          </a:solidFill>
          <a:ln w="19050">
            <a:solidFill>
              <a:srgbClr val="30B2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86499" y="4869941"/>
            <a:ext cx="5448299" cy="1904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00" b="1">
                <a:solidFill>
                  <a:srgbClr val="20A2E5"/>
                </a:solidFill>
                <a:latin typeface="Roboto"/>
                <a:ea typeface="Microsoft YaHei"/>
              </a:rPr>
              <a:t>! 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86499" y="5196840"/>
            <a:ext cx="5988843" cy="2381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499" b="1">
                <a:solidFill>
                  <a:srgbClr val="0F172A"/>
                </a:solidFill>
                <a:latin typeface="Roboto"/>
                <a:ea typeface="Microsoft YaHei"/>
              </a:rPr>
              <a:t>研究区域：Z 市主城区 486 平方公里、3,038 个网格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00999" y="-2381250"/>
            <a:ext cx="7619999" cy="5334000"/>
          </a:xfrm>
          <a:prstGeom prst="ellipse">
            <a:avLst/>
          </a:prstGeom>
          <a:gradFill>
            <a:gsLst>
              <a:gs pos="0">
                <a:srgbClr val="0C8ED1">
                  <a:alpha val="15000"/>
                </a:srgbClr>
              </a:gs>
              <a:gs pos="100000">
                <a:srgbClr val="0C8ED1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095499" y="4667249"/>
            <a:ext cx="5333999" cy="3809999"/>
          </a:xfrm>
          <a:prstGeom prst="ellipse">
            <a:avLst/>
          </a:prstGeom>
          <a:gradFill>
            <a:gsLst>
              <a:gs pos="0">
                <a:srgbClr val="34B6F9">
                  <a:alpha val="10000"/>
                </a:srgbClr>
              </a:gs>
              <a:gs pos="100000">
                <a:srgbClr val="34B6F9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 flipH="1">
            <a:off x="10286999" y="0"/>
            <a:ext cx="1905000" cy="1714500"/>
          </a:xfrm>
          <a:prstGeom prst="line">
            <a:avLst/>
          </a:prstGeom>
          <a:ln w="25400">
            <a:solidFill>
              <a:srgbClr val="0C8E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H="1">
            <a:off x="10858499" y="0"/>
            <a:ext cx="1333500" cy="1143000"/>
          </a:xfrm>
          <a:prstGeom prst="line">
            <a:avLst/>
          </a:prstGeom>
          <a:ln w="12700">
            <a:solidFill>
              <a:srgbClr val="0C8E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11734799" y="0"/>
            <a:ext cx="457199" cy="6858000"/>
          </a:xfrm>
          <a:prstGeom prst="rect">
            <a:avLst/>
          </a:prstGeom>
          <a:solidFill>
            <a:srgbClr val="0C8ED1">
              <a:alpha val="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14299" cy="6858000"/>
          </a:xfrm>
          <a:prstGeom prst="rect">
            <a:avLst/>
          </a:prstGeom>
          <a:gradFill>
            <a:gsLst>
              <a:gs pos="0">
                <a:srgbClr val="0C8ED1">
                  <a:alpha val="40000"/>
                </a:srgbClr>
              </a:gs>
              <a:gs pos="50000">
                <a:srgbClr val="0C8ED1">
                  <a:alpha val="90000"/>
                </a:srgbClr>
              </a:gs>
              <a:gs pos="100000">
                <a:srgbClr val="0C8ED1">
                  <a:alpha val="40000"/>
                </a:srgbClr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93548" y="6216777"/>
            <a:ext cx="1212651" cy="25003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575" b="0">
                <a:solidFill>
                  <a:srgbClr val="475569">
                    <a:alpha val="70000"/>
                  </a:srgbClr>
                </a:solidFill>
                <a:latin typeface="Roboto"/>
                <a:ea typeface="Microsoft YaHei"/>
              </a:rPr>
              <a:t>04 / 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899" y="48768"/>
            <a:ext cx="11391899" cy="7619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4800" b="1">
                <a:solidFill>
                  <a:srgbClr val="0F172A"/>
                </a:solidFill>
                <a:latin typeface="Roboto"/>
                <a:ea typeface="Microsoft YaHei"/>
              </a:rPr>
              <a:t>国内外研究现状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899" y="723900"/>
            <a:ext cx="685799" cy="33337"/>
          </a:xfrm>
          <a:prstGeom prst="roundRect">
            <a:avLst/>
          </a:prstGeom>
          <a:solidFill>
            <a:srgbClr val="0C8ED1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42899" y="990599"/>
            <a:ext cx="11506199" cy="1219200"/>
          </a:xfrm>
          <a:prstGeom prst="roundRect">
            <a:avLst/>
          </a:prstGeom>
          <a:effectLst>
            <a:blur rad="203200"/>
            <a:outerShdw dist="38100" dir="0" blurRad="203200" algn="bl" rotWithShape="0">
              <a:srgbClr val="000000">
                <a:alpha val="10000"/>
              </a:srgbClr>
            </a:outerShdw>
          </a:effectLst>
          <a:gradFill>
            <a:gsLst>
              <a:gs pos="0">
                <a:srgbClr val="FFFFFF"/>
              </a:gs>
              <a:gs pos="100000">
                <a:srgbClr val="FFFFFF">
                  <a:alpha val="80000"/>
                </a:srgbClr>
              </a:gs>
            </a:gsLst>
            <a:lin ang="5400000" scaled="0"/>
          </a:gradFill>
          <a:ln w="19050">
            <a:solidFill>
              <a:srgbClr val="0C8E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42899" y="990599"/>
            <a:ext cx="38099" cy="1219200"/>
          </a:xfrm>
          <a:prstGeom prst="roundRect">
            <a:avLst/>
          </a:prstGeom>
          <a:solidFill>
            <a:srgbClr val="0C8ED1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38149" y="1390650"/>
            <a:ext cx="419099" cy="419100"/>
          </a:xfrm>
          <a:prstGeom prst="ellipse">
            <a:avLst/>
          </a:prstGeom>
          <a:noFill/>
          <a:ln w="19050">
            <a:solidFill>
              <a:srgbClr val="0C8E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04824" y="1457325"/>
            <a:ext cx="285749" cy="285750"/>
          </a:xfrm>
          <a:prstGeom prst="ellipse">
            <a:avLst/>
          </a:prstGeom>
          <a:solidFill>
            <a:srgbClr val="0C8ED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1949" y="1463802"/>
            <a:ext cx="571500" cy="25003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575" b="1">
                <a:solidFill>
                  <a:srgbClr val="20A2E5"/>
                </a:solidFill>
                <a:latin typeface="Roboto"/>
                <a:ea typeface="Microsoft YaHei"/>
              </a:rPr>
              <a:t>01</a:t>
            </a:r>
          </a:p>
        </p:txBody>
      </p:sp>
      <p:sp>
        <p:nvSpPr>
          <p:cNvPr id="17" name="Oval 16"/>
          <p:cNvSpPr/>
          <p:nvPr/>
        </p:nvSpPr>
        <p:spPr>
          <a:xfrm>
            <a:off x="1009649" y="1333500"/>
            <a:ext cx="76199" cy="76200"/>
          </a:xfrm>
          <a:prstGeom prst="ellipse">
            <a:avLst/>
          </a:prstGeom>
          <a:solidFill>
            <a:srgbClr val="0C8ED1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81099" y="1113282"/>
            <a:ext cx="13030200" cy="857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700" b="0">
                <a:solidFill>
                  <a:srgbClr val="0F172A"/>
                </a:solidFill>
                <a:latin typeface="Roboto"/>
                <a:ea typeface="Microsoft YaHei"/>
              </a:rPr>
              <a:t>水文水动力模拟（SWMM、MIKE）：机理清晰，但建模成本高、难以</a:t>
            </a:r>
          </a:p>
          <a:p>
            <a:r>
              <a:rPr sz="2700" b="0">
                <a:solidFill>
                  <a:srgbClr val="0F172A"/>
                </a:solidFill>
                <a:latin typeface="Roboto"/>
                <a:ea typeface="Microsoft YaHei"/>
              </a:rPr>
              <a:t>实时计算</a:t>
            </a:r>
          </a:p>
        </p:txBody>
      </p:sp>
      <p:sp>
        <p:nvSpPr>
          <p:cNvPr id="19" name="Rectangle 18"/>
          <p:cNvSpPr/>
          <p:nvPr/>
        </p:nvSpPr>
        <p:spPr>
          <a:custGeom>
            <a:pathLst>
              <a:path w="57149" h="114300">
                <a:moveTo>
                  <a:pt x="0" y="0"/>
                </a:moveTo>
                <a:lnTo>
                  <a:pt x="57149" y="57150"/>
                </a:lnTo>
                <a:lnTo>
                  <a:pt x="0" y="114300"/>
                </a:lnTo>
              </a:path>
            </a:pathLst>
          </a:custGeom>
          <a:xfrm>
            <a:off x="11620499" y="1543050"/>
            <a:ext cx="57149" cy="114300"/>
          </a:xfrm>
          <a:noFill/>
          <a:ln w="25400">
            <a:solidFill>
              <a:srgbClr val="0C8E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42899" y="2324100"/>
            <a:ext cx="11506199" cy="1219200"/>
          </a:xfrm>
          <a:prstGeom prst="roundRect">
            <a:avLst/>
          </a:prstGeom>
          <a:effectLst>
            <a:blur rad="203200"/>
            <a:outerShdw dist="38100" dir="0" blurRad="203200" algn="bl" rotWithShape="0">
              <a:srgbClr val="000000">
                <a:alpha val="10000"/>
              </a:srgbClr>
            </a:outerShdw>
          </a:effectLst>
          <a:gradFill>
            <a:gsLst>
              <a:gs pos="0">
                <a:srgbClr val="FFFFFF"/>
              </a:gs>
              <a:gs pos="100000">
                <a:srgbClr val="FFFFFF">
                  <a:alpha val="80000"/>
                </a:srgbClr>
              </a:gs>
            </a:gsLst>
            <a:lin ang="5400000" scaled="0"/>
          </a:gradFill>
          <a:ln w="19050">
            <a:solidFill>
              <a:srgbClr val="0070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42899" y="2324100"/>
            <a:ext cx="38099" cy="1219200"/>
          </a:xfrm>
          <a:prstGeom prst="roundRect">
            <a:avLst/>
          </a:prstGeom>
          <a:solidFill>
            <a:srgbClr val="0070B3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38149" y="2724150"/>
            <a:ext cx="419099" cy="419100"/>
          </a:xfrm>
          <a:prstGeom prst="ellipse">
            <a:avLst/>
          </a:prstGeom>
          <a:noFill/>
          <a:ln w="19050">
            <a:solidFill>
              <a:srgbClr val="0070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04824" y="2790824"/>
            <a:ext cx="285749" cy="285750"/>
          </a:xfrm>
          <a:prstGeom prst="ellipse">
            <a:avLst/>
          </a:prstGeom>
          <a:solidFill>
            <a:srgbClr val="0070B3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1949" y="2797302"/>
            <a:ext cx="571500" cy="25003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575" b="1">
                <a:solidFill>
                  <a:srgbClr val="0070B3"/>
                </a:solidFill>
                <a:latin typeface="Roboto"/>
                <a:ea typeface="Microsoft YaHei"/>
              </a:rPr>
              <a:t>02</a:t>
            </a:r>
          </a:p>
        </p:txBody>
      </p:sp>
      <p:sp>
        <p:nvSpPr>
          <p:cNvPr id="25" name="Oval 24"/>
          <p:cNvSpPr/>
          <p:nvPr/>
        </p:nvSpPr>
        <p:spPr>
          <a:xfrm>
            <a:off x="1009649" y="2667000"/>
            <a:ext cx="76199" cy="76200"/>
          </a:xfrm>
          <a:prstGeom prst="ellipse">
            <a:avLst/>
          </a:prstGeom>
          <a:solidFill>
            <a:srgbClr val="0070B3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81099" y="2446781"/>
            <a:ext cx="13287375" cy="857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700" b="0">
                <a:solidFill>
                  <a:srgbClr val="0F172A"/>
                </a:solidFill>
                <a:latin typeface="Roboto"/>
                <a:ea typeface="Microsoft YaHei"/>
              </a:rPr>
              <a:t>统计与指数法（层次分析、熵权）：易落地，但静态权重无法反映降</a:t>
            </a:r>
          </a:p>
          <a:p>
            <a:r>
              <a:rPr sz="2700" b="0">
                <a:solidFill>
                  <a:srgbClr val="0F172A"/>
                </a:solidFill>
                <a:latin typeface="Roboto"/>
                <a:ea typeface="Microsoft YaHei"/>
              </a:rPr>
              <a:t>雨过程</a:t>
            </a:r>
          </a:p>
        </p:txBody>
      </p:sp>
      <p:sp>
        <p:nvSpPr>
          <p:cNvPr id="27" name="Rectangle 26"/>
          <p:cNvSpPr/>
          <p:nvPr/>
        </p:nvSpPr>
        <p:spPr>
          <a:custGeom>
            <a:pathLst>
              <a:path w="57149" h="114300">
                <a:moveTo>
                  <a:pt x="0" y="0"/>
                </a:moveTo>
                <a:lnTo>
                  <a:pt x="57149" y="57150"/>
                </a:lnTo>
                <a:lnTo>
                  <a:pt x="0" y="114300"/>
                </a:lnTo>
              </a:path>
            </a:pathLst>
          </a:custGeom>
          <a:xfrm>
            <a:off x="11620499" y="2876549"/>
            <a:ext cx="57149" cy="114300"/>
          </a:xfrm>
          <a:noFill/>
          <a:ln w="25400">
            <a:solidFill>
              <a:srgbClr val="0070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342899" y="3657600"/>
            <a:ext cx="11506199" cy="723900"/>
          </a:xfrm>
          <a:prstGeom prst="roundRect">
            <a:avLst/>
          </a:prstGeom>
          <a:effectLst>
            <a:blur rad="203200"/>
            <a:outerShdw dist="38100" dir="0" blurRad="203200" algn="bl" rotWithShape="0">
              <a:srgbClr val="000000">
                <a:alpha val="10000"/>
              </a:srgbClr>
            </a:outerShdw>
          </a:effectLst>
          <a:gradFill>
            <a:gsLst>
              <a:gs pos="0">
                <a:srgbClr val="FFFFFF"/>
              </a:gs>
              <a:gs pos="100000">
                <a:srgbClr val="FFFFFF">
                  <a:alpha val="80000"/>
                </a:srgbClr>
              </a:gs>
            </a:gsLst>
            <a:lin ang="5400000" scaled="0"/>
          </a:gradFill>
          <a:ln w="19050">
            <a:solidFill>
              <a:srgbClr val="34B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342899" y="3657600"/>
            <a:ext cx="38099" cy="723900"/>
          </a:xfrm>
          <a:prstGeom prst="roundRect">
            <a:avLst/>
          </a:prstGeom>
          <a:solidFill>
            <a:srgbClr val="34B6F9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38149" y="3809999"/>
            <a:ext cx="419099" cy="419100"/>
          </a:xfrm>
          <a:prstGeom prst="ellipse">
            <a:avLst/>
          </a:prstGeom>
          <a:noFill/>
          <a:ln w="19050">
            <a:solidFill>
              <a:srgbClr val="34B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04824" y="3876674"/>
            <a:ext cx="285749" cy="285750"/>
          </a:xfrm>
          <a:prstGeom prst="ellipse">
            <a:avLst/>
          </a:prstGeom>
          <a:solidFill>
            <a:srgbClr val="34B6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1949" y="3883151"/>
            <a:ext cx="571500" cy="25003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575" b="1">
                <a:solidFill>
                  <a:srgbClr val="20A2E5"/>
                </a:solidFill>
                <a:latin typeface="Roboto"/>
                <a:ea typeface="Microsoft YaHei"/>
              </a:rPr>
              <a:t>03</a:t>
            </a:r>
          </a:p>
        </p:txBody>
      </p:sp>
      <p:sp>
        <p:nvSpPr>
          <p:cNvPr id="33" name="Oval 32"/>
          <p:cNvSpPr/>
          <p:nvPr/>
        </p:nvSpPr>
        <p:spPr>
          <a:xfrm>
            <a:off x="1009649" y="4000500"/>
            <a:ext cx="76199" cy="76200"/>
          </a:xfrm>
          <a:prstGeom prst="ellipse">
            <a:avLst/>
          </a:prstGeom>
          <a:solidFill>
            <a:srgbClr val="34B6F9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81099" y="3780281"/>
            <a:ext cx="13287375" cy="4286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700" b="0">
                <a:solidFill>
                  <a:srgbClr val="0F172A"/>
                </a:solidFill>
                <a:latin typeface="Roboto"/>
                <a:ea typeface="Microsoft YaHei"/>
              </a:rPr>
              <a:t>机器学习方法：精度较高，但特征多为单源，普遍忽略管网拓扑结构</a:t>
            </a:r>
          </a:p>
        </p:txBody>
      </p:sp>
      <p:sp>
        <p:nvSpPr>
          <p:cNvPr id="35" name="Rectangle 34"/>
          <p:cNvSpPr/>
          <p:nvPr/>
        </p:nvSpPr>
        <p:spPr>
          <a:custGeom>
            <a:pathLst>
              <a:path w="57149" h="114300">
                <a:moveTo>
                  <a:pt x="0" y="0"/>
                </a:moveTo>
                <a:lnTo>
                  <a:pt x="57149" y="57150"/>
                </a:lnTo>
                <a:lnTo>
                  <a:pt x="0" y="114300"/>
                </a:lnTo>
              </a:path>
            </a:pathLst>
          </a:custGeom>
          <a:xfrm>
            <a:off x="11620499" y="3962399"/>
            <a:ext cx="57149" cy="114300"/>
          </a:xfrm>
          <a:noFill/>
          <a:ln w="25400">
            <a:solidFill>
              <a:srgbClr val="34B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342899" y="4495799"/>
            <a:ext cx="11506199" cy="723900"/>
          </a:xfrm>
          <a:prstGeom prst="roundRect">
            <a:avLst/>
          </a:prstGeom>
          <a:effectLst>
            <a:blur rad="203200"/>
            <a:outerShdw dist="38100" dir="0" blurRad="203200" algn="bl" rotWithShape="0">
              <a:srgbClr val="000000">
                <a:alpha val="10000"/>
              </a:srgbClr>
            </a:outerShdw>
          </a:effectLst>
          <a:gradFill>
            <a:gsLst>
              <a:gs pos="0">
                <a:srgbClr val="FFFFFF"/>
              </a:gs>
              <a:gs pos="100000">
                <a:srgbClr val="FFFFFF">
                  <a:alpha val="80000"/>
                </a:srgbClr>
              </a:gs>
            </a:gsLst>
            <a:lin ang="5400000" scaled="0"/>
          </a:gradFill>
          <a:ln w="19050">
            <a:solidFill>
              <a:srgbClr val="0C8E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342899" y="4495799"/>
            <a:ext cx="38099" cy="723900"/>
          </a:xfrm>
          <a:prstGeom prst="roundRect">
            <a:avLst/>
          </a:prstGeom>
          <a:solidFill>
            <a:srgbClr val="0C8ED1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438149" y="4648200"/>
            <a:ext cx="419099" cy="419100"/>
          </a:xfrm>
          <a:prstGeom prst="ellipse">
            <a:avLst/>
          </a:prstGeom>
          <a:noFill/>
          <a:ln w="19050">
            <a:solidFill>
              <a:srgbClr val="0C8E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04824" y="4714875"/>
            <a:ext cx="285749" cy="285750"/>
          </a:xfrm>
          <a:prstGeom prst="ellipse">
            <a:avLst/>
          </a:prstGeom>
          <a:solidFill>
            <a:srgbClr val="0C8ED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1949" y="4721352"/>
            <a:ext cx="571500" cy="25003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575" b="1">
                <a:solidFill>
                  <a:srgbClr val="20A2E5"/>
                </a:solidFill>
                <a:latin typeface="Roboto"/>
                <a:ea typeface="Microsoft YaHei"/>
              </a:rPr>
              <a:t>04</a:t>
            </a:r>
          </a:p>
        </p:txBody>
      </p:sp>
      <p:sp>
        <p:nvSpPr>
          <p:cNvPr id="41" name="Oval 40"/>
          <p:cNvSpPr/>
          <p:nvPr/>
        </p:nvSpPr>
        <p:spPr>
          <a:xfrm>
            <a:off x="1009649" y="4838699"/>
            <a:ext cx="76199" cy="76200"/>
          </a:xfrm>
          <a:prstGeom prst="ellipse">
            <a:avLst/>
          </a:prstGeom>
          <a:solidFill>
            <a:srgbClr val="0C8ED1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81099" y="4618482"/>
            <a:ext cx="12858750" cy="4286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700" b="0">
                <a:solidFill>
                  <a:srgbClr val="0F172A"/>
                </a:solidFill>
                <a:latin typeface="Roboto"/>
                <a:ea typeface="Microsoft YaHei"/>
              </a:rPr>
              <a:t>共性缺口：多源异构数据融合不足，缺乏对管网连通性的显式建模</a:t>
            </a:r>
          </a:p>
        </p:txBody>
      </p:sp>
      <p:sp>
        <p:nvSpPr>
          <p:cNvPr id="43" name="Rectangle 42"/>
          <p:cNvSpPr/>
          <p:nvPr/>
        </p:nvSpPr>
        <p:spPr>
          <a:custGeom>
            <a:pathLst>
              <a:path w="57149" h="114300">
                <a:moveTo>
                  <a:pt x="0" y="0"/>
                </a:moveTo>
                <a:lnTo>
                  <a:pt x="57149" y="57150"/>
                </a:lnTo>
                <a:lnTo>
                  <a:pt x="0" y="114300"/>
                </a:lnTo>
              </a:path>
            </a:pathLst>
          </a:custGeom>
          <a:xfrm>
            <a:off x="11620499" y="4800600"/>
            <a:ext cx="57149" cy="114300"/>
          </a:xfrm>
          <a:noFill/>
          <a:ln w="25400">
            <a:solidFill>
              <a:srgbClr val="0C8E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00999" y="-2381250"/>
            <a:ext cx="7619999" cy="5334000"/>
          </a:xfrm>
          <a:prstGeom prst="ellipse">
            <a:avLst/>
          </a:prstGeom>
          <a:gradFill>
            <a:gsLst>
              <a:gs pos="0">
                <a:srgbClr val="007CBF">
                  <a:alpha val="15000"/>
                </a:srgbClr>
              </a:gs>
              <a:gs pos="100000">
                <a:srgbClr val="007CB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095499" y="4667249"/>
            <a:ext cx="5333999" cy="3809999"/>
          </a:xfrm>
          <a:prstGeom prst="ellipse">
            <a:avLst/>
          </a:prstGeom>
          <a:gradFill>
            <a:gsLst>
              <a:gs pos="0">
                <a:srgbClr val="28A4E7">
                  <a:alpha val="10000"/>
                </a:srgbClr>
              </a:gs>
              <a:gs pos="100000">
                <a:srgbClr val="28A4E7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 flipH="1">
            <a:off x="10286999" y="0"/>
            <a:ext cx="1905000" cy="1714500"/>
          </a:xfrm>
          <a:prstGeom prst="line">
            <a:avLst/>
          </a:prstGeom>
          <a:ln w="25400">
            <a:solidFill>
              <a:srgbClr val="007C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H="1">
            <a:off x="10858499" y="0"/>
            <a:ext cx="1333500" cy="1143000"/>
          </a:xfrm>
          <a:prstGeom prst="line">
            <a:avLst/>
          </a:prstGeom>
          <a:ln w="12700">
            <a:solidFill>
              <a:srgbClr val="007C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11849099" y="0"/>
            <a:ext cx="342899" cy="6858000"/>
          </a:xfrm>
          <a:prstGeom prst="rect">
            <a:avLst/>
          </a:prstGeom>
          <a:solidFill>
            <a:srgbClr val="007CBF">
              <a:alpha val="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14299" cy="6858000"/>
          </a:xfrm>
          <a:prstGeom prst="rect">
            <a:avLst/>
          </a:prstGeom>
          <a:gradFill>
            <a:gsLst>
              <a:gs pos="0">
                <a:srgbClr val="007CBF">
                  <a:alpha val="40000"/>
                </a:srgbClr>
              </a:gs>
              <a:gs pos="50000">
                <a:srgbClr val="007CBF">
                  <a:alpha val="90000"/>
                </a:srgbClr>
              </a:gs>
              <a:gs pos="100000">
                <a:srgbClr val="007CBF">
                  <a:alpha val="40000"/>
                </a:srgbClr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93548" y="6216777"/>
            <a:ext cx="1212651" cy="25003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575" b="0">
                <a:solidFill>
                  <a:srgbClr val="475569">
                    <a:alpha val="70000"/>
                  </a:srgbClr>
                </a:solidFill>
                <a:latin typeface="Roboto"/>
                <a:ea typeface="Microsoft YaHei"/>
              </a:rPr>
              <a:t>05 / 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899" y="48768"/>
            <a:ext cx="11391899" cy="7619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4800" b="1">
                <a:solidFill>
                  <a:srgbClr val="0F172A"/>
                </a:solidFill>
                <a:latin typeface="Roboto"/>
                <a:ea typeface="Microsoft YaHei"/>
              </a:rPr>
              <a:t>已有方法对比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899" y="723900"/>
            <a:ext cx="685799" cy="33337"/>
          </a:xfrm>
          <a:prstGeom prst="roundRect">
            <a:avLst/>
          </a:prstGeom>
          <a:solidFill>
            <a:srgbClr val="007CBF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42899" y="1371600"/>
            <a:ext cx="11506199" cy="4591050"/>
          </a:xfrm>
          <a:prstGeom prst="roundRect">
            <a:avLst/>
          </a:prstGeom>
          <a:effectLst>
            <a:blur rad="203200"/>
            <a:outerShdw dist="38100" dir="0" blurRad="203200" algn="bl" rotWithShape="0">
              <a:srgbClr val="000000">
                <a:alpha val="10000"/>
              </a:srgbClr>
            </a:outerShdw>
          </a:effectLst>
          <a:gradFill>
            <a:gsLst>
              <a:gs pos="0">
                <a:srgbClr val="FFFFFF"/>
              </a:gs>
              <a:gs pos="100000">
                <a:srgbClr val="FFFFFF">
                  <a:alpha val="85000"/>
                </a:srgbClr>
              </a:gs>
            </a:gsLst>
            <a:lin ang="0" scaled="0"/>
          </a:gradFill>
          <a:ln w="19050">
            <a:solidFill>
              <a:srgbClr val="007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42899" y="1371600"/>
            <a:ext cx="38099" cy="4591050"/>
          </a:xfrm>
          <a:prstGeom prst="roundRect">
            <a:avLst/>
          </a:prstGeom>
          <a:solidFill>
            <a:srgbClr val="007CBF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custGeom>
            <a:pathLst>
              <a:path w="76199" h="76200">
                <a:moveTo>
                  <a:pt x="0" y="38100"/>
                </a:moveTo>
                <a:lnTo>
                  <a:pt x="38099" y="0"/>
                </a:lnTo>
                <a:lnTo>
                  <a:pt x="76199" y="38100"/>
                </a:lnTo>
                <a:lnTo>
                  <a:pt x="38099" y="76200"/>
                </a:lnTo>
                <a:close/>
              </a:path>
            </a:pathLst>
          </a:custGeom>
          <a:xfrm>
            <a:off x="857249" y="1695449"/>
            <a:ext cx="76199" cy="76200"/>
          </a:xfrm>
          <a:solidFill>
            <a:srgbClr val="007CBF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8699" y="1608582"/>
            <a:ext cx="7993856" cy="4286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700" b="0">
                <a:solidFill>
                  <a:srgbClr val="475569"/>
                </a:solidFill>
                <a:latin typeface="Roboto"/>
                <a:ea typeface="Microsoft YaHei"/>
              </a:rPr>
              <a:t>方法类别|代表模型|数据需求|主要局限</a:t>
            </a:r>
          </a:p>
        </p:txBody>
      </p:sp>
      <p:sp>
        <p:nvSpPr>
          <p:cNvPr id="16" name="Rectangle 15"/>
          <p:cNvSpPr/>
          <p:nvPr/>
        </p:nvSpPr>
        <p:spPr>
          <a:custGeom>
            <a:pathLst>
              <a:path w="76199" h="76200">
                <a:moveTo>
                  <a:pt x="0" y="38100"/>
                </a:moveTo>
                <a:lnTo>
                  <a:pt x="38099" y="0"/>
                </a:lnTo>
                <a:lnTo>
                  <a:pt x="76199" y="38100"/>
                </a:lnTo>
                <a:lnTo>
                  <a:pt x="38099" y="76200"/>
                </a:lnTo>
                <a:close/>
              </a:path>
            </a:pathLst>
          </a:custGeom>
          <a:xfrm>
            <a:off x="857249" y="2381250"/>
            <a:ext cx="76199" cy="76200"/>
          </a:xfrm>
          <a:solidFill>
            <a:srgbClr val="007CBF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28699" y="2294381"/>
            <a:ext cx="13844587" cy="857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700" b="0">
                <a:solidFill>
                  <a:srgbClr val="475569"/>
                </a:solidFill>
                <a:latin typeface="Roboto"/>
                <a:ea typeface="Microsoft YaHei"/>
              </a:rPr>
              <a:t>水动力模拟|SWMM / MIKE URBAN|管网 + 地形 + 降雨|计算耗时，难</a:t>
            </a:r>
          </a:p>
          <a:p>
            <a:r>
              <a:rPr sz="2700" b="0">
                <a:solidFill>
                  <a:srgbClr val="475569"/>
                </a:solidFill>
                <a:latin typeface="Roboto"/>
                <a:ea typeface="Microsoft YaHei"/>
              </a:rPr>
              <a:t>以实时</a:t>
            </a:r>
          </a:p>
        </p:txBody>
      </p:sp>
      <p:sp>
        <p:nvSpPr>
          <p:cNvPr id="18" name="Rectangle 17"/>
          <p:cNvSpPr/>
          <p:nvPr/>
        </p:nvSpPr>
        <p:spPr>
          <a:custGeom>
            <a:pathLst>
              <a:path w="76199" h="76200">
                <a:moveTo>
                  <a:pt x="0" y="38100"/>
                </a:moveTo>
                <a:lnTo>
                  <a:pt x="38099" y="0"/>
                </a:lnTo>
                <a:lnTo>
                  <a:pt x="76199" y="38100"/>
                </a:lnTo>
                <a:lnTo>
                  <a:pt x="38099" y="76200"/>
                </a:lnTo>
                <a:close/>
              </a:path>
            </a:pathLst>
          </a:custGeom>
          <a:xfrm>
            <a:off x="857249" y="3562349"/>
            <a:ext cx="76199" cy="76200"/>
          </a:xfrm>
          <a:solidFill>
            <a:srgbClr val="007CBF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28699" y="3475481"/>
            <a:ext cx="11551443" cy="4286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700" b="0">
                <a:solidFill>
                  <a:srgbClr val="475569"/>
                </a:solidFill>
                <a:latin typeface="Roboto"/>
                <a:ea typeface="Microsoft YaHei"/>
              </a:rPr>
              <a:t>指数评价|AHP / 熵权法|统计年鉴指标|静态权重，粒度粗</a:t>
            </a:r>
          </a:p>
        </p:txBody>
      </p:sp>
      <p:sp>
        <p:nvSpPr>
          <p:cNvPr id="20" name="Rectangle 19"/>
          <p:cNvSpPr/>
          <p:nvPr/>
        </p:nvSpPr>
        <p:spPr>
          <a:custGeom>
            <a:pathLst>
              <a:path w="76199" h="76200">
                <a:moveTo>
                  <a:pt x="0" y="38100"/>
                </a:moveTo>
                <a:lnTo>
                  <a:pt x="38099" y="0"/>
                </a:lnTo>
                <a:lnTo>
                  <a:pt x="76199" y="38100"/>
                </a:lnTo>
                <a:lnTo>
                  <a:pt x="38099" y="76200"/>
                </a:lnTo>
                <a:close/>
              </a:path>
            </a:pathLst>
          </a:custGeom>
          <a:xfrm>
            <a:off x="857249" y="4248150"/>
            <a:ext cx="76199" cy="76200"/>
          </a:xfrm>
          <a:solidFill>
            <a:srgbClr val="007CBF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8699" y="4161282"/>
            <a:ext cx="11251406" cy="4286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700" b="0">
                <a:solidFill>
                  <a:srgbClr val="475569"/>
                </a:solidFill>
                <a:latin typeface="Roboto"/>
                <a:ea typeface="Microsoft YaHei"/>
              </a:rPr>
              <a:t>机器学习|RF / XGBoost|历史积水点|单源特征，弱拓扑</a:t>
            </a:r>
          </a:p>
        </p:txBody>
      </p:sp>
      <p:sp>
        <p:nvSpPr>
          <p:cNvPr id="22" name="Rectangle 21"/>
          <p:cNvSpPr/>
          <p:nvPr/>
        </p:nvSpPr>
        <p:spPr>
          <a:custGeom>
            <a:pathLst>
              <a:path w="76199" h="76200">
                <a:moveTo>
                  <a:pt x="0" y="38100"/>
                </a:moveTo>
                <a:lnTo>
                  <a:pt x="38099" y="0"/>
                </a:lnTo>
                <a:lnTo>
                  <a:pt x="76199" y="38100"/>
                </a:lnTo>
                <a:lnTo>
                  <a:pt x="38099" y="76200"/>
                </a:lnTo>
                <a:close/>
              </a:path>
            </a:pathLst>
          </a:custGeom>
          <a:xfrm>
            <a:off x="857249" y="4933950"/>
            <a:ext cx="76199" cy="76200"/>
          </a:xfrm>
          <a:solidFill>
            <a:srgbClr val="007CBF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8699" y="4847082"/>
            <a:ext cx="12580143" cy="4286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700" b="0">
                <a:solidFill>
                  <a:srgbClr val="475569"/>
                </a:solidFill>
                <a:latin typeface="Roboto"/>
                <a:ea typeface="Microsoft YaHei"/>
              </a:rPr>
              <a:t>本文方法|XGBoost + GCN 融合|五类多源数据|跨城泛化待验证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2899" y="1943100"/>
            <a:ext cx="5524499" cy="1571625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324599" y="1943100"/>
            <a:ext cx="5524499" cy="1571625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42899" y="3971925"/>
            <a:ext cx="5524499" cy="1571625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324599" y="3971925"/>
            <a:ext cx="5524499" cy="1571625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000999" y="-2381250"/>
            <a:ext cx="7619999" cy="5334000"/>
          </a:xfrm>
          <a:prstGeom prst="ellipse">
            <a:avLst/>
          </a:prstGeom>
          <a:gradFill>
            <a:gsLst>
              <a:gs pos="0">
                <a:srgbClr val="0C8ED1">
                  <a:alpha val="15000"/>
                </a:srgbClr>
              </a:gs>
              <a:gs pos="100000">
                <a:srgbClr val="0C8ED1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-2095499" y="4667249"/>
            <a:ext cx="5333999" cy="3809999"/>
          </a:xfrm>
          <a:prstGeom prst="ellipse">
            <a:avLst/>
          </a:prstGeom>
          <a:gradFill>
            <a:gsLst>
              <a:gs pos="0">
                <a:srgbClr val="34B6F9">
                  <a:alpha val="10000"/>
                </a:srgbClr>
              </a:gs>
              <a:gs pos="100000">
                <a:srgbClr val="34B6F9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 flipH="1">
            <a:off x="10286999" y="0"/>
            <a:ext cx="1905000" cy="1714500"/>
          </a:xfrm>
          <a:prstGeom prst="line">
            <a:avLst/>
          </a:prstGeom>
          <a:ln w="25400">
            <a:solidFill>
              <a:srgbClr val="0C8E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10858499" y="0"/>
            <a:ext cx="1333500" cy="1143000"/>
          </a:xfrm>
          <a:prstGeom prst="line">
            <a:avLst/>
          </a:prstGeom>
          <a:ln w="12700">
            <a:solidFill>
              <a:srgbClr val="0C8E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0" y="0"/>
            <a:ext cx="114299" cy="6858000"/>
          </a:xfrm>
          <a:prstGeom prst="rect">
            <a:avLst/>
          </a:prstGeom>
          <a:gradFill>
            <a:gsLst>
              <a:gs pos="0">
                <a:srgbClr val="0C8ED1">
                  <a:alpha val="40000"/>
                </a:srgbClr>
              </a:gs>
              <a:gs pos="50000">
                <a:srgbClr val="0C8ED1">
                  <a:alpha val="90000"/>
                </a:srgbClr>
              </a:gs>
              <a:gs pos="100000">
                <a:srgbClr val="0C8ED1">
                  <a:alpha val="40000"/>
                </a:srgbClr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93548" y="6216777"/>
            <a:ext cx="1212651" cy="25003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575" b="0">
                <a:solidFill>
                  <a:srgbClr val="475569">
                    <a:alpha val="70000"/>
                  </a:srgbClr>
                </a:solidFill>
                <a:latin typeface="Roboto"/>
                <a:ea typeface="Microsoft YaHei"/>
              </a:rPr>
              <a:t>06 / 16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899" y="387476"/>
            <a:ext cx="11391899" cy="25003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575" b="1">
                <a:solidFill>
                  <a:srgbClr val="0C8ED1"/>
                </a:solidFill>
                <a:latin typeface="Roboto"/>
                <a:ea typeface="Microsoft YaHei"/>
              </a:rPr>
              <a:t>PROCESS → 4 STEPS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899" y="574547"/>
            <a:ext cx="11391899" cy="64293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4050" b="1">
                <a:solidFill>
                  <a:srgbClr val="0F172A"/>
                </a:solidFill>
                <a:latin typeface="Roboto"/>
                <a:ea typeface="Microsoft YaHei"/>
              </a:rPr>
              <a:t>技术路线：数据、模型、验证三层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2899" y="1943100"/>
            <a:ext cx="5524499" cy="1571625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rgbClr val="FFFFFF">
                  <a:alpha val="80000"/>
                </a:srgbClr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2899" y="1943100"/>
            <a:ext cx="38099" cy="1571625"/>
          </a:xfrm>
          <a:prstGeom prst="rect">
            <a:avLst/>
          </a:prstGeom>
          <a:solidFill>
            <a:srgbClr val="0C8E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42899" y="1943100"/>
            <a:ext cx="5524499" cy="1571625"/>
          </a:xfrm>
          <a:prstGeom prst="roundRect">
            <a:avLst/>
          </a:prstGeom>
          <a:effectLst>
            <a:blur rad="203200"/>
            <a:outerShdw dist="38100" dir="0" blurRad="203200" algn="bl" rotWithShape="0">
              <a:srgbClr val="000000">
                <a:alpha val="10000"/>
              </a:srgbClr>
            </a:outerShdw>
          </a:effectLst>
          <a:noFill/>
          <a:ln w="19050">
            <a:solidFill>
              <a:srgbClr val="0C8E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90524" y="1990724"/>
            <a:ext cx="5429249" cy="1476375"/>
          </a:xfrm>
          <a:prstGeom prst="roundRect">
            <a:avLst/>
          </a:prstGeom>
          <a:noFill/>
          <a:ln w="12700">
            <a:solidFill>
              <a:srgbClr val="0C8E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914649" y="2133599"/>
            <a:ext cx="380999" cy="380999"/>
          </a:xfrm>
          <a:prstGeom prst="ellipse">
            <a:avLst/>
          </a:prstGeom>
          <a:noFill/>
          <a:ln w="15240">
            <a:solidFill>
              <a:srgbClr val="0C8E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971799" y="2190749"/>
            <a:ext cx="266699" cy="266699"/>
          </a:xfrm>
          <a:prstGeom prst="ellipse">
            <a:avLst/>
          </a:prstGeom>
          <a:solidFill>
            <a:srgbClr val="0C8E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80109" y="2143887"/>
            <a:ext cx="650081" cy="3095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950" b="1">
                <a:solidFill>
                  <a:srgbClr val="0F172A"/>
                </a:solidFill>
                <a:latin typeface="Roboto"/>
                <a:ea typeface="Microsoft YaHei"/>
              </a:rPr>
              <a:t>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0" y="2653283"/>
            <a:ext cx="6476999" cy="7619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2400" b="0">
                <a:solidFill>
                  <a:srgbClr val="0F172A"/>
                </a:solidFill>
                <a:latin typeface="Roboto"/>
                <a:ea typeface="Microsoft YaHei"/>
              </a:rPr>
              <a:t>数据层：五类多源数据采集、清洗与</a:t>
            </a:r>
          </a:p>
          <a:p>
            <a:pPr algn="ctr"/>
            <a:r>
              <a:rPr sz="2400" b="0">
                <a:solidFill>
                  <a:srgbClr val="0F172A"/>
                </a:solidFill>
                <a:latin typeface="Roboto"/>
                <a:ea typeface="Microsoft YaHei"/>
              </a:rPr>
              <a:t>400 米网格化对齐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24599" y="1943100"/>
            <a:ext cx="5524499" cy="1571625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rgbClr val="FFFFFF">
                  <a:alpha val="80000"/>
                </a:srgbClr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24599" y="1943100"/>
            <a:ext cx="38099" cy="1571625"/>
          </a:xfrm>
          <a:prstGeom prst="rect">
            <a:avLst/>
          </a:prstGeom>
          <a:solidFill>
            <a:srgbClr val="0066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324599" y="1943100"/>
            <a:ext cx="5524499" cy="1571625"/>
          </a:xfrm>
          <a:prstGeom prst="roundRect">
            <a:avLst/>
          </a:prstGeom>
          <a:effectLst>
            <a:blur rad="203200"/>
            <a:outerShdw dist="38100" dir="0" blurRad="203200" algn="bl" rotWithShape="0">
              <a:srgbClr val="000000">
                <a:alpha val="10000"/>
              </a:srgbClr>
            </a:outerShdw>
          </a:effectLst>
          <a:noFill/>
          <a:ln w="19050">
            <a:solidFill>
              <a:srgbClr val="0066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372224" y="1990724"/>
            <a:ext cx="5429249" cy="1476375"/>
          </a:xfrm>
          <a:prstGeom prst="roundRect">
            <a:avLst/>
          </a:prstGeom>
          <a:noFill/>
          <a:ln w="12700">
            <a:solidFill>
              <a:srgbClr val="0066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896349" y="2133599"/>
            <a:ext cx="380999" cy="380999"/>
          </a:xfrm>
          <a:prstGeom prst="ellipse">
            <a:avLst/>
          </a:prstGeom>
          <a:noFill/>
          <a:ln w="15240">
            <a:solidFill>
              <a:srgbClr val="0066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953499" y="2190749"/>
            <a:ext cx="266699" cy="266699"/>
          </a:xfrm>
          <a:prstGeom prst="ellipse">
            <a:avLst/>
          </a:prstGeom>
          <a:solidFill>
            <a:srgbClr val="0066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61809" y="2143887"/>
            <a:ext cx="650081" cy="3095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950" b="1">
                <a:solidFill>
                  <a:srgbClr val="F1F5F9"/>
                </a:solidFill>
                <a:latin typeface="Roboto"/>
                <a:ea typeface="Microsoft YaHei"/>
              </a:rPr>
              <a:t>02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15024" y="2653283"/>
            <a:ext cx="6343650" cy="7619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2400" b="0">
                <a:solidFill>
                  <a:srgbClr val="0F172A"/>
                </a:solidFill>
                <a:latin typeface="Roboto"/>
                <a:ea typeface="Microsoft YaHei"/>
              </a:rPr>
              <a:t>特征层：静态承灾特征 + 动态降雨</a:t>
            </a:r>
          </a:p>
          <a:p>
            <a:pPr algn="ctr"/>
            <a:r>
              <a:rPr sz="2400" b="0">
                <a:solidFill>
                  <a:srgbClr val="0F172A"/>
                </a:solidFill>
                <a:latin typeface="Roboto"/>
                <a:ea typeface="Microsoft YaHei"/>
              </a:rPr>
              <a:t>特征 + 管网拓扑特征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42899" y="3971925"/>
            <a:ext cx="5524499" cy="1571625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rgbClr val="FFFFFF">
                  <a:alpha val="80000"/>
                </a:srgbClr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42899" y="3971925"/>
            <a:ext cx="38099" cy="1571625"/>
          </a:xfrm>
          <a:prstGeom prst="rect">
            <a:avLst/>
          </a:prstGeom>
          <a:solidFill>
            <a:srgbClr val="3EC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342899" y="3971925"/>
            <a:ext cx="5524499" cy="1571625"/>
          </a:xfrm>
          <a:prstGeom prst="roundRect">
            <a:avLst/>
          </a:prstGeom>
          <a:effectLst>
            <a:blur rad="203200"/>
            <a:outerShdw dist="38100" dir="0" blurRad="203200" algn="bl" rotWithShape="0">
              <a:srgbClr val="000000">
                <a:alpha val="10000"/>
              </a:srgbClr>
            </a:outerShdw>
          </a:effectLst>
          <a:noFill/>
          <a:ln w="19050">
            <a:solidFill>
              <a:srgbClr val="3EC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390524" y="4019549"/>
            <a:ext cx="5429249" cy="1476375"/>
          </a:xfrm>
          <a:prstGeom prst="roundRect">
            <a:avLst/>
          </a:prstGeom>
          <a:noFill/>
          <a:ln w="12700">
            <a:solidFill>
              <a:srgbClr val="3EC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2914649" y="4162424"/>
            <a:ext cx="380999" cy="380999"/>
          </a:xfrm>
          <a:prstGeom prst="ellipse">
            <a:avLst/>
          </a:prstGeom>
          <a:noFill/>
          <a:ln w="15240">
            <a:solidFill>
              <a:srgbClr val="3EC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2971799" y="4219575"/>
            <a:ext cx="266699" cy="266699"/>
          </a:xfrm>
          <a:prstGeom prst="ellipse">
            <a:avLst/>
          </a:prstGeom>
          <a:solidFill>
            <a:srgbClr val="3EC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780109" y="4172712"/>
            <a:ext cx="650081" cy="3095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950" b="1">
                <a:solidFill>
                  <a:srgbClr val="0F172A"/>
                </a:solidFill>
                <a:latin typeface="Roboto"/>
                <a:ea typeface="Microsoft YaHei"/>
              </a:rPr>
              <a:t>03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0" y="4680585"/>
            <a:ext cx="6447234" cy="7143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2250" b="0">
                <a:solidFill>
                  <a:srgbClr val="0F172A"/>
                </a:solidFill>
                <a:latin typeface="Roboto"/>
                <a:ea typeface="Microsoft YaHei"/>
              </a:rPr>
              <a:t>模型层：XGBoost 学习属性特征，GCN</a:t>
            </a:r>
          </a:p>
          <a:p>
            <a:pPr algn="ctr"/>
            <a:r>
              <a:rPr sz="2250" b="0">
                <a:solidFill>
                  <a:srgbClr val="0F172A"/>
                </a:solidFill>
                <a:latin typeface="Roboto"/>
                <a:ea typeface="Microsoft YaHei"/>
              </a:rPr>
              <a:t>编码管网拓扑，加权融合输出风险等级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324599" y="3971925"/>
            <a:ext cx="5524499" cy="1571625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rgbClr val="FFFFFF">
                  <a:alpha val="80000"/>
                </a:srgbClr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324599" y="3971925"/>
            <a:ext cx="38099" cy="1571625"/>
          </a:xfrm>
          <a:prstGeom prst="rect">
            <a:avLst/>
          </a:prstGeom>
          <a:solidFill>
            <a:srgbClr val="007A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6324599" y="3971925"/>
            <a:ext cx="5524499" cy="1571625"/>
          </a:xfrm>
          <a:prstGeom prst="roundRect">
            <a:avLst/>
          </a:prstGeom>
          <a:effectLst>
            <a:blur rad="203200"/>
            <a:outerShdw dist="38100" dir="0" blurRad="203200" algn="bl" rotWithShape="0">
              <a:srgbClr val="000000">
                <a:alpha val="10000"/>
              </a:srgbClr>
            </a:outerShdw>
          </a:effectLst>
          <a:noFill/>
          <a:ln w="19050">
            <a:solidFill>
              <a:srgbClr val="007A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6372224" y="4019549"/>
            <a:ext cx="5429249" cy="1476375"/>
          </a:xfrm>
          <a:prstGeom prst="roundRect">
            <a:avLst/>
          </a:prstGeom>
          <a:noFill/>
          <a:ln w="12700">
            <a:solidFill>
              <a:srgbClr val="007A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8896349" y="4162424"/>
            <a:ext cx="380999" cy="380999"/>
          </a:xfrm>
          <a:prstGeom prst="ellipse">
            <a:avLst/>
          </a:prstGeom>
          <a:noFill/>
          <a:ln w="15240">
            <a:solidFill>
              <a:srgbClr val="007A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8953499" y="4219575"/>
            <a:ext cx="266699" cy="266699"/>
          </a:xfrm>
          <a:prstGeom prst="ellipse">
            <a:avLst/>
          </a:prstGeom>
          <a:solidFill>
            <a:srgbClr val="007A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761809" y="4172712"/>
            <a:ext cx="650081" cy="3095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950" b="1">
                <a:solidFill>
                  <a:srgbClr val="F1F5F9"/>
                </a:solidFill>
                <a:latin typeface="Roboto"/>
                <a:ea typeface="Microsoft YaHei"/>
              </a:rPr>
              <a:t>04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895974" y="4682109"/>
            <a:ext cx="6381749" cy="7619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2400" b="0">
                <a:solidFill>
                  <a:srgbClr val="0F172A"/>
                </a:solidFill>
                <a:latin typeface="Roboto"/>
                <a:ea typeface="Microsoft YaHei"/>
              </a:rPr>
              <a:t>验证层：37 场历史降雨事件回放 +</a:t>
            </a:r>
          </a:p>
          <a:p>
            <a:pPr algn="ctr"/>
            <a:r>
              <a:rPr sz="2400" b="0">
                <a:solidFill>
                  <a:srgbClr val="0F172A"/>
                </a:solidFill>
                <a:latin typeface="Roboto"/>
                <a:ea typeface="Microsoft YaHei"/>
              </a:rPr>
              <a:t>2025 年汛期实测检验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00999" y="-2381250"/>
            <a:ext cx="7619999" cy="5334000"/>
          </a:xfrm>
          <a:prstGeom prst="ellipse">
            <a:avLst/>
          </a:prstGeom>
          <a:gradFill>
            <a:gsLst>
              <a:gs pos="0">
                <a:srgbClr val="0C8ED1">
                  <a:alpha val="15000"/>
                </a:srgbClr>
              </a:gs>
              <a:gs pos="100000">
                <a:srgbClr val="0C8ED1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095499" y="4667249"/>
            <a:ext cx="5333999" cy="3809999"/>
          </a:xfrm>
          <a:prstGeom prst="ellipse">
            <a:avLst/>
          </a:prstGeom>
          <a:gradFill>
            <a:gsLst>
              <a:gs pos="0">
                <a:srgbClr val="34B6F9">
                  <a:alpha val="10000"/>
                </a:srgbClr>
              </a:gs>
              <a:gs pos="100000">
                <a:srgbClr val="34B6F9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 flipH="1">
            <a:off x="10286999" y="0"/>
            <a:ext cx="1905000" cy="1714500"/>
          </a:xfrm>
          <a:prstGeom prst="line">
            <a:avLst/>
          </a:prstGeom>
          <a:ln w="25400">
            <a:solidFill>
              <a:srgbClr val="0C8E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H="1">
            <a:off x="10858499" y="0"/>
            <a:ext cx="1333500" cy="1143000"/>
          </a:xfrm>
          <a:prstGeom prst="line">
            <a:avLst/>
          </a:prstGeom>
          <a:ln w="12700">
            <a:solidFill>
              <a:srgbClr val="0C8E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11849099" y="0"/>
            <a:ext cx="342899" cy="6858000"/>
          </a:xfrm>
          <a:prstGeom prst="rect">
            <a:avLst/>
          </a:prstGeom>
          <a:solidFill>
            <a:srgbClr val="0C8ED1">
              <a:alpha val="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14299" cy="6858000"/>
          </a:xfrm>
          <a:prstGeom prst="rect">
            <a:avLst/>
          </a:prstGeom>
          <a:gradFill>
            <a:gsLst>
              <a:gs pos="0">
                <a:srgbClr val="0C8ED1">
                  <a:alpha val="40000"/>
                </a:srgbClr>
              </a:gs>
              <a:gs pos="50000">
                <a:srgbClr val="0C8ED1">
                  <a:alpha val="90000"/>
                </a:srgbClr>
              </a:gs>
              <a:gs pos="100000">
                <a:srgbClr val="0C8ED1">
                  <a:alpha val="40000"/>
                </a:srgbClr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93548" y="6216777"/>
            <a:ext cx="1212651" cy="25003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575" b="0">
                <a:solidFill>
                  <a:srgbClr val="475569">
                    <a:alpha val="70000"/>
                  </a:srgbClr>
                </a:solidFill>
                <a:latin typeface="Roboto"/>
                <a:ea typeface="Microsoft YaHei"/>
              </a:rPr>
              <a:t>07 / 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899" y="136397"/>
            <a:ext cx="11391899" cy="64293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4050" b="1">
                <a:solidFill>
                  <a:srgbClr val="0F172A"/>
                </a:solidFill>
                <a:latin typeface="Roboto"/>
                <a:ea typeface="Microsoft YaHei"/>
              </a:rPr>
              <a:t>多源数据采集与处理 (1/2)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899" y="723900"/>
            <a:ext cx="685799" cy="33337"/>
          </a:xfrm>
          <a:prstGeom prst="roundRect">
            <a:avLst/>
          </a:prstGeom>
          <a:solidFill>
            <a:srgbClr val="0C8ED1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42899" y="1371600"/>
            <a:ext cx="2705099" cy="3219449"/>
          </a:xfrm>
          <a:prstGeom prst="roundRect">
            <a:avLst/>
          </a:prstGeom>
          <a:effectLst>
            <a:blur rad="203200"/>
            <a:outerShdw dist="38100" dir="0" blurRad="203200" algn="bl" rotWithShape="0">
              <a:srgbClr val="000000">
                <a:alpha val="10000"/>
              </a:srgbClr>
            </a:outerShdw>
          </a:effectLst>
          <a:gradFill>
            <a:gsLst>
              <a:gs pos="0">
                <a:srgbClr val="FFFFFF"/>
              </a:gs>
              <a:gs pos="100000">
                <a:srgbClr val="FFFFFF">
                  <a:alpha val="85000"/>
                </a:srgbClr>
              </a:gs>
            </a:gsLst>
            <a:lin ang="0" scaled="0"/>
          </a:gradFill>
          <a:ln w="19050">
            <a:solidFill>
              <a:srgbClr val="0C8E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42899" y="1371600"/>
            <a:ext cx="2705099" cy="38100"/>
          </a:xfrm>
          <a:prstGeom prst="roundRect">
            <a:avLst/>
          </a:prstGeom>
          <a:solidFill>
            <a:srgbClr val="0C8ED1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38274" y="1552574"/>
            <a:ext cx="514349" cy="514350"/>
          </a:xfrm>
          <a:prstGeom prst="ellipse">
            <a:avLst/>
          </a:prstGeom>
          <a:noFill/>
          <a:ln w="12700">
            <a:solidFill>
              <a:srgbClr val="0C8E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76374" y="1590675"/>
            <a:ext cx="438149" cy="438149"/>
          </a:xfrm>
          <a:prstGeom prst="ellipse">
            <a:avLst/>
          </a:prstGeom>
          <a:solidFill>
            <a:srgbClr val="0C8ED1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09699" y="1672589"/>
            <a:ext cx="571500" cy="2381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499" b="1">
                <a:solidFill>
                  <a:srgbClr val="20A2E5">
                    <a:alpha val="90000"/>
                  </a:srgbClr>
                </a:solidFill>
                <a:latin typeface="Roboto"/>
                <a:ea typeface="Microsoft YaHei"/>
              </a:rPr>
              <a:t>01</a:t>
            </a:r>
          </a:p>
        </p:txBody>
      </p:sp>
      <p:sp>
        <p:nvSpPr>
          <p:cNvPr id="17" name="Rectangle 16"/>
          <p:cNvSpPr/>
          <p:nvPr/>
        </p:nvSpPr>
        <p:spPr>
          <a:custGeom>
            <a:pathLst>
              <a:path w="2451099" h="285750">
                <a:moveTo>
                  <a:pt x="0" y="285750"/>
                </a:moveTo>
                <a:cubicBezTo>
                  <a:pt x="469899" y="158750"/>
                  <a:pt x="1006474" y="126999"/>
                  <a:pt x="1609724" y="190499"/>
                </a:cubicBezTo>
                <a:cubicBezTo>
                  <a:pt x="2212974" y="254000"/>
                  <a:pt x="2451099" y="190499"/>
                  <a:pt x="2324099" y="0"/>
                </a:cubicBezTo>
              </a:path>
            </a:pathLst>
          </a:custGeom>
          <a:xfrm>
            <a:off x="533399" y="4038599"/>
            <a:ext cx="2451099" cy="285750"/>
          </a:xfrm>
          <a:noFill/>
          <a:ln w="25400">
            <a:solidFill>
              <a:srgbClr val="0C8E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828924" y="4010024"/>
            <a:ext cx="57149" cy="57150"/>
          </a:xfrm>
          <a:prstGeom prst="ellipse">
            <a:avLst/>
          </a:prstGeom>
          <a:solidFill>
            <a:srgbClr val="0C8ED1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8752" y="2442590"/>
            <a:ext cx="3353395" cy="102393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3225" b="1">
                <a:latin typeface="Roboto"/>
                <a:ea typeface="Microsoft YaHei"/>
              </a:rPr>
              <a:t>37 场强降</a:t>
            </a:r>
          </a:p>
          <a:p>
            <a:pPr algn="ctr"/>
            <a:r>
              <a:rPr sz="3225" b="1">
                <a:latin typeface="Roboto"/>
                <a:ea typeface="Microsoft YaHei"/>
              </a:rPr>
              <a:t>雨 气象雷达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2767" y="3957065"/>
            <a:ext cx="2925365" cy="4286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350" b="0">
                <a:solidFill>
                  <a:srgbClr val="475569">
                    <a:alpha val="90000"/>
                  </a:srgbClr>
                </a:solidFill>
                <a:latin typeface="Roboto"/>
                <a:ea typeface="Microsoft YaHei"/>
              </a:rPr>
              <a:t>逐 6 分钟降雨强度场，覆盖</a:t>
            </a:r>
          </a:p>
          <a:p>
            <a:pPr algn="ctr"/>
            <a:r>
              <a:rPr sz="1350" b="0">
                <a:solidFill>
                  <a:srgbClr val="475569">
                    <a:alpha val="90000"/>
                  </a:srgbClr>
                </a:solidFill>
                <a:latin typeface="Roboto"/>
                <a:ea typeface="Microsoft YaHei"/>
              </a:rPr>
              <a:t>2021-2025 年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76599" y="1371600"/>
            <a:ext cx="2705099" cy="3219449"/>
          </a:xfrm>
          <a:prstGeom prst="roundRect">
            <a:avLst/>
          </a:prstGeom>
          <a:effectLst>
            <a:blur rad="203200"/>
            <a:outerShdw dist="38100" dir="0" blurRad="203200" algn="bl" rotWithShape="0">
              <a:srgbClr val="000000">
                <a:alpha val="10000"/>
              </a:srgbClr>
            </a:outerShdw>
          </a:effectLst>
          <a:gradFill>
            <a:gsLst>
              <a:gs pos="0">
                <a:srgbClr val="FFFFFF"/>
              </a:gs>
              <a:gs pos="100000">
                <a:srgbClr val="FFFFFF">
                  <a:alpha val="85000"/>
                </a:srgbClr>
              </a:gs>
            </a:gsLst>
            <a:lin ang="0" scaled="0"/>
          </a:gradFill>
          <a:ln w="19050">
            <a:solidFill>
              <a:srgbClr val="006B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276599" y="1371600"/>
            <a:ext cx="2705099" cy="38100"/>
          </a:xfrm>
          <a:prstGeom prst="roundRect">
            <a:avLst/>
          </a:prstGeom>
          <a:solidFill>
            <a:srgbClr val="006BAE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371974" y="1552574"/>
            <a:ext cx="514349" cy="514350"/>
          </a:xfrm>
          <a:prstGeom prst="ellipse">
            <a:avLst/>
          </a:prstGeom>
          <a:noFill/>
          <a:ln w="12700">
            <a:solidFill>
              <a:srgbClr val="006B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410074" y="1590675"/>
            <a:ext cx="438149" cy="438149"/>
          </a:xfrm>
          <a:prstGeom prst="ellipse">
            <a:avLst/>
          </a:prstGeom>
          <a:solidFill>
            <a:srgbClr val="006BAE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43399" y="1672589"/>
            <a:ext cx="571500" cy="2381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499" b="1">
                <a:solidFill>
                  <a:srgbClr val="006BAE">
                    <a:alpha val="90000"/>
                  </a:srgbClr>
                </a:solidFill>
                <a:latin typeface="Roboto"/>
                <a:ea typeface="Microsoft YaHei"/>
              </a:rPr>
              <a:t>02</a:t>
            </a:r>
          </a:p>
        </p:txBody>
      </p:sp>
      <p:sp>
        <p:nvSpPr>
          <p:cNvPr id="26" name="Rectangle 25"/>
          <p:cNvSpPr/>
          <p:nvPr/>
        </p:nvSpPr>
        <p:spPr>
          <a:custGeom>
            <a:pathLst>
              <a:path w="2451099" h="285750">
                <a:moveTo>
                  <a:pt x="0" y="285750"/>
                </a:moveTo>
                <a:cubicBezTo>
                  <a:pt x="469899" y="158750"/>
                  <a:pt x="1006474" y="126999"/>
                  <a:pt x="1609724" y="190499"/>
                </a:cubicBezTo>
                <a:cubicBezTo>
                  <a:pt x="2212974" y="254000"/>
                  <a:pt x="2451099" y="190499"/>
                  <a:pt x="2324099" y="0"/>
                </a:cubicBezTo>
              </a:path>
            </a:pathLst>
          </a:custGeom>
          <a:xfrm>
            <a:off x="3467099" y="4038599"/>
            <a:ext cx="2451099" cy="285750"/>
          </a:xfrm>
          <a:noFill/>
          <a:ln w="25400">
            <a:solidFill>
              <a:srgbClr val="006B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762624" y="4010024"/>
            <a:ext cx="57149" cy="57150"/>
          </a:xfrm>
          <a:prstGeom prst="ellipse">
            <a:avLst/>
          </a:prstGeom>
          <a:solidFill>
            <a:srgbClr val="006BAE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164681" y="2470784"/>
            <a:ext cx="2928937" cy="10715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2250" b="1">
                <a:latin typeface="Roboto"/>
                <a:ea typeface="Microsoft YaHei"/>
              </a:rPr>
              <a:t>3.1 万座，构建</a:t>
            </a:r>
          </a:p>
          <a:p>
            <a:pPr algn="ctr"/>
            <a:r>
              <a:rPr sz="2250" b="1">
                <a:latin typeface="Roboto"/>
                <a:ea typeface="Microsoft YaHei"/>
              </a:rPr>
              <a:t>有向图 排水管</a:t>
            </a:r>
          </a:p>
          <a:p>
            <a:pPr algn="ctr"/>
            <a:r>
              <a:rPr sz="2250" b="1">
                <a:latin typeface="Roboto"/>
                <a:ea typeface="Microsoft YaHei"/>
              </a:rPr>
              <a:t>网 GIS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70063" y="4166615"/>
            <a:ext cx="2518171" cy="2143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350" b="0">
                <a:solidFill>
                  <a:srgbClr val="475569">
                    <a:alpha val="90000"/>
                  </a:srgbClr>
                </a:solidFill>
                <a:latin typeface="Roboto"/>
                <a:ea typeface="Microsoft YaHei"/>
              </a:rPr>
              <a:t>管段 4.2 万条、检查井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10299" y="1371600"/>
            <a:ext cx="2705099" cy="3219449"/>
          </a:xfrm>
          <a:prstGeom prst="roundRect">
            <a:avLst/>
          </a:prstGeom>
          <a:effectLst>
            <a:blur rad="203200"/>
            <a:outerShdw dist="38100" dir="0" blurRad="203200" algn="bl" rotWithShape="0">
              <a:srgbClr val="000000">
                <a:alpha val="10000"/>
              </a:srgbClr>
            </a:outerShdw>
          </a:effectLst>
          <a:gradFill>
            <a:gsLst>
              <a:gs pos="0">
                <a:srgbClr val="FFFFFF"/>
              </a:gs>
              <a:gs pos="100000">
                <a:srgbClr val="FFFFFF">
                  <a:alpha val="85000"/>
                </a:srgbClr>
              </a:gs>
            </a:gsLst>
            <a:lin ang="0" scaled="0"/>
          </a:gradFill>
          <a:ln w="19050">
            <a:solidFill>
              <a:srgbClr val="39B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210299" y="1371600"/>
            <a:ext cx="2705099" cy="38100"/>
          </a:xfrm>
          <a:prstGeom prst="roundRect">
            <a:avLst/>
          </a:prstGeom>
          <a:solidFill>
            <a:srgbClr val="39BBFE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305674" y="1552574"/>
            <a:ext cx="514349" cy="514350"/>
          </a:xfrm>
          <a:prstGeom prst="ellipse">
            <a:avLst/>
          </a:prstGeom>
          <a:noFill/>
          <a:ln w="12700">
            <a:solidFill>
              <a:srgbClr val="39B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343774" y="1590675"/>
            <a:ext cx="438149" cy="438149"/>
          </a:xfrm>
          <a:prstGeom prst="ellipse">
            <a:avLst/>
          </a:prstGeom>
          <a:solidFill>
            <a:srgbClr val="39BBFE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277099" y="1672589"/>
            <a:ext cx="571500" cy="2381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499" b="1">
                <a:solidFill>
                  <a:srgbClr val="20A2E5">
                    <a:alpha val="90000"/>
                  </a:srgbClr>
                </a:solidFill>
                <a:latin typeface="Roboto"/>
                <a:ea typeface="Microsoft YaHei"/>
              </a:rPr>
              <a:t>03</a:t>
            </a:r>
          </a:p>
        </p:txBody>
      </p:sp>
      <p:sp>
        <p:nvSpPr>
          <p:cNvPr id="35" name="Rectangle 34"/>
          <p:cNvSpPr/>
          <p:nvPr/>
        </p:nvSpPr>
        <p:spPr>
          <a:custGeom>
            <a:pathLst>
              <a:path w="2451099" h="285750">
                <a:moveTo>
                  <a:pt x="0" y="285750"/>
                </a:moveTo>
                <a:cubicBezTo>
                  <a:pt x="469899" y="158750"/>
                  <a:pt x="1006474" y="126999"/>
                  <a:pt x="1609724" y="190499"/>
                </a:cubicBezTo>
                <a:cubicBezTo>
                  <a:pt x="2212974" y="254000"/>
                  <a:pt x="2451099" y="190499"/>
                  <a:pt x="2324099" y="0"/>
                </a:cubicBezTo>
              </a:path>
            </a:pathLst>
          </a:custGeom>
          <a:xfrm>
            <a:off x="6400799" y="4038599"/>
            <a:ext cx="2451099" cy="285750"/>
          </a:xfrm>
          <a:noFill/>
          <a:ln w="25400">
            <a:solidFill>
              <a:srgbClr val="39B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696324" y="4010024"/>
            <a:ext cx="57149" cy="57150"/>
          </a:xfrm>
          <a:prstGeom prst="ellipse">
            <a:avLst/>
          </a:prstGeom>
          <a:solidFill>
            <a:srgbClr val="39BBFE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16240" y="2470784"/>
            <a:ext cx="2893218" cy="10715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2250" b="1">
                <a:latin typeface="Roboto"/>
                <a:ea typeface="Microsoft YaHei"/>
              </a:rPr>
              <a:t>5 米高程提取低</a:t>
            </a:r>
          </a:p>
          <a:p>
            <a:pPr algn="ctr"/>
            <a:r>
              <a:rPr sz="2250" b="1">
                <a:latin typeface="Roboto"/>
                <a:ea typeface="Microsoft YaHei"/>
              </a:rPr>
              <a:t>洼与汇水指数</a:t>
            </a:r>
          </a:p>
          <a:p>
            <a:pPr algn="ctr"/>
            <a:r>
              <a:rPr sz="2250" b="1">
                <a:latin typeface="Roboto"/>
                <a:ea typeface="Microsoft YaHei"/>
              </a:rPr>
              <a:t>地形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77099" y="4166615"/>
            <a:ext cx="571500" cy="2143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350" b="0">
                <a:solidFill>
                  <a:srgbClr val="475569">
                    <a:alpha val="90000"/>
                  </a:srgbClr>
                </a:solidFill>
                <a:latin typeface="Roboto"/>
                <a:ea typeface="Microsoft YaHei"/>
              </a:rPr>
              <a:t>DEM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143999" y="1371600"/>
            <a:ext cx="2705099" cy="3219449"/>
          </a:xfrm>
          <a:prstGeom prst="roundRect">
            <a:avLst/>
          </a:prstGeom>
          <a:effectLst>
            <a:blur rad="203200"/>
            <a:outerShdw dist="38100" dir="0" blurRad="203200" algn="bl" rotWithShape="0">
              <a:srgbClr val="000000">
                <a:alpha val="10000"/>
              </a:srgbClr>
            </a:outerShdw>
          </a:effectLst>
          <a:gradFill>
            <a:gsLst>
              <a:gs pos="0">
                <a:srgbClr val="FFFFFF"/>
              </a:gs>
              <a:gs pos="100000">
                <a:srgbClr val="FFFFFF">
                  <a:alpha val="85000"/>
                </a:srgbClr>
              </a:gs>
            </a:gsLst>
            <a:lin ang="0" scaled="0"/>
          </a:gradFill>
          <a:ln w="19050">
            <a:solidFill>
              <a:srgbClr val="007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9143999" y="1371600"/>
            <a:ext cx="2705099" cy="38100"/>
          </a:xfrm>
          <a:prstGeom prst="roundRect">
            <a:avLst/>
          </a:prstGeom>
          <a:solidFill>
            <a:srgbClr val="007FC2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0239374" y="1552574"/>
            <a:ext cx="514349" cy="514350"/>
          </a:xfrm>
          <a:prstGeom prst="ellipse">
            <a:avLst/>
          </a:prstGeom>
          <a:noFill/>
          <a:ln w="12700">
            <a:solidFill>
              <a:srgbClr val="007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0277474" y="1590675"/>
            <a:ext cx="438149" cy="438149"/>
          </a:xfrm>
          <a:prstGeom prst="ellipse">
            <a:avLst/>
          </a:prstGeom>
          <a:solidFill>
            <a:srgbClr val="007FC2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210799" y="1672589"/>
            <a:ext cx="571500" cy="2381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499" b="1">
                <a:solidFill>
                  <a:srgbClr val="20A2E5">
                    <a:alpha val="90000"/>
                  </a:srgbClr>
                </a:solidFill>
                <a:latin typeface="Roboto"/>
                <a:ea typeface="Microsoft YaHei"/>
              </a:rPr>
              <a:t>04</a:t>
            </a:r>
          </a:p>
        </p:txBody>
      </p:sp>
      <p:sp>
        <p:nvSpPr>
          <p:cNvPr id="44" name="Rectangle 43"/>
          <p:cNvSpPr/>
          <p:nvPr/>
        </p:nvSpPr>
        <p:spPr>
          <a:custGeom>
            <a:pathLst>
              <a:path w="2451099" h="285750">
                <a:moveTo>
                  <a:pt x="0" y="285750"/>
                </a:moveTo>
                <a:cubicBezTo>
                  <a:pt x="469899" y="158750"/>
                  <a:pt x="1006474" y="126999"/>
                  <a:pt x="1609724" y="190499"/>
                </a:cubicBezTo>
                <a:cubicBezTo>
                  <a:pt x="2212974" y="254000"/>
                  <a:pt x="2451099" y="190499"/>
                  <a:pt x="2324099" y="0"/>
                </a:cubicBezTo>
              </a:path>
            </a:pathLst>
          </a:custGeom>
          <a:xfrm>
            <a:off x="9334499" y="4038599"/>
            <a:ext cx="2451099" cy="285750"/>
          </a:xfrm>
          <a:noFill/>
          <a:ln w="25400">
            <a:solidFill>
              <a:srgbClr val="007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1630024" y="4010024"/>
            <a:ext cx="57149" cy="57150"/>
          </a:xfrm>
          <a:prstGeom prst="ellipse">
            <a:avLst/>
          </a:prstGeom>
          <a:solidFill>
            <a:srgbClr val="007FC2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032080" y="2470784"/>
            <a:ext cx="2928937" cy="10715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2250" b="1">
                <a:latin typeface="Roboto"/>
                <a:ea typeface="Microsoft YaHei"/>
              </a:rPr>
              <a:t>1.9 万条与摄像</a:t>
            </a:r>
          </a:p>
          <a:p>
            <a:pPr algn="ctr"/>
            <a:r>
              <a:rPr sz="2250" b="1">
                <a:latin typeface="Roboto"/>
                <a:ea typeface="Microsoft YaHei"/>
              </a:rPr>
              <a:t>头积水识别 社</a:t>
            </a:r>
          </a:p>
          <a:p>
            <a:pPr algn="ctr"/>
            <a:r>
              <a:rPr sz="2250" b="1">
                <a:latin typeface="Roboto"/>
                <a:ea typeface="Microsoft YaHei"/>
              </a:rPr>
              <a:t>会感知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960768" y="4166615"/>
            <a:ext cx="1071562" cy="2143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350" b="0">
                <a:solidFill>
                  <a:srgbClr val="475569">
                    <a:alpha val="90000"/>
                  </a:srgbClr>
                </a:solidFill>
                <a:latin typeface="Roboto"/>
                <a:ea typeface="Microsoft YaHei"/>
              </a:rPr>
              <a:t>报灾文本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00999" y="-2381250"/>
            <a:ext cx="7619999" cy="5334000"/>
          </a:xfrm>
          <a:prstGeom prst="ellipse">
            <a:avLst/>
          </a:prstGeom>
          <a:gradFill>
            <a:gsLst>
              <a:gs pos="0">
                <a:srgbClr val="0284C7">
                  <a:alpha val="15000"/>
                </a:srgbClr>
              </a:gs>
              <a:gs pos="100000">
                <a:srgbClr val="0284C7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095499" y="4667249"/>
            <a:ext cx="5333999" cy="3809999"/>
          </a:xfrm>
          <a:prstGeom prst="ellipse">
            <a:avLst/>
          </a:prstGeom>
          <a:gradFill>
            <a:gsLst>
              <a:gs pos="0">
                <a:srgbClr val="2AACEF">
                  <a:alpha val="10000"/>
                </a:srgbClr>
              </a:gs>
              <a:gs pos="100000">
                <a:srgbClr val="2AACE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 flipH="1">
            <a:off x="10286999" y="0"/>
            <a:ext cx="1905000" cy="1714500"/>
          </a:xfrm>
          <a:prstGeom prst="line">
            <a:avLst/>
          </a:prstGeom>
          <a:ln w="25400">
            <a:solidFill>
              <a:srgbClr val="0284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H="1">
            <a:off x="10858499" y="0"/>
            <a:ext cx="1333500" cy="1143000"/>
          </a:xfrm>
          <a:prstGeom prst="line">
            <a:avLst/>
          </a:prstGeom>
          <a:ln w="12700">
            <a:solidFill>
              <a:srgbClr val="0284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11849099" y="0"/>
            <a:ext cx="342899" cy="6858000"/>
          </a:xfrm>
          <a:prstGeom prst="rect">
            <a:avLst/>
          </a:prstGeom>
          <a:solidFill>
            <a:srgbClr val="0284C7">
              <a:alpha val="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14299" cy="6858000"/>
          </a:xfrm>
          <a:prstGeom prst="rect">
            <a:avLst/>
          </a:prstGeom>
          <a:gradFill>
            <a:gsLst>
              <a:gs pos="0">
                <a:srgbClr val="0284C7">
                  <a:alpha val="40000"/>
                </a:srgbClr>
              </a:gs>
              <a:gs pos="50000">
                <a:srgbClr val="0284C7">
                  <a:alpha val="90000"/>
                </a:srgbClr>
              </a:gs>
              <a:gs pos="100000">
                <a:srgbClr val="0284C7">
                  <a:alpha val="40000"/>
                </a:srgbClr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93548" y="6216777"/>
            <a:ext cx="1212651" cy="25003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575" b="0">
                <a:solidFill>
                  <a:srgbClr val="475569">
                    <a:alpha val="70000"/>
                  </a:srgbClr>
                </a:solidFill>
                <a:latin typeface="Roboto"/>
                <a:ea typeface="Microsoft YaHei"/>
              </a:rPr>
              <a:t>08 / 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899" y="136397"/>
            <a:ext cx="11391899" cy="64293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4050" b="1">
                <a:solidFill>
                  <a:srgbClr val="0F172A"/>
                </a:solidFill>
                <a:latin typeface="Roboto"/>
                <a:ea typeface="Microsoft YaHei"/>
              </a:rPr>
              <a:t>多源数据采集与处理 (2/2)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899" y="723900"/>
            <a:ext cx="685799" cy="33337"/>
          </a:xfrm>
          <a:prstGeom prst="roundRect">
            <a:avLst/>
          </a:prstGeom>
          <a:solidFill>
            <a:srgbClr val="0284C7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42899" y="1371600"/>
            <a:ext cx="11506199" cy="3219449"/>
          </a:xfrm>
          <a:prstGeom prst="roundRect">
            <a:avLst/>
          </a:prstGeom>
          <a:effectLst>
            <a:blur rad="203200"/>
            <a:outerShdw dist="38100" dir="0" blurRad="203200" algn="bl" rotWithShape="0">
              <a:srgbClr val="000000">
                <a:alpha val="10000"/>
              </a:srgbClr>
            </a:outerShdw>
          </a:effectLst>
          <a:gradFill>
            <a:gsLst>
              <a:gs pos="0">
                <a:srgbClr val="FFFFFF"/>
              </a:gs>
              <a:gs pos="100000">
                <a:srgbClr val="FFFFFF">
                  <a:alpha val="85000"/>
                </a:srgbClr>
              </a:gs>
            </a:gsLst>
            <a:lin ang="0" scaled="0"/>
          </a:gra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42899" y="1371600"/>
            <a:ext cx="11506199" cy="38100"/>
          </a:xfrm>
          <a:prstGeom prst="roundRect">
            <a:avLst/>
          </a:prstGeom>
          <a:solidFill>
            <a:srgbClr val="0284C7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838824" y="1552574"/>
            <a:ext cx="514349" cy="514350"/>
          </a:xfrm>
          <a:prstGeom prst="ellipse">
            <a:avLst/>
          </a:prstGeom>
          <a:noFill/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876924" y="1590675"/>
            <a:ext cx="438149" cy="438149"/>
          </a:xfrm>
          <a:prstGeom prst="ellipse">
            <a:avLst/>
          </a:prstGeom>
          <a:solidFill>
            <a:srgbClr val="0284C7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10249" y="1672589"/>
            <a:ext cx="571500" cy="2381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499" b="1">
                <a:solidFill>
                  <a:srgbClr val="20A2E5">
                    <a:alpha val="90000"/>
                  </a:srgbClr>
                </a:solidFill>
                <a:latin typeface="Roboto"/>
                <a:ea typeface="Microsoft YaHei"/>
              </a:rPr>
              <a:t>01</a:t>
            </a:r>
          </a:p>
        </p:txBody>
      </p:sp>
      <p:sp>
        <p:nvSpPr>
          <p:cNvPr id="17" name="Rectangle 16"/>
          <p:cNvSpPr/>
          <p:nvPr/>
        </p:nvSpPr>
        <p:spPr>
          <a:custGeom>
            <a:pathLst>
              <a:path w="11252199" h="285750">
                <a:moveTo>
                  <a:pt x="0" y="285750"/>
                </a:moveTo>
                <a:cubicBezTo>
                  <a:pt x="2425699" y="158750"/>
                  <a:pt x="4918074" y="126999"/>
                  <a:pt x="7477124" y="190499"/>
                </a:cubicBezTo>
                <a:cubicBezTo>
                  <a:pt x="10036174" y="254000"/>
                  <a:pt x="11252199" y="190499"/>
                  <a:pt x="11125199" y="0"/>
                </a:cubicBezTo>
              </a:path>
            </a:pathLst>
          </a:custGeom>
          <a:xfrm>
            <a:off x="533399" y="4038599"/>
            <a:ext cx="11252199" cy="285750"/>
          </a:xfrm>
          <a:noFill/>
          <a:ln w="254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1630024" y="4010024"/>
            <a:ext cx="57149" cy="57150"/>
          </a:xfrm>
          <a:prstGeom prst="ellipse">
            <a:avLst/>
          </a:prstGeom>
          <a:solidFill>
            <a:srgbClr val="0284C7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29952" y="2582798"/>
            <a:ext cx="9132093" cy="6191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3900" b="1">
                <a:latin typeface="Roboto"/>
                <a:ea typeface="Microsoft YaHei"/>
              </a:rPr>
              <a:t>612 个历史内涝点位 标签数据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38749" y="4166615"/>
            <a:ext cx="1714500" cy="2143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350" b="0">
                <a:solidFill>
                  <a:srgbClr val="475569">
                    <a:alpha val="90000"/>
                  </a:srgbClr>
                </a:solidFill>
                <a:latin typeface="Roboto"/>
                <a:ea typeface="Microsoft YaHei"/>
              </a:rPr>
              <a:t>住建部门确认的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00999" y="-2381250"/>
            <a:ext cx="7619999" cy="5334000"/>
          </a:xfrm>
          <a:prstGeom prst="ellipse">
            <a:avLst/>
          </a:prstGeom>
          <a:gradFill>
            <a:gsLst>
              <a:gs pos="0">
                <a:srgbClr val="0C8ED1">
                  <a:alpha val="15000"/>
                </a:srgbClr>
              </a:gs>
              <a:gs pos="100000">
                <a:srgbClr val="0C8ED1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095499" y="4667249"/>
            <a:ext cx="5333999" cy="3809999"/>
          </a:xfrm>
          <a:prstGeom prst="ellipse">
            <a:avLst/>
          </a:prstGeom>
          <a:gradFill>
            <a:gsLst>
              <a:gs pos="0">
                <a:srgbClr val="34B6F9">
                  <a:alpha val="10000"/>
                </a:srgbClr>
              </a:gs>
              <a:gs pos="100000">
                <a:srgbClr val="34B6F9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 flipH="1">
            <a:off x="10286999" y="0"/>
            <a:ext cx="1905000" cy="1714500"/>
          </a:xfrm>
          <a:prstGeom prst="line">
            <a:avLst/>
          </a:prstGeom>
          <a:ln w="25400">
            <a:solidFill>
              <a:srgbClr val="0C8E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H="1">
            <a:off x="10858499" y="0"/>
            <a:ext cx="1333500" cy="1143000"/>
          </a:xfrm>
          <a:prstGeom prst="line">
            <a:avLst/>
          </a:prstGeom>
          <a:ln w="12700">
            <a:solidFill>
              <a:srgbClr val="0C8E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11734799" y="0"/>
            <a:ext cx="457199" cy="6858000"/>
          </a:xfrm>
          <a:prstGeom prst="rect">
            <a:avLst/>
          </a:prstGeom>
          <a:solidFill>
            <a:srgbClr val="0C8ED1">
              <a:alpha val="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14299" cy="6858000"/>
          </a:xfrm>
          <a:prstGeom prst="rect">
            <a:avLst/>
          </a:prstGeom>
          <a:gradFill>
            <a:gsLst>
              <a:gs pos="0">
                <a:srgbClr val="0C8ED1">
                  <a:alpha val="40000"/>
                </a:srgbClr>
              </a:gs>
              <a:gs pos="50000">
                <a:srgbClr val="0C8ED1">
                  <a:alpha val="90000"/>
                </a:srgbClr>
              </a:gs>
              <a:gs pos="100000">
                <a:srgbClr val="0C8ED1">
                  <a:alpha val="40000"/>
                </a:srgbClr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93548" y="6216777"/>
            <a:ext cx="1212651" cy="25003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575" b="0">
                <a:solidFill>
                  <a:srgbClr val="475569">
                    <a:alpha val="70000"/>
                  </a:srgbClr>
                </a:solidFill>
                <a:latin typeface="Roboto"/>
                <a:ea typeface="Microsoft YaHei"/>
              </a:rPr>
              <a:t>09 / 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899" y="48768"/>
            <a:ext cx="11391899" cy="7619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4800" b="1">
                <a:solidFill>
                  <a:srgbClr val="0F172A"/>
                </a:solidFill>
                <a:latin typeface="Roboto"/>
                <a:ea typeface="Microsoft YaHei"/>
              </a:rPr>
              <a:t>风险评估模型设计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899" y="723900"/>
            <a:ext cx="685799" cy="33337"/>
          </a:xfrm>
          <a:prstGeom prst="roundRect">
            <a:avLst/>
          </a:prstGeom>
          <a:solidFill>
            <a:srgbClr val="0C8ED1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42899" y="990599"/>
            <a:ext cx="11506199" cy="1219200"/>
          </a:xfrm>
          <a:prstGeom prst="roundRect">
            <a:avLst/>
          </a:prstGeom>
          <a:effectLst>
            <a:blur rad="203200"/>
            <a:outerShdw dist="38100" dir="0" blurRad="203200" algn="bl" rotWithShape="0">
              <a:srgbClr val="000000">
                <a:alpha val="10000"/>
              </a:srgbClr>
            </a:outerShdw>
          </a:effectLst>
          <a:gradFill>
            <a:gsLst>
              <a:gs pos="0">
                <a:srgbClr val="FFFFFF"/>
              </a:gs>
              <a:gs pos="100000">
                <a:srgbClr val="FFFFFF">
                  <a:alpha val="80000"/>
                </a:srgbClr>
              </a:gs>
            </a:gsLst>
            <a:lin ang="5400000" scaled="0"/>
          </a:gradFill>
          <a:ln w="19050">
            <a:solidFill>
              <a:srgbClr val="0C8E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42899" y="990599"/>
            <a:ext cx="38099" cy="1219200"/>
          </a:xfrm>
          <a:prstGeom prst="roundRect">
            <a:avLst/>
          </a:prstGeom>
          <a:solidFill>
            <a:srgbClr val="0C8ED1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38149" y="1390650"/>
            <a:ext cx="419099" cy="419100"/>
          </a:xfrm>
          <a:prstGeom prst="ellipse">
            <a:avLst/>
          </a:prstGeom>
          <a:noFill/>
          <a:ln w="19050">
            <a:solidFill>
              <a:srgbClr val="0C8E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04824" y="1457325"/>
            <a:ext cx="285749" cy="285750"/>
          </a:xfrm>
          <a:prstGeom prst="ellipse">
            <a:avLst/>
          </a:prstGeom>
          <a:solidFill>
            <a:srgbClr val="0C8ED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1949" y="1463802"/>
            <a:ext cx="571500" cy="25003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575" b="1">
                <a:solidFill>
                  <a:srgbClr val="20A2E5"/>
                </a:solidFill>
                <a:latin typeface="Roboto"/>
                <a:ea typeface="Microsoft YaHei"/>
              </a:rPr>
              <a:t>01</a:t>
            </a:r>
          </a:p>
        </p:txBody>
      </p:sp>
      <p:sp>
        <p:nvSpPr>
          <p:cNvPr id="17" name="Oval 16"/>
          <p:cNvSpPr/>
          <p:nvPr/>
        </p:nvSpPr>
        <p:spPr>
          <a:xfrm>
            <a:off x="1009649" y="1333500"/>
            <a:ext cx="76199" cy="76200"/>
          </a:xfrm>
          <a:prstGeom prst="ellipse">
            <a:avLst/>
          </a:prstGeom>
          <a:solidFill>
            <a:srgbClr val="0C8ED1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81099" y="1113282"/>
            <a:ext cx="12687300" cy="857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700" b="0">
                <a:solidFill>
                  <a:srgbClr val="0F172A"/>
                </a:solidFill>
                <a:latin typeface="Roboto"/>
                <a:ea typeface="Microsoft YaHei"/>
              </a:rPr>
              <a:t>属性通道：XGBoost 输入 23 维静态与动态特征，输出网格基础</a:t>
            </a:r>
          </a:p>
          <a:p>
            <a:r>
              <a:rPr sz="2700" b="0">
                <a:solidFill>
                  <a:srgbClr val="0F172A"/>
                </a:solidFill>
                <a:latin typeface="Roboto"/>
                <a:ea typeface="Microsoft YaHei"/>
              </a:rPr>
              <a:t>风险分</a:t>
            </a:r>
          </a:p>
        </p:txBody>
      </p:sp>
      <p:sp>
        <p:nvSpPr>
          <p:cNvPr id="19" name="Rectangle 18"/>
          <p:cNvSpPr/>
          <p:nvPr/>
        </p:nvSpPr>
        <p:spPr>
          <a:custGeom>
            <a:pathLst>
              <a:path w="57149" h="114300">
                <a:moveTo>
                  <a:pt x="0" y="0"/>
                </a:moveTo>
                <a:lnTo>
                  <a:pt x="57149" y="57150"/>
                </a:lnTo>
                <a:lnTo>
                  <a:pt x="0" y="114300"/>
                </a:lnTo>
              </a:path>
            </a:pathLst>
          </a:custGeom>
          <a:xfrm>
            <a:off x="11620499" y="1543050"/>
            <a:ext cx="57149" cy="114300"/>
          </a:xfrm>
          <a:noFill/>
          <a:ln w="25400">
            <a:solidFill>
              <a:srgbClr val="0C8E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42899" y="2324100"/>
            <a:ext cx="11506199" cy="723900"/>
          </a:xfrm>
          <a:prstGeom prst="roundRect">
            <a:avLst/>
          </a:prstGeom>
          <a:effectLst>
            <a:blur rad="203200"/>
            <a:outerShdw dist="38100" dir="0" blurRad="203200" algn="bl" rotWithShape="0">
              <a:srgbClr val="000000">
                <a:alpha val="10000"/>
              </a:srgbClr>
            </a:outerShdw>
          </a:effectLst>
          <a:gradFill>
            <a:gsLst>
              <a:gs pos="0">
                <a:srgbClr val="FFFFFF"/>
              </a:gs>
              <a:gs pos="100000">
                <a:srgbClr val="FFFFFF">
                  <a:alpha val="80000"/>
                </a:srgbClr>
              </a:gs>
            </a:gsLst>
            <a:lin ang="5400000" scaled="0"/>
          </a:gradFill>
          <a:ln w="19050">
            <a:solidFill>
              <a:srgbClr val="0070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42899" y="2324100"/>
            <a:ext cx="38099" cy="723900"/>
          </a:xfrm>
          <a:prstGeom prst="roundRect">
            <a:avLst/>
          </a:prstGeom>
          <a:solidFill>
            <a:srgbClr val="0070B3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38149" y="2476499"/>
            <a:ext cx="419099" cy="419100"/>
          </a:xfrm>
          <a:prstGeom prst="ellipse">
            <a:avLst/>
          </a:prstGeom>
          <a:noFill/>
          <a:ln w="19050">
            <a:solidFill>
              <a:srgbClr val="0070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04824" y="2543175"/>
            <a:ext cx="285749" cy="285750"/>
          </a:xfrm>
          <a:prstGeom prst="ellipse">
            <a:avLst/>
          </a:prstGeom>
          <a:solidFill>
            <a:srgbClr val="0070B3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1949" y="2549652"/>
            <a:ext cx="571500" cy="25003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575" b="1">
                <a:solidFill>
                  <a:srgbClr val="0070B3"/>
                </a:solidFill>
                <a:latin typeface="Roboto"/>
                <a:ea typeface="Microsoft YaHei"/>
              </a:rPr>
              <a:t>02</a:t>
            </a:r>
          </a:p>
        </p:txBody>
      </p:sp>
      <p:sp>
        <p:nvSpPr>
          <p:cNvPr id="25" name="Oval 24"/>
          <p:cNvSpPr/>
          <p:nvPr/>
        </p:nvSpPr>
        <p:spPr>
          <a:xfrm>
            <a:off x="1009649" y="2667000"/>
            <a:ext cx="76199" cy="76200"/>
          </a:xfrm>
          <a:prstGeom prst="ellipse">
            <a:avLst/>
          </a:prstGeom>
          <a:solidFill>
            <a:srgbClr val="0070B3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81099" y="2446781"/>
            <a:ext cx="11037093" cy="4286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700" b="0">
                <a:solidFill>
                  <a:srgbClr val="0F172A"/>
                </a:solidFill>
                <a:latin typeface="Roboto"/>
                <a:ea typeface="Microsoft YaHei"/>
              </a:rPr>
              <a:t>拓扑通道：两层 GCN 在管网有向图上传播过载压力信号</a:t>
            </a:r>
          </a:p>
        </p:txBody>
      </p:sp>
      <p:sp>
        <p:nvSpPr>
          <p:cNvPr id="27" name="Rectangle 26"/>
          <p:cNvSpPr/>
          <p:nvPr/>
        </p:nvSpPr>
        <p:spPr>
          <a:custGeom>
            <a:pathLst>
              <a:path w="57149" h="114300">
                <a:moveTo>
                  <a:pt x="0" y="0"/>
                </a:moveTo>
                <a:lnTo>
                  <a:pt x="57149" y="57150"/>
                </a:lnTo>
                <a:lnTo>
                  <a:pt x="0" y="114300"/>
                </a:lnTo>
              </a:path>
            </a:pathLst>
          </a:custGeom>
          <a:xfrm>
            <a:off x="11620499" y="2628900"/>
            <a:ext cx="57149" cy="114300"/>
          </a:xfrm>
          <a:noFill/>
          <a:ln w="25400">
            <a:solidFill>
              <a:srgbClr val="0070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342899" y="3162299"/>
            <a:ext cx="11506199" cy="1219200"/>
          </a:xfrm>
          <a:prstGeom prst="roundRect">
            <a:avLst/>
          </a:prstGeom>
          <a:effectLst>
            <a:blur rad="203200"/>
            <a:outerShdw dist="38100" dir="0" blurRad="203200" algn="bl" rotWithShape="0">
              <a:srgbClr val="000000">
                <a:alpha val="10000"/>
              </a:srgbClr>
            </a:outerShdw>
          </a:effectLst>
          <a:gradFill>
            <a:gsLst>
              <a:gs pos="0">
                <a:srgbClr val="FFFFFF"/>
              </a:gs>
              <a:gs pos="100000">
                <a:srgbClr val="FFFFFF">
                  <a:alpha val="80000"/>
                </a:srgbClr>
              </a:gs>
            </a:gsLst>
            <a:lin ang="5400000" scaled="0"/>
          </a:gradFill>
          <a:ln w="19050">
            <a:solidFill>
              <a:srgbClr val="34B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342899" y="3162299"/>
            <a:ext cx="38099" cy="1219200"/>
          </a:xfrm>
          <a:prstGeom prst="roundRect">
            <a:avLst/>
          </a:prstGeom>
          <a:solidFill>
            <a:srgbClr val="34B6F9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38149" y="3562349"/>
            <a:ext cx="419099" cy="419100"/>
          </a:xfrm>
          <a:prstGeom prst="ellipse">
            <a:avLst/>
          </a:prstGeom>
          <a:noFill/>
          <a:ln w="19050">
            <a:solidFill>
              <a:srgbClr val="34B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04824" y="3629025"/>
            <a:ext cx="285749" cy="285750"/>
          </a:xfrm>
          <a:prstGeom prst="ellipse">
            <a:avLst/>
          </a:prstGeom>
          <a:solidFill>
            <a:srgbClr val="34B6F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1949" y="3635502"/>
            <a:ext cx="571500" cy="25003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575" b="1">
                <a:solidFill>
                  <a:srgbClr val="20A2E5"/>
                </a:solidFill>
                <a:latin typeface="Roboto"/>
                <a:ea typeface="Microsoft YaHei"/>
              </a:rPr>
              <a:t>03</a:t>
            </a:r>
          </a:p>
        </p:txBody>
      </p:sp>
      <p:sp>
        <p:nvSpPr>
          <p:cNvPr id="33" name="Oval 32"/>
          <p:cNvSpPr/>
          <p:nvPr/>
        </p:nvSpPr>
        <p:spPr>
          <a:xfrm>
            <a:off x="1009649" y="3505199"/>
            <a:ext cx="76199" cy="76200"/>
          </a:xfrm>
          <a:prstGeom prst="ellipse">
            <a:avLst/>
          </a:prstGeom>
          <a:solidFill>
            <a:srgbClr val="34B6F9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81099" y="3284982"/>
            <a:ext cx="12708731" cy="857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700" b="0">
                <a:solidFill>
                  <a:srgbClr val="0F172A"/>
                </a:solidFill>
                <a:latin typeface="Roboto"/>
                <a:ea typeface="Microsoft YaHei"/>
              </a:rPr>
              <a:t>融合策略：对数几率加权融合，权重经验证集网格搜索确定（0.6</a:t>
            </a:r>
          </a:p>
          <a:p>
            <a:r>
              <a:rPr sz="2700" b="0">
                <a:solidFill>
                  <a:srgbClr val="0F172A"/>
                </a:solidFill>
                <a:latin typeface="Roboto"/>
                <a:ea typeface="Microsoft YaHei"/>
              </a:rPr>
              <a:t>/ 0.4）</a:t>
            </a:r>
          </a:p>
        </p:txBody>
      </p:sp>
      <p:sp>
        <p:nvSpPr>
          <p:cNvPr id="35" name="Rectangle 34"/>
          <p:cNvSpPr/>
          <p:nvPr/>
        </p:nvSpPr>
        <p:spPr>
          <a:custGeom>
            <a:pathLst>
              <a:path w="57149" h="114300">
                <a:moveTo>
                  <a:pt x="0" y="0"/>
                </a:moveTo>
                <a:lnTo>
                  <a:pt x="57149" y="57150"/>
                </a:lnTo>
                <a:lnTo>
                  <a:pt x="0" y="114300"/>
                </a:lnTo>
              </a:path>
            </a:pathLst>
          </a:custGeom>
          <a:xfrm>
            <a:off x="11620499" y="3714750"/>
            <a:ext cx="57149" cy="114300"/>
          </a:xfrm>
          <a:noFill/>
          <a:ln w="25400">
            <a:solidFill>
              <a:srgbClr val="34B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342899" y="4495799"/>
            <a:ext cx="11506199" cy="723900"/>
          </a:xfrm>
          <a:prstGeom prst="roundRect">
            <a:avLst/>
          </a:prstGeom>
          <a:effectLst>
            <a:blur rad="203200"/>
            <a:outerShdw dist="38100" dir="0" blurRad="203200" algn="bl" rotWithShape="0">
              <a:srgbClr val="000000">
                <a:alpha val="10000"/>
              </a:srgbClr>
            </a:outerShdw>
          </a:effectLst>
          <a:gradFill>
            <a:gsLst>
              <a:gs pos="0">
                <a:srgbClr val="FFFFFF"/>
              </a:gs>
              <a:gs pos="100000">
                <a:srgbClr val="FFFFFF">
                  <a:alpha val="80000"/>
                </a:srgbClr>
              </a:gs>
            </a:gsLst>
            <a:lin ang="5400000" scaled="0"/>
          </a:gradFill>
          <a:ln w="19050">
            <a:solidFill>
              <a:srgbClr val="0C8E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342899" y="4495799"/>
            <a:ext cx="38099" cy="723900"/>
          </a:xfrm>
          <a:prstGeom prst="roundRect">
            <a:avLst/>
          </a:prstGeom>
          <a:solidFill>
            <a:srgbClr val="0C8ED1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438149" y="4648200"/>
            <a:ext cx="419099" cy="419100"/>
          </a:xfrm>
          <a:prstGeom prst="ellipse">
            <a:avLst/>
          </a:prstGeom>
          <a:noFill/>
          <a:ln w="19050">
            <a:solidFill>
              <a:srgbClr val="0C8E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04824" y="4714875"/>
            <a:ext cx="285749" cy="285750"/>
          </a:xfrm>
          <a:prstGeom prst="ellipse">
            <a:avLst/>
          </a:prstGeom>
          <a:solidFill>
            <a:srgbClr val="0C8ED1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1949" y="4721352"/>
            <a:ext cx="571500" cy="25003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575" b="1">
                <a:solidFill>
                  <a:srgbClr val="20A2E5"/>
                </a:solidFill>
                <a:latin typeface="Roboto"/>
                <a:ea typeface="Microsoft YaHei"/>
              </a:rPr>
              <a:t>04</a:t>
            </a:r>
          </a:p>
        </p:txBody>
      </p:sp>
      <p:sp>
        <p:nvSpPr>
          <p:cNvPr id="41" name="Oval 40"/>
          <p:cNvSpPr/>
          <p:nvPr/>
        </p:nvSpPr>
        <p:spPr>
          <a:xfrm>
            <a:off x="1009649" y="4838699"/>
            <a:ext cx="76199" cy="76200"/>
          </a:xfrm>
          <a:prstGeom prst="ellipse">
            <a:avLst/>
          </a:prstGeom>
          <a:solidFill>
            <a:srgbClr val="0C8ED1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81099" y="4618482"/>
            <a:ext cx="10287000" cy="4286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700" b="0">
                <a:solidFill>
                  <a:srgbClr val="0F172A"/>
                </a:solidFill>
                <a:latin typeface="Roboto"/>
                <a:ea typeface="Microsoft YaHei"/>
              </a:rPr>
              <a:t>输出：低、中、高、极高四级风险，逐小时滚动更新</a:t>
            </a:r>
          </a:p>
        </p:txBody>
      </p:sp>
      <p:sp>
        <p:nvSpPr>
          <p:cNvPr id="43" name="Rectangle 42"/>
          <p:cNvSpPr/>
          <p:nvPr/>
        </p:nvSpPr>
        <p:spPr>
          <a:custGeom>
            <a:pathLst>
              <a:path w="57149" h="114300">
                <a:moveTo>
                  <a:pt x="0" y="0"/>
                </a:moveTo>
                <a:lnTo>
                  <a:pt x="57149" y="57150"/>
                </a:lnTo>
                <a:lnTo>
                  <a:pt x="0" y="114300"/>
                </a:lnTo>
              </a:path>
            </a:pathLst>
          </a:custGeom>
          <a:xfrm>
            <a:off x="11620499" y="4800600"/>
            <a:ext cx="57149" cy="114300"/>
          </a:xfrm>
          <a:noFill/>
          <a:ln w="25400">
            <a:solidFill>
              <a:srgbClr val="0C8E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00999" y="-2381250"/>
            <a:ext cx="7619999" cy="5334000"/>
          </a:xfrm>
          <a:prstGeom prst="ellipse">
            <a:avLst/>
          </a:prstGeom>
          <a:gradFill>
            <a:gsLst>
              <a:gs pos="0">
                <a:srgbClr val="0284C7">
                  <a:alpha val="15000"/>
                </a:srgbClr>
              </a:gs>
              <a:gs pos="100000">
                <a:srgbClr val="0284C7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095499" y="4667249"/>
            <a:ext cx="5333999" cy="3809999"/>
          </a:xfrm>
          <a:prstGeom prst="ellipse">
            <a:avLst/>
          </a:prstGeom>
          <a:gradFill>
            <a:gsLst>
              <a:gs pos="0">
                <a:srgbClr val="2AACEF">
                  <a:alpha val="10000"/>
                </a:srgbClr>
              </a:gs>
              <a:gs pos="100000">
                <a:srgbClr val="2AACE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 flipH="1">
            <a:off x="10286999" y="0"/>
            <a:ext cx="1905000" cy="1714500"/>
          </a:xfrm>
          <a:prstGeom prst="line">
            <a:avLst/>
          </a:prstGeom>
          <a:ln w="25400">
            <a:solidFill>
              <a:srgbClr val="0284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H="1">
            <a:off x="10858499" y="0"/>
            <a:ext cx="1333500" cy="1143000"/>
          </a:xfrm>
          <a:prstGeom prst="line">
            <a:avLst/>
          </a:prstGeom>
          <a:ln w="12700">
            <a:solidFill>
              <a:srgbClr val="0284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11734799" y="0"/>
            <a:ext cx="457199" cy="6858000"/>
          </a:xfrm>
          <a:prstGeom prst="rect">
            <a:avLst/>
          </a:prstGeom>
          <a:solidFill>
            <a:srgbClr val="0284C7">
              <a:alpha val="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14299" cy="6858000"/>
          </a:xfrm>
          <a:prstGeom prst="rect">
            <a:avLst/>
          </a:prstGeom>
          <a:gradFill>
            <a:gsLst>
              <a:gs pos="0">
                <a:srgbClr val="0284C7">
                  <a:alpha val="40000"/>
                </a:srgbClr>
              </a:gs>
              <a:gs pos="50000">
                <a:srgbClr val="0284C7">
                  <a:alpha val="90000"/>
                </a:srgbClr>
              </a:gs>
              <a:gs pos="100000">
                <a:srgbClr val="0284C7">
                  <a:alpha val="40000"/>
                </a:srgbClr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93548" y="6216777"/>
            <a:ext cx="1212651" cy="25003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575" b="0">
                <a:solidFill>
                  <a:srgbClr val="475569">
                    <a:alpha val="70000"/>
                  </a:srgbClr>
                </a:solidFill>
                <a:latin typeface="Roboto"/>
                <a:ea typeface="Microsoft YaHei"/>
              </a:rPr>
              <a:t>10 / 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899" y="48768"/>
            <a:ext cx="11391899" cy="7619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4800" b="1">
                <a:solidFill>
                  <a:srgbClr val="0F172A"/>
                </a:solidFill>
                <a:latin typeface="Roboto"/>
                <a:ea typeface="Microsoft YaHei"/>
              </a:rPr>
              <a:t>实验设置与评价指标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899" y="723900"/>
            <a:ext cx="685799" cy="33337"/>
          </a:xfrm>
          <a:prstGeom prst="roundRect">
            <a:avLst/>
          </a:prstGeom>
          <a:solidFill>
            <a:srgbClr val="0284C7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42899" y="990599"/>
            <a:ext cx="11506199" cy="1219200"/>
          </a:xfrm>
          <a:prstGeom prst="roundRect">
            <a:avLst/>
          </a:prstGeom>
          <a:effectLst>
            <a:blur rad="203200"/>
            <a:outerShdw dist="38100" dir="0" blurRad="203200" algn="bl" rotWithShape="0">
              <a:srgbClr val="000000">
                <a:alpha val="10000"/>
              </a:srgbClr>
            </a:outerShdw>
          </a:effectLst>
          <a:gradFill>
            <a:gsLst>
              <a:gs pos="0">
                <a:srgbClr val="FFFFFF"/>
              </a:gs>
              <a:gs pos="100000">
                <a:srgbClr val="FFFFFF">
                  <a:alpha val="80000"/>
                </a:srgbClr>
              </a:gs>
            </a:gsLst>
            <a:lin ang="5400000" scaled="0"/>
          </a:gra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42899" y="990599"/>
            <a:ext cx="38099" cy="1219200"/>
          </a:xfrm>
          <a:prstGeom prst="roundRect">
            <a:avLst/>
          </a:prstGeom>
          <a:solidFill>
            <a:srgbClr val="0284C7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38149" y="1390650"/>
            <a:ext cx="419099" cy="419100"/>
          </a:xfrm>
          <a:prstGeom prst="ellipse">
            <a:avLst/>
          </a:prstGeom>
          <a:noFill/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04824" y="1457325"/>
            <a:ext cx="285749" cy="285750"/>
          </a:xfrm>
          <a:prstGeom prst="ellipse">
            <a:avLst/>
          </a:prstGeom>
          <a:solidFill>
            <a:srgbClr val="0284C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1949" y="1463802"/>
            <a:ext cx="571500" cy="25003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575" b="1">
                <a:solidFill>
                  <a:srgbClr val="20A2E5"/>
                </a:solidFill>
                <a:latin typeface="Roboto"/>
                <a:ea typeface="Microsoft YaHei"/>
              </a:rPr>
              <a:t>01</a:t>
            </a:r>
          </a:p>
        </p:txBody>
      </p:sp>
      <p:sp>
        <p:nvSpPr>
          <p:cNvPr id="17" name="Oval 16"/>
          <p:cNvSpPr/>
          <p:nvPr/>
        </p:nvSpPr>
        <p:spPr>
          <a:xfrm>
            <a:off x="1009649" y="1333500"/>
            <a:ext cx="76199" cy="76200"/>
          </a:xfrm>
          <a:prstGeom prst="ellipse">
            <a:avLst/>
          </a:prstGeom>
          <a:solidFill>
            <a:srgbClr val="0284C7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81099" y="1113282"/>
            <a:ext cx="13051631" cy="857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700" b="0">
                <a:solidFill>
                  <a:srgbClr val="0F172A"/>
                </a:solidFill>
                <a:latin typeface="Roboto"/>
                <a:ea typeface="Microsoft YaHei"/>
              </a:rPr>
              <a:t>按降雨事件划分训练 / 验证 / 测试：25 场 / 6 场 / 6 场，杜</a:t>
            </a:r>
          </a:p>
          <a:p>
            <a:r>
              <a:rPr sz="2700" b="0">
                <a:solidFill>
                  <a:srgbClr val="0F172A"/>
                </a:solidFill>
                <a:latin typeface="Roboto"/>
                <a:ea typeface="Microsoft YaHei"/>
              </a:rPr>
              <a:t>绝时间泄漏</a:t>
            </a:r>
          </a:p>
        </p:txBody>
      </p:sp>
      <p:sp>
        <p:nvSpPr>
          <p:cNvPr id="19" name="Rectangle 18"/>
          <p:cNvSpPr/>
          <p:nvPr/>
        </p:nvSpPr>
        <p:spPr>
          <a:custGeom>
            <a:pathLst>
              <a:path w="57149" h="114300">
                <a:moveTo>
                  <a:pt x="0" y="0"/>
                </a:moveTo>
                <a:lnTo>
                  <a:pt x="57149" y="57150"/>
                </a:lnTo>
                <a:lnTo>
                  <a:pt x="0" y="114300"/>
                </a:lnTo>
              </a:path>
            </a:pathLst>
          </a:custGeom>
          <a:xfrm>
            <a:off x="11620499" y="1543050"/>
            <a:ext cx="57149" cy="114300"/>
          </a:xfrm>
          <a:noFill/>
          <a:ln w="254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42899" y="2324100"/>
            <a:ext cx="11506199" cy="723900"/>
          </a:xfrm>
          <a:prstGeom prst="roundRect">
            <a:avLst/>
          </a:prstGeom>
          <a:effectLst>
            <a:blur rad="203200"/>
            <a:outerShdw dist="38100" dir="0" blurRad="203200" algn="bl" rotWithShape="0">
              <a:srgbClr val="000000">
                <a:alpha val="10000"/>
              </a:srgbClr>
            </a:outerShdw>
          </a:effectLst>
          <a:gradFill>
            <a:gsLst>
              <a:gs pos="0">
                <a:srgbClr val="FFFFFF"/>
              </a:gs>
              <a:gs pos="100000">
                <a:srgbClr val="FFFFFF">
                  <a:alpha val="80000"/>
                </a:srgbClr>
              </a:gs>
            </a:gsLst>
            <a:lin ang="5400000" scaled="0"/>
          </a:gradFill>
          <a:ln w="19050">
            <a:solidFill>
              <a:srgbClr val="0066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42899" y="2324100"/>
            <a:ext cx="38099" cy="723900"/>
          </a:xfrm>
          <a:prstGeom prst="roundRect">
            <a:avLst/>
          </a:prstGeom>
          <a:solidFill>
            <a:srgbClr val="0066A9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38149" y="2476499"/>
            <a:ext cx="419099" cy="419100"/>
          </a:xfrm>
          <a:prstGeom prst="ellipse">
            <a:avLst/>
          </a:prstGeom>
          <a:noFill/>
          <a:ln w="19050">
            <a:solidFill>
              <a:srgbClr val="0066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04824" y="2543175"/>
            <a:ext cx="285749" cy="285750"/>
          </a:xfrm>
          <a:prstGeom prst="ellipse">
            <a:avLst/>
          </a:prstGeom>
          <a:solidFill>
            <a:srgbClr val="0066A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1949" y="2549652"/>
            <a:ext cx="571500" cy="25003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575" b="1">
                <a:solidFill>
                  <a:srgbClr val="0066A9"/>
                </a:solidFill>
                <a:latin typeface="Roboto"/>
                <a:ea typeface="Microsoft YaHei"/>
              </a:rPr>
              <a:t>02</a:t>
            </a:r>
          </a:p>
        </p:txBody>
      </p:sp>
      <p:sp>
        <p:nvSpPr>
          <p:cNvPr id="25" name="Oval 24"/>
          <p:cNvSpPr/>
          <p:nvPr/>
        </p:nvSpPr>
        <p:spPr>
          <a:xfrm>
            <a:off x="1009649" y="2667000"/>
            <a:ext cx="76199" cy="76200"/>
          </a:xfrm>
          <a:prstGeom prst="ellipse">
            <a:avLst/>
          </a:prstGeom>
          <a:solidFill>
            <a:srgbClr val="0066A9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81099" y="2446781"/>
            <a:ext cx="11680031" cy="4286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700" b="0">
                <a:solidFill>
                  <a:srgbClr val="0F172A"/>
                </a:solidFill>
                <a:latin typeface="Roboto"/>
                <a:ea typeface="Microsoft YaHei"/>
              </a:rPr>
              <a:t>对照基线：SCS-CN 水文模型、熵权指数法、单一 XGBoost</a:t>
            </a:r>
          </a:p>
        </p:txBody>
      </p:sp>
      <p:sp>
        <p:nvSpPr>
          <p:cNvPr id="27" name="Rectangle 26"/>
          <p:cNvSpPr/>
          <p:nvPr/>
        </p:nvSpPr>
        <p:spPr>
          <a:custGeom>
            <a:pathLst>
              <a:path w="57149" h="114300">
                <a:moveTo>
                  <a:pt x="0" y="0"/>
                </a:moveTo>
                <a:lnTo>
                  <a:pt x="57149" y="57150"/>
                </a:lnTo>
                <a:lnTo>
                  <a:pt x="0" y="114300"/>
                </a:lnTo>
              </a:path>
            </a:pathLst>
          </a:custGeom>
          <a:xfrm>
            <a:off x="11620499" y="2628900"/>
            <a:ext cx="57149" cy="114300"/>
          </a:xfrm>
          <a:noFill/>
          <a:ln w="25400">
            <a:solidFill>
              <a:srgbClr val="0066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342899" y="3162299"/>
            <a:ext cx="11506199" cy="723900"/>
          </a:xfrm>
          <a:prstGeom prst="roundRect">
            <a:avLst/>
          </a:prstGeom>
          <a:effectLst>
            <a:blur rad="203200"/>
            <a:outerShdw dist="38100" dir="0" blurRad="203200" algn="bl" rotWithShape="0">
              <a:srgbClr val="000000">
                <a:alpha val="10000"/>
              </a:srgbClr>
            </a:outerShdw>
          </a:effectLst>
          <a:gradFill>
            <a:gsLst>
              <a:gs pos="0">
                <a:srgbClr val="FFFFFF"/>
              </a:gs>
              <a:gs pos="100000">
                <a:srgbClr val="FFFFFF">
                  <a:alpha val="80000"/>
                </a:srgbClr>
              </a:gs>
            </a:gsLst>
            <a:lin ang="5400000" scaled="0"/>
          </a:gradFill>
          <a:ln w="19050">
            <a:solidFill>
              <a:srgbClr val="2AA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342899" y="3162299"/>
            <a:ext cx="38099" cy="723900"/>
          </a:xfrm>
          <a:prstGeom prst="roundRect">
            <a:avLst/>
          </a:prstGeom>
          <a:solidFill>
            <a:srgbClr val="2AACEF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38149" y="3314700"/>
            <a:ext cx="419099" cy="419100"/>
          </a:xfrm>
          <a:prstGeom prst="ellipse">
            <a:avLst/>
          </a:prstGeom>
          <a:noFill/>
          <a:ln w="19050">
            <a:solidFill>
              <a:srgbClr val="2AA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04824" y="3381375"/>
            <a:ext cx="285749" cy="285750"/>
          </a:xfrm>
          <a:prstGeom prst="ellipse">
            <a:avLst/>
          </a:prstGeom>
          <a:solidFill>
            <a:srgbClr val="2AACE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1949" y="3387852"/>
            <a:ext cx="571500" cy="25003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575" b="1">
                <a:solidFill>
                  <a:srgbClr val="20A2E5"/>
                </a:solidFill>
                <a:latin typeface="Roboto"/>
                <a:ea typeface="Microsoft YaHei"/>
              </a:rPr>
              <a:t>03</a:t>
            </a:r>
          </a:p>
        </p:txBody>
      </p:sp>
      <p:sp>
        <p:nvSpPr>
          <p:cNvPr id="33" name="Oval 32"/>
          <p:cNvSpPr/>
          <p:nvPr/>
        </p:nvSpPr>
        <p:spPr>
          <a:xfrm>
            <a:off x="1009649" y="3505199"/>
            <a:ext cx="76199" cy="76200"/>
          </a:xfrm>
          <a:prstGeom prst="ellipse">
            <a:avLst/>
          </a:prstGeom>
          <a:solidFill>
            <a:srgbClr val="2AACEF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81099" y="3284982"/>
            <a:ext cx="7993856" cy="4286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700" b="0">
                <a:solidFill>
                  <a:srgbClr val="0F172A"/>
                </a:solidFill>
                <a:latin typeface="Roboto"/>
                <a:ea typeface="Microsoft YaHei"/>
              </a:rPr>
              <a:t>评价指标：AUC、高风险召回率、误报率</a:t>
            </a:r>
          </a:p>
        </p:txBody>
      </p:sp>
      <p:sp>
        <p:nvSpPr>
          <p:cNvPr id="35" name="Rectangle 34"/>
          <p:cNvSpPr/>
          <p:nvPr/>
        </p:nvSpPr>
        <p:spPr>
          <a:custGeom>
            <a:pathLst>
              <a:path w="57149" h="114300">
                <a:moveTo>
                  <a:pt x="0" y="0"/>
                </a:moveTo>
                <a:lnTo>
                  <a:pt x="57149" y="57150"/>
                </a:lnTo>
                <a:lnTo>
                  <a:pt x="0" y="114300"/>
                </a:lnTo>
              </a:path>
            </a:pathLst>
          </a:custGeom>
          <a:xfrm>
            <a:off x="11620499" y="3467100"/>
            <a:ext cx="57149" cy="114300"/>
          </a:xfrm>
          <a:noFill/>
          <a:ln w="25400">
            <a:solidFill>
              <a:srgbClr val="2AA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342899" y="4000500"/>
            <a:ext cx="11506199" cy="723900"/>
          </a:xfrm>
          <a:prstGeom prst="roundRect">
            <a:avLst/>
          </a:prstGeom>
          <a:effectLst>
            <a:blur rad="203200"/>
            <a:outerShdw dist="38100" dir="0" blurRad="203200" algn="bl" rotWithShape="0">
              <a:srgbClr val="000000">
                <a:alpha val="10000"/>
              </a:srgbClr>
            </a:outerShdw>
          </a:effectLst>
          <a:gradFill>
            <a:gsLst>
              <a:gs pos="0">
                <a:srgbClr val="FFFFFF"/>
              </a:gs>
              <a:gs pos="100000">
                <a:srgbClr val="FFFFFF">
                  <a:alpha val="80000"/>
                </a:srgbClr>
              </a:gs>
            </a:gsLst>
            <a:lin ang="5400000" scaled="0"/>
          </a:gra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342899" y="4000500"/>
            <a:ext cx="38099" cy="723900"/>
          </a:xfrm>
          <a:prstGeom prst="roundRect">
            <a:avLst/>
          </a:prstGeom>
          <a:solidFill>
            <a:srgbClr val="0284C7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438149" y="4152899"/>
            <a:ext cx="419099" cy="419100"/>
          </a:xfrm>
          <a:prstGeom prst="ellipse">
            <a:avLst/>
          </a:prstGeom>
          <a:noFill/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04824" y="4219575"/>
            <a:ext cx="285749" cy="285750"/>
          </a:xfrm>
          <a:prstGeom prst="ellipse">
            <a:avLst/>
          </a:prstGeom>
          <a:solidFill>
            <a:srgbClr val="0284C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1949" y="4226051"/>
            <a:ext cx="571500" cy="25003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575" b="1">
                <a:solidFill>
                  <a:srgbClr val="20A2E5"/>
                </a:solidFill>
                <a:latin typeface="Roboto"/>
                <a:ea typeface="Microsoft YaHei"/>
              </a:rPr>
              <a:t>04</a:t>
            </a:r>
          </a:p>
        </p:txBody>
      </p:sp>
      <p:sp>
        <p:nvSpPr>
          <p:cNvPr id="41" name="Oval 40"/>
          <p:cNvSpPr/>
          <p:nvPr/>
        </p:nvSpPr>
        <p:spPr>
          <a:xfrm>
            <a:off x="1009649" y="4343400"/>
            <a:ext cx="76199" cy="76200"/>
          </a:xfrm>
          <a:prstGeom prst="ellipse">
            <a:avLst/>
          </a:prstGeom>
          <a:solidFill>
            <a:srgbClr val="0284C7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81099" y="4123181"/>
            <a:ext cx="11744325" cy="4286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700" b="0">
                <a:solidFill>
                  <a:srgbClr val="0F172A"/>
                </a:solidFill>
                <a:latin typeface="Roboto"/>
                <a:ea typeface="Microsoft YaHei"/>
              </a:rPr>
              <a:t>计算成本：单卡工作站训练 43 分钟，单次全城推理 11 秒</a:t>
            </a:r>
          </a:p>
        </p:txBody>
      </p:sp>
      <p:sp>
        <p:nvSpPr>
          <p:cNvPr id="43" name="Rectangle 42"/>
          <p:cNvSpPr/>
          <p:nvPr/>
        </p:nvSpPr>
        <p:spPr>
          <a:custGeom>
            <a:pathLst>
              <a:path w="57149" h="114300">
                <a:moveTo>
                  <a:pt x="0" y="0"/>
                </a:moveTo>
                <a:lnTo>
                  <a:pt x="57149" y="57150"/>
                </a:lnTo>
                <a:lnTo>
                  <a:pt x="0" y="114300"/>
                </a:lnTo>
              </a:path>
            </a:pathLst>
          </a:custGeom>
          <a:xfrm>
            <a:off x="11620499" y="4305300"/>
            <a:ext cx="57149" cy="114300"/>
          </a:xfrm>
          <a:noFill/>
          <a:ln w="254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00999" y="-2381250"/>
            <a:ext cx="7619999" cy="5334000"/>
          </a:xfrm>
          <a:prstGeom prst="ellipse">
            <a:avLst/>
          </a:prstGeom>
          <a:gradFill>
            <a:gsLst>
              <a:gs pos="0">
                <a:srgbClr val="0C8ED1">
                  <a:alpha val="15000"/>
                </a:srgbClr>
              </a:gs>
              <a:gs pos="100000">
                <a:srgbClr val="0C8ED1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095499" y="4667249"/>
            <a:ext cx="5333999" cy="3809999"/>
          </a:xfrm>
          <a:prstGeom prst="ellipse">
            <a:avLst/>
          </a:prstGeom>
          <a:gradFill>
            <a:gsLst>
              <a:gs pos="0">
                <a:srgbClr val="34B6F9">
                  <a:alpha val="10000"/>
                </a:srgbClr>
              </a:gs>
              <a:gs pos="100000">
                <a:srgbClr val="34B6F9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 flipH="1">
            <a:off x="10286999" y="0"/>
            <a:ext cx="1905000" cy="1714500"/>
          </a:xfrm>
          <a:prstGeom prst="line">
            <a:avLst/>
          </a:prstGeom>
          <a:ln w="25400">
            <a:solidFill>
              <a:srgbClr val="0C8E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H="1">
            <a:off x="10858499" y="0"/>
            <a:ext cx="1333500" cy="1143000"/>
          </a:xfrm>
          <a:prstGeom prst="line">
            <a:avLst/>
          </a:prstGeom>
          <a:ln w="12700">
            <a:solidFill>
              <a:srgbClr val="0C8E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11849099" y="0"/>
            <a:ext cx="342899" cy="6858000"/>
          </a:xfrm>
          <a:prstGeom prst="rect">
            <a:avLst/>
          </a:prstGeom>
          <a:solidFill>
            <a:srgbClr val="0C8ED1">
              <a:alpha val="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14299" cy="6858000"/>
          </a:xfrm>
          <a:prstGeom prst="rect">
            <a:avLst/>
          </a:prstGeom>
          <a:gradFill>
            <a:gsLst>
              <a:gs pos="0">
                <a:srgbClr val="0C8ED1">
                  <a:alpha val="40000"/>
                </a:srgbClr>
              </a:gs>
              <a:gs pos="50000">
                <a:srgbClr val="0C8ED1">
                  <a:alpha val="90000"/>
                </a:srgbClr>
              </a:gs>
              <a:gs pos="100000">
                <a:srgbClr val="0C8ED1">
                  <a:alpha val="40000"/>
                </a:srgbClr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93548" y="6216777"/>
            <a:ext cx="1212651" cy="25003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575" b="0">
                <a:solidFill>
                  <a:srgbClr val="475569">
                    <a:alpha val="70000"/>
                  </a:srgbClr>
                </a:solidFill>
                <a:latin typeface="Roboto"/>
                <a:ea typeface="Microsoft YaHei"/>
              </a:rPr>
              <a:t>11 / 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899" y="48768"/>
            <a:ext cx="11391899" cy="7619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4800" b="1">
                <a:solidFill>
                  <a:srgbClr val="0F172A"/>
                </a:solidFill>
                <a:latin typeface="Roboto"/>
                <a:ea typeface="Microsoft YaHei"/>
              </a:rPr>
              <a:t>核心创新点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899" y="723900"/>
            <a:ext cx="685799" cy="33337"/>
          </a:xfrm>
          <a:prstGeom prst="roundRect">
            <a:avLst/>
          </a:prstGeom>
          <a:solidFill>
            <a:srgbClr val="0C8ED1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42899" y="1371600"/>
            <a:ext cx="3676649" cy="3219449"/>
          </a:xfrm>
          <a:prstGeom prst="roundRect">
            <a:avLst/>
          </a:prstGeom>
          <a:effectLst>
            <a:blur rad="203200"/>
            <a:outerShdw dist="38100" dir="0" blurRad="203200" algn="bl" rotWithShape="0">
              <a:srgbClr val="000000">
                <a:alpha val="10000"/>
              </a:srgbClr>
            </a:outerShdw>
          </a:effectLst>
          <a:gradFill>
            <a:gsLst>
              <a:gs pos="0">
                <a:srgbClr val="FFFFFF"/>
              </a:gs>
              <a:gs pos="100000">
                <a:srgbClr val="FFFFFF">
                  <a:alpha val="85000"/>
                </a:srgbClr>
              </a:gs>
            </a:gsLst>
            <a:lin ang="0" scaled="0"/>
          </a:gradFill>
          <a:ln w="19050">
            <a:solidFill>
              <a:srgbClr val="0C8E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42899" y="1371600"/>
            <a:ext cx="3676649" cy="38100"/>
          </a:xfrm>
          <a:prstGeom prst="roundRect">
            <a:avLst/>
          </a:prstGeom>
          <a:solidFill>
            <a:srgbClr val="0C8ED1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924049" y="1552574"/>
            <a:ext cx="514349" cy="514350"/>
          </a:xfrm>
          <a:prstGeom prst="ellipse">
            <a:avLst/>
          </a:prstGeom>
          <a:noFill/>
          <a:ln w="12700">
            <a:solidFill>
              <a:srgbClr val="0C8E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962149" y="1590675"/>
            <a:ext cx="438149" cy="438149"/>
          </a:xfrm>
          <a:prstGeom prst="ellipse">
            <a:avLst/>
          </a:prstGeom>
          <a:solidFill>
            <a:srgbClr val="0C8ED1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895474" y="1672589"/>
            <a:ext cx="571500" cy="2381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499" b="1">
                <a:solidFill>
                  <a:srgbClr val="20A2E5">
                    <a:alpha val="90000"/>
                  </a:srgbClr>
                </a:solidFill>
                <a:latin typeface="Roboto"/>
                <a:ea typeface="Microsoft YaHei"/>
              </a:rPr>
              <a:t>01</a:t>
            </a:r>
          </a:p>
        </p:txBody>
      </p:sp>
      <p:sp>
        <p:nvSpPr>
          <p:cNvPr id="17" name="Rectangle 16"/>
          <p:cNvSpPr/>
          <p:nvPr/>
        </p:nvSpPr>
        <p:spPr>
          <a:custGeom>
            <a:pathLst>
              <a:path w="3422649" h="285750">
                <a:moveTo>
                  <a:pt x="0" y="285750"/>
                </a:moveTo>
                <a:cubicBezTo>
                  <a:pt x="685799" y="158750"/>
                  <a:pt x="1438274" y="126999"/>
                  <a:pt x="2257424" y="190499"/>
                </a:cubicBezTo>
                <a:cubicBezTo>
                  <a:pt x="3076574" y="254000"/>
                  <a:pt x="3422649" y="190499"/>
                  <a:pt x="3295649" y="0"/>
                </a:cubicBezTo>
              </a:path>
            </a:pathLst>
          </a:custGeom>
          <a:xfrm>
            <a:off x="533399" y="4038599"/>
            <a:ext cx="3422649" cy="285750"/>
          </a:xfrm>
          <a:noFill/>
          <a:ln w="25400">
            <a:solidFill>
              <a:srgbClr val="0C8E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800474" y="4010024"/>
            <a:ext cx="57149" cy="57150"/>
          </a:xfrm>
          <a:prstGeom prst="ellipse">
            <a:avLst/>
          </a:prstGeom>
          <a:solidFill>
            <a:srgbClr val="0C8ED1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3393" y="2406777"/>
            <a:ext cx="3395662" cy="10953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3450" b="1">
                <a:latin typeface="Roboto"/>
                <a:ea typeface="Microsoft YaHei"/>
              </a:rPr>
              <a:t>60% 数据融</a:t>
            </a:r>
          </a:p>
          <a:p>
            <a:pPr algn="ctr"/>
            <a:r>
              <a:rPr sz="3450" b="1">
                <a:latin typeface="Roboto"/>
                <a:ea typeface="Microsoft YaHei"/>
              </a:rPr>
              <a:t>合创新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099" y="3957065"/>
            <a:ext cx="4286250" cy="4286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350" b="0">
                <a:solidFill>
                  <a:srgbClr val="475569">
                    <a:alpha val="90000"/>
                  </a:srgbClr>
                </a:solidFill>
                <a:latin typeface="Roboto"/>
                <a:ea typeface="Microsoft YaHei"/>
              </a:rPr>
              <a:t>报灾文本与摄像头识别纳入标签动态校核，</a:t>
            </a:r>
          </a:p>
          <a:p>
            <a:pPr algn="ctr"/>
            <a:r>
              <a:rPr sz="1350" b="0">
                <a:solidFill>
                  <a:srgbClr val="475569">
                    <a:alpha val="90000"/>
                  </a:srgbClr>
                </a:solidFill>
                <a:latin typeface="Roboto"/>
                <a:ea typeface="Microsoft YaHei"/>
              </a:rPr>
              <a:t>标注成本下降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48149" y="1371600"/>
            <a:ext cx="3676649" cy="3219449"/>
          </a:xfrm>
          <a:prstGeom prst="roundRect">
            <a:avLst/>
          </a:prstGeom>
          <a:effectLst>
            <a:blur rad="203200"/>
            <a:outerShdw dist="38100" dir="0" blurRad="203200" algn="bl" rotWithShape="0">
              <a:srgbClr val="000000">
                <a:alpha val="10000"/>
              </a:srgbClr>
            </a:outerShdw>
          </a:effectLst>
          <a:gradFill>
            <a:gsLst>
              <a:gs pos="0">
                <a:srgbClr val="FFFFFF"/>
              </a:gs>
              <a:gs pos="100000">
                <a:srgbClr val="FFFFFF">
                  <a:alpha val="85000"/>
                </a:srgbClr>
              </a:gs>
            </a:gsLst>
            <a:lin ang="0" scaled="0"/>
          </a:gradFill>
          <a:ln w="19050">
            <a:solidFill>
              <a:srgbClr val="006B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248149" y="1371600"/>
            <a:ext cx="3676649" cy="38100"/>
          </a:xfrm>
          <a:prstGeom prst="roundRect">
            <a:avLst/>
          </a:prstGeom>
          <a:solidFill>
            <a:srgbClr val="006BAE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829299" y="1552574"/>
            <a:ext cx="514349" cy="514350"/>
          </a:xfrm>
          <a:prstGeom prst="ellipse">
            <a:avLst/>
          </a:prstGeom>
          <a:noFill/>
          <a:ln w="12700">
            <a:solidFill>
              <a:srgbClr val="006B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867399" y="1590675"/>
            <a:ext cx="438149" cy="438149"/>
          </a:xfrm>
          <a:prstGeom prst="ellipse">
            <a:avLst/>
          </a:prstGeom>
          <a:solidFill>
            <a:srgbClr val="006BAE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800724" y="1672589"/>
            <a:ext cx="571500" cy="2381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499" b="1">
                <a:solidFill>
                  <a:srgbClr val="006BAE">
                    <a:alpha val="90000"/>
                  </a:srgbClr>
                </a:solidFill>
                <a:latin typeface="Roboto"/>
                <a:ea typeface="Microsoft YaHei"/>
              </a:rPr>
              <a:t>02</a:t>
            </a:r>
          </a:p>
        </p:txBody>
      </p:sp>
      <p:sp>
        <p:nvSpPr>
          <p:cNvPr id="26" name="Rectangle 25"/>
          <p:cNvSpPr/>
          <p:nvPr/>
        </p:nvSpPr>
        <p:spPr>
          <a:custGeom>
            <a:pathLst>
              <a:path w="3422649" h="285750">
                <a:moveTo>
                  <a:pt x="0" y="285750"/>
                </a:moveTo>
                <a:cubicBezTo>
                  <a:pt x="685799" y="158750"/>
                  <a:pt x="1438274" y="126999"/>
                  <a:pt x="2257424" y="190499"/>
                </a:cubicBezTo>
                <a:cubicBezTo>
                  <a:pt x="3076574" y="254000"/>
                  <a:pt x="3422649" y="190499"/>
                  <a:pt x="3295649" y="0"/>
                </a:cubicBezTo>
              </a:path>
            </a:pathLst>
          </a:custGeom>
          <a:xfrm>
            <a:off x="4438649" y="4038599"/>
            <a:ext cx="3422649" cy="285750"/>
          </a:xfrm>
          <a:noFill/>
          <a:ln w="25400">
            <a:solidFill>
              <a:srgbClr val="006B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705724" y="4010024"/>
            <a:ext cx="57149" cy="57150"/>
          </a:xfrm>
          <a:prstGeom prst="ellipse">
            <a:avLst/>
          </a:prstGeom>
          <a:solidFill>
            <a:srgbClr val="006BAE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813571" y="2406777"/>
            <a:ext cx="4545806" cy="10953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3450" b="1">
                <a:latin typeface="Roboto"/>
                <a:ea typeface="Microsoft YaHei"/>
              </a:rPr>
              <a:t>79.1% 提升至</a:t>
            </a:r>
          </a:p>
          <a:p>
            <a:pPr algn="ctr"/>
            <a:r>
              <a:rPr sz="3450" b="1">
                <a:latin typeface="Roboto"/>
                <a:ea typeface="Microsoft YaHei"/>
              </a:rPr>
              <a:t>87.4% 建模创新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36231" y="3957065"/>
            <a:ext cx="3900487" cy="4286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350" b="0">
                <a:solidFill>
                  <a:srgbClr val="475569">
                    <a:alpha val="90000"/>
                  </a:srgbClr>
                </a:solidFill>
                <a:latin typeface="Roboto"/>
                <a:ea typeface="Microsoft YaHei"/>
              </a:rPr>
              <a:t>GCN 显式编码管网拓扑，高风险网格召</a:t>
            </a:r>
          </a:p>
          <a:p>
            <a:pPr algn="ctr"/>
            <a:r>
              <a:rPr sz="1350" b="0">
                <a:solidFill>
                  <a:srgbClr val="475569">
                    <a:alpha val="90000"/>
                  </a:srgbClr>
                </a:solidFill>
                <a:latin typeface="Roboto"/>
                <a:ea typeface="Microsoft YaHei"/>
              </a:rPr>
              <a:t>回率由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53399" y="1371600"/>
            <a:ext cx="3676649" cy="3219449"/>
          </a:xfrm>
          <a:prstGeom prst="roundRect">
            <a:avLst/>
          </a:prstGeom>
          <a:effectLst>
            <a:blur rad="203200"/>
            <a:outerShdw dist="38100" dir="0" blurRad="203200" algn="bl" rotWithShape="0">
              <a:srgbClr val="000000">
                <a:alpha val="10000"/>
              </a:srgbClr>
            </a:outerShdw>
          </a:effectLst>
          <a:gradFill>
            <a:gsLst>
              <a:gs pos="0">
                <a:srgbClr val="FFFFFF"/>
              </a:gs>
              <a:gs pos="100000">
                <a:srgbClr val="FFFFFF">
                  <a:alpha val="85000"/>
                </a:srgbClr>
              </a:gs>
            </a:gsLst>
            <a:lin ang="0" scaled="0"/>
          </a:gradFill>
          <a:ln w="19050">
            <a:solidFill>
              <a:srgbClr val="39B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153399" y="1371600"/>
            <a:ext cx="3676649" cy="38100"/>
          </a:xfrm>
          <a:prstGeom prst="roundRect">
            <a:avLst/>
          </a:prstGeom>
          <a:solidFill>
            <a:srgbClr val="39BBFE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734549" y="1552574"/>
            <a:ext cx="514349" cy="514350"/>
          </a:xfrm>
          <a:prstGeom prst="ellipse">
            <a:avLst/>
          </a:prstGeom>
          <a:noFill/>
          <a:ln w="12700">
            <a:solidFill>
              <a:srgbClr val="39B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772649" y="1590675"/>
            <a:ext cx="438149" cy="438149"/>
          </a:xfrm>
          <a:prstGeom prst="ellipse">
            <a:avLst/>
          </a:prstGeom>
          <a:solidFill>
            <a:srgbClr val="39BBFE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705974" y="1672589"/>
            <a:ext cx="571500" cy="2381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499" b="1">
                <a:solidFill>
                  <a:srgbClr val="20A2E5">
                    <a:alpha val="90000"/>
                  </a:srgbClr>
                </a:solidFill>
                <a:latin typeface="Roboto"/>
                <a:ea typeface="Microsoft YaHei"/>
              </a:rPr>
              <a:t>03</a:t>
            </a:r>
          </a:p>
        </p:txBody>
      </p:sp>
      <p:sp>
        <p:nvSpPr>
          <p:cNvPr id="35" name="Rectangle 34"/>
          <p:cNvSpPr/>
          <p:nvPr/>
        </p:nvSpPr>
        <p:spPr>
          <a:custGeom>
            <a:pathLst>
              <a:path w="3422649" h="285750">
                <a:moveTo>
                  <a:pt x="0" y="285750"/>
                </a:moveTo>
                <a:cubicBezTo>
                  <a:pt x="685799" y="158750"/>
                  <a:pt x="1438274" y="126999"/>
                  <a:pt x="2257424" y="190499"/>
                </a:cubicBezTo>
                <a:cubicBezTo>
                  <a:pt x="3076574" y="254000"/>
                  <a:pt x="3422649" y="190499"/>
                  <a:pt x="3295649" y="0"/>
                </a:cubicBezTo>
              </a:path>
            </a:pathLst>
          </a:custGeom>
          <a:xfrm>
            <a:off x="8343899" y="4038599"/>
            <a:ext cx="3422649" cy="285750"/>
          </a:xfrm>
          <a:noFill/>
          <a:ln w="25400">
            <a:solidFill>
              <a:srgbClr val="39B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1610974" y="4010024"/>
            <a:ext cx="57149" cy="57150"/>
          </a:xfrm>
          <a:prstGeom prst="ellipse">
            <a:avLst/>
          </a:prstGeom>
          <a:solidFill>
            <a:srgbClr val="39BBFE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684888" y="2600325"/>
            <a:ext cx="4613671" cy="5953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3749" b="1">
                <a:latin typeface="Roboto"/>
                <a:ea typeface="Microsoft YaHei"/>
              </a:rPr>
              <a:t>6.0% 精度提升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907535" y="3957065"/>
            <a:ext cx="4168378" cy="4286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350" b="0">
                <a:solidFill>
                  <a:srgbClr val="475569">
                    <a:alpha val="90000"/>
                  </a:srgbClr>
                </a:solidFill>
                <a:latin typeface="Roboto"/>
                <a:ea typeface="Microsoft YaHei"/>
              </a:rPr>
              <a:t>与 SCS-CN 相比 AUC 提升 16.8%，与单</a:t>
            </a:r>
          </a:p>
          <a:p>
            <a:pPr algn="ctr"/>
            <a:r>
              <a:rPr sz="1350" b="0">
                <a:solidFill>
                  <a:srgbClr val="475569">
                    <a:alpha val="90000"/>
                  </a:srgbClr>
                </a:solidFill>
                <a:latin typeface="Roboto"/>
                <a:ea typeface="Microsoft YaHei"/>
              </a:rPr>
              <a:t>一 XGBoost 相比提升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00999" y="-2381250"/>
            <a:ext cx="7619999" cy="5334000"/>
          </a:xfrm>
          <a:prstGeom prst="ellipse">
            <a:avLst/>
          </a:prstGeom>
          <a:gradFill>
            <a:gsLst>
              <a:gs pos="0">
                <a:srgbClr val="0C8ED1">
                  <a:alpha val="15000"/>
                </a:srgbClr>
              </a:gs>
              <a:gs pos="100000">
                <a:srgbClr val="0C8ED1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095499" y="4667249"/>
            <a:ext cx="5333999" cy="3809999"/>
          </a:xfrm>
          <a:prstGeom prst="ellipse">
            <a:avLst/>
          </a:prstGeom>
          <a:gradFill>
            <a:gsLst>
              <a:gs pos="0">
                <a:srgbClr val="34B6F9">
                  <a:alpha val="10000"/>
                </a:srgbClr>
              </a:gs>
              <a:gs pos="100000">
                <a:srgbClr val="34B6F9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 flipH="1">
            <a:off x="10286999" y="0"/>
            <a:ext cx="1905000" cy="1714500"/>
          </a:xfrm>
          <a:prstGeom prst="line">
            <a:avLst/>
          </a:prstGeom>
          <a:ln w="25400">
            <a:solidFill>
              <a:srgbClr val="0C8E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H="1">
            <a:off x="10858499" y="0"/>
            <a:ext cx="1333500" cy="1143000"/>
          </a:xfrm>
          <a:prstGeom prst="line">
            <a:avLst/>
          </a:prstGeom>
          <a:ln w="12700">
            <a:solidFill>
              <a:srgbClr val="0C8E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11849099" y="0"/>
            <a:ext cx="342899" cy="6858000"/>
          </a:xfrm>
          <a:prstGeom prst="rect">
            <a:avLst/>
          </a:prstGeom>
          <a:solidFill>
            <a:srgbClr val="0C8ED1">
              <a:alpha val="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14299" cy="6858000"/>
          </a:xfrm>
          <a:prstGeom prst="rect">
            <a:avLst/>
          </a:prstGeom>
          <a:gradFill>
            <a:gsLst>
              <a:gs pos="0">
                <a:srgbClr val="0C8ED1">
                  <a:alpha val="40000"/>
                </a:srgbClr>
              </a:gs>
              <a:gs pos="50000">
                <a:srgbClr val="0C8ED1">
                  <a:alpha val="90000"/>
                </a:srgbClr>
              </a:gs>
              <a:gs pos="100000">
                <a:srgbClr val="0C8ED1">
                  <a:alpha val="40000"/>
                </a:srgbClr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93548" y="6216777"/>
            <a:ext cx="1212651" cy="25003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575" b="0">
                <a:solidFill>
                  <a:srgbClr val="475569">
                    <a:alpha val="70000"/>
                  </a:srgbClr>
                </a:solidFill>
                <a:latin typeface="Roboto"/>
                <a:ea typeface="Microsoft YaHei"/>
              </a:rPr>
              <a:t>12 / 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899" y="48768"/>
            <a:ext cx="11391899" cy="7619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4800" b="1">
                <a:solidFill>
                  <a:srgbClr val="0F172A"/>
                </a:solidFill>
                <a:latin typeface="Roboto"/>
                <a:ea typeface="Microsoft YaHei"/>
              </a:rPr>
              <a:t>实验结果：整体精度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899" y="723900"/>
            <a:ext cx="685799" cy="33337"/>
          </a:xfrm>
          <a:prstGeom prst="roundRect">
            <a:avLst/>
          </a:prstGeom>
          <a:solidFill>
            <a:srgbClr val="0C8ED1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42899" y="1371600"/>
            <a:ext cx="2705099" cy="3219449"/>
          </a:xfrm>
          <a:prstGeom prst="roundRect">
            <a:avLst/>
          </a:prstGeom>
          <a:effectLst>
            <a:blur rad="203200"/>
            <a:outerShdw dist="38100" dir="0" blurRad="203200" algn="bl" rotWithShape="0">
              <a:srgbClr val="000000">
                <a:alpha val="10000"/>
              </a:srgbClr>
            </a:outerShdw>
          </a:effectLst>
          <a:gradFill>
            <a:gsLst>
              <a:gs pos="0">
                <a:srgbClr val="FFFFFF"/>
              </a:gs>
              <a:gs pos="100000">
                <a:srgbClr val="FFFFFF">
                  <a:alpha val="85000"/>
                </a:srgbClr>
              </a:gs>
            </a:gsLst>
            <a:lin ang="0" scaled="0"/>
          </a:gradFill>
          <a:ln w="19050">
            <a:solidFill>
              <a:srgbClr val="0C8E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42899" y="1371600"/>
            <a:ext cx="2705099" cy="38100"/>
          </a:xfrm>
          <a:prstGeom prst="roundRect">
            <a:avLst/>
          </a:prstGeom>
          <a:solidFill>
            <a:srgbClr val="0C8ED1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38274" y="1552574"/>
            <a:ext cx="514349" cy="514350"/>
          </a:xfrm>
          <a:prstGeom prst="ellipse">
            <a:avLst/>
          </a:prstGeom>
          <a:noFill/>
          <a:ln w="12700">
            <a:solidFill>
              <a:srgbClr val="0C8E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76374" y="1590675"/>
            <a:ext cx="438149" cy="438149"/>
          </a:xfrm>
          <a:prstGeom prst="ellipse">
            <a:avLst/>
          </a:prstGeom>
          <a:solidFill>
            <a:srgbClr val="0C8ED1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09699" y="1672589"/>
            <a:ext cx="571500" cy="2381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499" b="1">
                <a:solidFill>
                  <a:srgbClr val="20A2E5">
                    <a:alpha val="90000"/>
                  </a:srgbClr>
                </a:solidFill>
                <a:latin typeface="Roboto"/>
                <a:ea typeface="Microsoft YaHei"/>
              </a:rPr>
              <a:t>01</a:t>
            </a:r>
          </a:p>
        </p:txBody>
      </p:sp>
      <p:sp>
        <p:nvSpPr>
          <p:cNvPr id="17" name="Rectangle 16"/>
          <p:cNvSpPr/>
          <p:nvPr/>
        </p:nvSpPr>
        <p:spPr>
          <a:custGeom>
            <a:pathLst>
              <a:path w="2451099" h="285750">
                <a:moveTo>
                  <a:pt x="0" y="285750"/>
                </a:moveTo>
                <a:cubicBezTo>
                  <a:pt x="469899" y="158750"/>
                  <a:pt x="1006474" y="126999"/>
                  <a:pt x="1609724" y="190499"/>
                </a:cubicBezTo>
                <a:cubicBezTo>
                  <a:pt x="2212974" y="254000"/>
                  <a:pt x="2451099" y="190499"/>
                  <a:pt x="2324099" y="0"/>
                </a:cubicBezTo>
              </a:path>
            </a:pathLst>
          </a:custGeom>
          <a:xfrm>
            <a:off x="533399" y="4038599"/>
            <a:ext cx="2451099" cy="285750"/>
          </a:xfrm>
          <a:noFill/>
          <a:ln w="25400">
            <a:solidFill>
              <a:srgbClr val="0C8E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828924" y="4010024"/>
            <a:ext cx="57149" cy="57150"/>
          </a:xfrm>
          <a:prstGeom prst="ellipse">
            <a:avLst/>
          </a:prstGeom>
          <a:solidFill>
            <a:srgbClr val="0C8ED1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4590" y="2582798"/>
            <a:ext cx="2321718" cy="6191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3900" b="1">
                <a:latin typeface="Roboto"/>
                <a:ea typeface="Microsoft YaHei"/>
              </a:rPr>
              <a:t>0.913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2051" y="4166615"/>
            <a:ext cx="2946796" cy="2143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350" b="0">
                <a:solidFill>
                  <a:srgbClr val="475569">
                    <a:alpha val="90000"/>
                  </a:srgbClr>
                </a:solidFill>
                <a:latin typeface="Roboto"/>
                <a:ea typeface="Microsoft YaHei"/>
              </a:rPr>
              <a:t>本文融合模型测试集 AUC 达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76599" y="1371600"/>
            <a:ext cx="2705099" cy="3219449"/>
          </a:xfrm>
          <a:prstGeom prst="roundRect">
            <a:avLst/>
          </a:prstGeom>
          <a:effectLst>
            <a:blur rad="203200"/>
            <a:outerShdw dist="38100" dir="0" blurRad="203200" algn="bl" rotWithShape="0">
              <a:srgbClr val="000000">
                <a:alpha val="10000"/>
              </a:srgbClr>
            </a:outerShdw>
          </a:effectLst>
          <a:gradFill>
            <a:gsLst>
              <a:gs pos="0">
                <a:srgbClr val="FFFFFF"/>
              </a:gs>
              <a:gs pos="100000">
                <a:srgbClr val="FFFFFF">
                  <a:alpha val="85000"/>
                </a:srgbClr>
              </a:gs>
            </a:gsLst>
            <a:lin ang="0" scaled="0"/>
          </a:gradFill>
          <a:ln w="19050">
            <a:solidFill>
              <a:srgbClr val="006B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276599" y="1371600"/>
            <a:ext cx="2705099" cy="38100"/>
          </a:xfrm>
          <a:prstGeom prst="roundRect">
            <a:avLst/>
          </a:prstGeom>
          <a:solidFill>
            <a:srgbClr val="006BAE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371974" y="1552574"/>
            <a:ext cx="514349" cy="514350"/>
          </a:xfrm>
          <a:prstGeom prst="ellipse">
            <a:avLst/>
          </a:prstGeom>
          <a:noFill/>
          <a:ln w="12700">
            <a:solidFill>
              <a:srgbClr val="006B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410074" y="1590675"/>
            <a:ext cx="438149" cy="438149"/>
          </a:xfrm>
          <a:prstGeom prst="ellipse">
            <a:avLst/>
          </a:prstGeom>
          <a:solidFill>
            <a:srgbClr val="006BAE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43399" y="1672589"/>
            <a:ext cx="571500" cy="2381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499" b="1">
                <a:solidFill>
                  <a:srgbClr val="006BAE">
                    <a:alpha val="90000"/>
                  </a:srgbClr>
                </a:solidFill>
                <a:latin typeface="Roboto"/>
                <a:ea typeface="Microsoft YaHei"/>
              </a:rPr>
              <a:t>02</a:t>
            </a:r>
          </a:p>
        </p:txBody>
      </p:sp>
      <p:sp>
        <p:nvSpPr>
          <p:cNvPr id="26" name="Rectangle 25"/>
          <p:cNvSpPr/>
          <p:nvPr/>
        </p:nvSpPr>
        <p:spPr>
          <a:custGeom>
            <a:pathLst>
              <a:path w="2451099" h="285750">
                <a:moveTo>
                  <a:pt x="0" y="285750"/>
                </a:moveTo>
                <a:cubicBezTo>
                  <a:pt x="469899" y="158750"/>
                  <a:pt x="1006474" y="126999"/>
                  <a:pt x="1609724" y="190499"/>
                </a:cubicBezTo>
                <a:cubicBezTo>
                  <a:pt x="2212974" y="254000"/>
                  <a:pt x="2451099" y="190499"/>
                  <a:pt x="2324099" y="0"/>
                </a:cubicBezTo>
              </a:path>
            </a:pathLst>
          </a:custGeom>
          <a:xfrm>
            <a:off x="3467099" y="4038599"/>
            <a:ext cx="2451099" cy="285750"/>
          </a:xfrm>
          <a:noFill/>
          <a:ln w="25400">
            <a:solidFill>
              <a:srgbClr val="006B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762624" y="4010024"/>
            <a:ext cx="57149" cy="57150"/>
          </a:xfrm>
          <a:prstGeom prst="ellipse">
            <a:avLst/>
          </a:prstGeom>
          <a:solidFill>
            <a:srgbClr val="006BAE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66454" y="2470784"/>
            <a:ext cx="3125390" cy="10715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2250" b="1">
                <a:latin typeface="Roboto"/>
                <a:ea typeface="Microsoft YaHei"/>
              </a:rPr>
              <a:t>0.782，熵权指数</a:t>
            </a:r>
          </a:p>
          <a:p>
            <a:pPr algn="ctr"/>
            <a:r>
              <a:rPr sz="2250" b="1">
                <a:latin typeface="Roboto"/>
                <a:ea typeface="Microsoft YaHei"/>
              </a:rPr>
              <a:t>法 AUC 0.741</a:t>
            </a:r>
          </a:p>
          <a:p>
            <a:pPr algn="ctr"/>
            <a:r>
              <a:rPr sz="2250" b="1">
                <a:latin typeface="Roboto"/>
                <a:ea typeface="Microsoft YaHei"/>
              </a:rPr>
              <a:t>SCS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80817" y="4166615"/>
            <a:ext cx="1896665" cy="2143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350" b="0">
                <a:solidFill>
                  <a:srgbClr val="475569">
                    <a:alpha val="90000"/>
                  </a:srgbClr>
                </a:solidFill>
                <a:latin typeface="Roboto"/>
                <a:ea typeface="Microsoft YaHei"/>
              </a:rPr>
              <a:t>CN 水文模型 AUC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10299" y="1371600"/>
            <a:ext cx="2705099" cy="3219449"/>
          </a:xfrm>
          <a:prstGeom prst="roundRect">
            <a:avLst/>
          </a:prstGeom>
          <a:effectLst>
            <a:blur rad="203200"/>
            <a:outerShdw dist="38100" dir="0" blurRad="203200" algn="bl" rotWithShape="0">
              <a:srgbClr val="000000">
                <a:alpha val="10000"/>
              </a:srgbClr>
            </a:outerShdw>
          </a:effectLst>
          <a:gradFill>
            <a:gsLst>
              <a:gs pos="0">
                <a:srgbClr val="FFFFFF"/>
              </a:gs>
              <a:gs pos="100000">
                <a:srgbClr val="FFFFFF">
                  <a:alpha val="85000"/>
                </a:srgbClr>
              </a:gs>
            </a:gsLst>
            <a:lin ang="0" scaled="0"/>
          </a:gradFill>
          <a:ln w="19050">
            <a:solidFill>
              <a:srgbClr val="39B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210299" y="1371600"/>
            <a:ext cx="2705099" cy="38100"/>
          </a:xfrm>
          <a:prstGeom prst="roundRect">
            <a:avLst/>
          </a:prstGeom>
          <a:solidFill>
            <a:srgbClr val="39BBFE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305674" y="1552574"/>
            <a:ext cx="514349" cy="514350"/>
          </a:xfrm>
          <a:prstGeom prst="ellipse">
            <a:avLst/>
          </a:prstGeom>
          <a:noFill/>
          <a:ln w="12700">
            <a:solidFill>
              <a:srgbClr val="39B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343774" y="1590675"/>
            <a:ext cx="438149" cy="438149"/>
          </a:xfrm>
          <a:prstGeom prst="ellipse">
            <a:avLst/>
          </a:prstGeom>
          <a:solidFill>
            <a:srgbClr val="39BBFE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277099" y="1672589"/>
            <a:ext cx="571500" cy="2381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499" b="1">
                <a:solidFill>
                  <a:srgbClr val="20A2E5">
                    <a:alpha val="90000"/>
                  </a:srgbClr>
                </a:solidFill>
                <a:latin typeface="Roboto"/>
                <a:ea typeface="Microsoft YaHei"/>
              </a:rPr>
              <a:t>03</a:t>
            </a:r>
          </a:p>
        </p:txBody>
      </p:sp>
      <p:sp>
        <p:nvSpPr>
          <p:cNvPr id="35" name="Rectangle 34"/>
          <p:cNvSpPr/>
          <p:nvPr/>
        </p:nvSpPr>
        <p:spPr>
          <a:custGeom>
            <a:pathLst>
              <a:path w="2451099" h="285750">
                <a:moveTo>
                  <a:pt x="0" y="285750"/>
                </a:moveTo>
                <a:cubicBezTo>
                  <a:pt x="469899" y="158750"/>
                  <a:pt x="1006474" y="126999"/>
                  <a:pt x="1609724" y="190499"/>
                </a:cubicBezTo>
                <a:cubicBezTo>
                  <a:pt x="2212974" y="254000"/>
                  <a:pt x="2451099" y="190499"/>
                  <a:pt x="2324099" y="0"/>
                </a:cubicBezTo>
              </a:path>
            </a:pathLst>
          </a:custGeom>
          <a:xfrm>
            <a:off x="6400799" y="4038599"/>
            <a:ext cx="2451099" cy="285750"/>
          </a:xfrm>
          <a:noFill/>
          <a:ln w="25400">
            <a:solidFill>
              <a:srgbClr val="39B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696324" y="4010024"/>
            <a:ext cx="57149" cy="57150"/>
          </a:xfrm>
          <a:prstGeom prst="ellipse">
            <a:avLst/>
          </a:prstGeom>
          <a:solidFill>
            <a:srgbClr val="39BBFE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955506" y="2470784"/>
            <a:ext cx="3214687" cy="10715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2250" b="1">
                <a:latin typeface="Roboto"/>
                <a:ea typeface="Microsoft YaHei"/>
              </a:rPr>
              <a:t>0.861，融合拓扑</a:t>
            </a:r>
          </a:p>
          <a:p>
            <a:pPr algn="ctr"/>
            <a:r>
              <a:rPr sz="2250" b="1">
                <a:latin typeface="Roboto"/>
                <a:ea typeface="Microsoft YaHei"/>
              </a:rPr>
              <a:t>通道后显著改善低</a:t>
            </a:r>
          </a:p>
          <a:p>
            <a:pPr algn="ctr"/>
            <a:r>
              <a:rPr sz="2250" b="1">
                <a:latin typeface="Roboto"/>
                <a:ea typeface="Microsoft YaHei"/>
              </a:rPr>
              <a:t>洼片区漏报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34149" y="4166615"/>
            <a:ext cx="2057400" cy="2143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350" b="0">
                <a:solidFill>
                  <a:srgbClr val="475569">
                    <a:alpha val="90000"/>
                  </a:srgbClr>
                </a:solidFill>
                <a:latin typeface="Roboto"/>
                <a:ea typeface="Microsoft YaHei"/>
              </a:rPr>
              <a:t>单一 XGBoost AUC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143999" y="1371600"/>
            <a:ext cx="2705099" cy="3219449"/>
          </a:xfrm>
          <a:prstGeom prst="roundRect">
            <a:avLst/>
          </a:prstGeom>
          <a:effectLst>
            <a:blur rad="203200"/>
            <a:outerShdw dist="38100" dir="0" blurRad="203200" algn="bl" rotWithShape="0">
              <a:srgbClr val="000000">
                <a:alpha val="10000"/>
              </a:srgbClr>
            </a:outerShdw>
          </a:effectLst>
          <a:gradFill>
            <a:gsLst>
              <a:gs pos="0">
                <a:srgbClr val="FFFFFF"/>
              </a:gs>
              <a:gs pos="100000">
                <a:srgbClr val="FFFFFF">
                  <a:alpha val="85000"/>
                </a:srgbClr>
              </a:gs>
            </a:gsLst>
            <a:lin ang="0" scaled="0"/>
          </a:gradFill>
          <a:ln w="19050">
            <a:solidFill>
              <a:srgbClr val="007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9143999" y="1371600"/>
            <a:ext cx="2705099" cy="38100"/>
          </a:xfrm>
          <a:prstGeom prst="roundRect">
            <a:avLst/>
          </a:prstGeom>
          <a:solidFill>
            <a:srgbClr val="007FC2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0239374" y="1552574"/>
            <a:ext cx="514349" cy="514350"/>
          </a:xfrm>
          <a:prstGeom prst="ellipse">
            <a:avLst/>
          </a:prstGeom>
          <a:noFill/>
          <a:ln w="12700">
            <a:solidFill>
              <a:srgbClr val="007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0277474" y="1590675"/>
            <a:ext cx="438149" cy="438149"/>
          </a:xfrm>
          <a:prstGeom prst="ellipse">
            <a:avLst/>
          </a:prstGeom>
          <a:solidFill>
            <a:srgbClr val="007FC2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210799" y="1672589"/>
            <a:ext cx="571500" cy="2381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499" b="1">
                <a:solidFill>
                  <a:srgbClr val="20A2E5">
                    <a:alpha val="90000"/>
                  </a:srgbClr>
                </a:solidFill>
                <a:latin typeface="Roboto"/>
                <a:ea typeface="Microsoft YaHei"/>
              </a:rPr>
              <a:t>04</a:t>
            </a:r>
          </a:p>
        </p:txBody>
      </p:sp>
      <p:sp>
        <p:nvSpPr>
          <p:cNvPr id="44" name="Rectangle 43"/>
          <p:cNvSpPr/>
          <p:nvPr/>
        </p:nvSpPr>
        <p:spPr>
          <a:custGeom>
            <a:pathLst>
              <a:path w="2451099" h="285750">
                <a:moveTo>
                  <a:pt x="0" y="285750"/>
                </a:moveTo>
                <a:cubicBezTo>
                  <a:pt x="469899" y="158750"/>
                  <a:pt x="1006474" y="126999"/>
                  <a:pt x="1609724" y="190499"/>
                </a:cubicBezTo>
                <a:cubicBezTo>
                  <a:pt x="2212974" y="254000"/>
                  <a:pt x="2451099" y="190499"/>
                  <a:pt x="2324099" y="0"/>
                </a:cubicBezTo>
              </a:path>
            </a:pathLst>
          </a:custGeom>
          <a:xfrm>
            <a:off x="9334499" y="4038599"/>
            <a:ext cx="2451099" cy="285750"/>
          </a:xfrm>
          <a:noFill/>
          <a:ln w="25400">
            <a:solidFill>
              <a:srgbClr val="007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1630024" y="4010024"/>
            <a:ext cx="57149" cy="57150"/>
          </a:xfrm>
          <a:prstGeom prst="ellipse">
            <a:avLst/>
          </a:prstGeom>
          <a:solidFill>
            <a:srgbClr val="007FC2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933854" y="2470784"/>
            <a:ext cx="3125390" cy="10715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2250" b="1">
                <a:latin typeface="Roboto"/>
                <a:ea typeface="Microsoft YaHei"/>
              </a:rPr>
              <a:t>87.4%，误报率较</a:t>
            </a:r>
          </a:p>
          <a:p>
            <a:pPr algn="ctr"/>
            <a:r>
              <a:rPr sz="2250" b="1">
                <a:latin typeface="Roboto"/>
                <a:ea typeface="Microsoft YaHei"/>
              </a:rPr>
              <a:t>单一模型下降</a:t>
            </a:r>
          </a:p>
          <a:p>
            <a:pPr algn="ctr"/>
            <a:r>
              <a:rPr sz="2250" b="1">
                <a:latin typeface="Roboto"/>
                <a:ea typeface="Microsoft YaHei"/>
              </a:rPr>
              <a:t>23.5%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317830" y="4166615"/>
            <a:ext cx="2357437" cy="2143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350" b="0">
                <a:solidFill>
                  <a:srgbClr val="475569">
                    <a:alpha val="90000"/>
                  </a:srgbClr>
                </a:solidFill>
                <a:latin typeface="Roboto"/>
                <a:ea typeface="Microsoft YaHei"/>
              </a:rPr>
              <a:t>高风险网格识别召回率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00999" y="-2381250"/>
            <a:ext cx="7619999" cy="5334000"/>
          </a:xfrm>
          <a:prstGeom prst="ellipse">
            <a:avLst/>
          </a:prstGeom>
          <a:gradFill>
            <a:gsLst>
              <a:gs pos="0">
                <a:srgbClr val="007CBF">
                  <a:alpha val="15000"/>
                </a:srgbClr>
              </a:gs>
              <a:gs pos="100000">
                <a:srgbClr val="007CB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095499" y="4667249"/>
            <a:ext cx="5333999" cy="3809999"/>
          </a:xfrm>
          <a:prstGeom prst="ellipse">
            <a:avLst/>
          </a:prstGeom>
          <a:gradFill>
            <a:gsLst>
              <a:gs pos="0">
                <a:srgbClr val="28A4E7">
                  <a:alpha val="10000"/>
                </a:srgbClr>
              </a:gs>
              <a:gs pos="100000">
                <a:srgbClr val="28A4E7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 flipH="1">
            <a:off x="10286999" y="0"/>
            <a:ext cx="1905000" cy="1714500"/>
          </a:xfrm>
          <a:prstGeom prst="line">
            <a:avLst/>
          </a:prstGeom>
          <a:ln w="25400">
            <a:solidFill>
              <a:srgbClr val="007C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H="1">
            <a:off x="10858499" y="0"/>
            <a:ext cx="1333500" cy="1143000"/>
          </a:xfrm>
          <a:prstGeom prst="line">
            <a:avLst/>
          </a:prstGeom>
          <a:ln w="12700">
            <a:solidFill>
              <a:srgbClr val="007C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11849099" y="0"/>
            <a:ext cx="342899" cy="6858000"/>
          </a:xfrm>
          <a:prstGeom prst="rect">
            <a:avLst/>
          </a:prstGeom>
          <a:solidFill>
            <a:srgbClr val="007CBF">
              <a:alpha val="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14299" cy="6858000"/>
          </a:xfrm>
          <a:prstGeom prst="rect">
            <a:avLst/>
          </a:prstGeom>
          <a:gradFill>
            <a:gsLst>
              <a:gs pos="0">
                <a:srgbClr val="007CBF">
                  <a:alpha val="40000"/>
                </a:srgbClr>
              </a:gs>
              <a:gs pos="50000">
                <a:srgbClr val="007CBF">
                  <a:alpha val="90000"/>
                </a:srgbClr>
              </a:gs>
              <a:gs pos="100000">
                <a:srgbClr val="007CBF">
                  <a:alpha val="40000"/>
                </a:srgbClr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93548" y="6216777"/>
            <a:ext cx="1212651" cy="25003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575" b="0">
                <a:solidFill>
                  <a:srgbClr val="475569">
                    <a:alpha val="70000"/>
                  </a:srgbClr>
                </a:solidFill>
                <a:latin typeface="Roboto"/>
                <a:ea typeface="Microsoft YaHei"/>
              </a:rPr>
              <a:t>13 / 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899" y="48768"/>
            <a:ext cx="11391899" cy="7619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4800" b="1">
                <a:solidFill>
                  <a:srgbClr val="0F172A"/>
                </a:solidFill>
                <a:latin typeface="Roboto"/>
                <a:ea typeface="Microsoft YaHei"/>
              </a:rPr>
              <a:t>实验结果：与基线分项对比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899" y="723900"/>
            <a:ext cx="685799" cy="33337"/>
          </a:xfrm>
          <a:prstGeom prst="roundRect">
            <a:avLst/>
          </a:prstGeom>
          <a:solidFill>
            <a:srgbClr val="007CBF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42899" y="1371600"/>
            <a:ext cx="11506199" cy="4095749"/>
          </a:xfrm>
          <a:prstGeom prst="roundRect">
            <a:avLst/>
          </a:prstGeom>
          <a:effectLst>
            <a:blur rad="203200"/>
            <a:outerShdw dist="38100" dir="0" blurRad="203200" algn="bl" rotWithShape="0">
              <a:srgbClr val="000000">
                <a:alpha val="10000"/>
              </a:srgbClr>
            </a:outerShdw>
          </a:effectLst>
          <a:gradFill>
            <a:gsLst>
              <a:gs pos="0">
                <a:srgbClr val="FFFFFF"/>
              </a:gs>
              <a:gs pos="100000">
                <a:srgbClr val="FFFFFF">
                  <a:alpha val="85000"/>
                </a:srgbClr>
              </a:gs>
            </a:gsLst>
            <a:lin ang="0" scaled="0"/>
          </a:gradFill>
          <a:ln w="19050">
            <a:solidFill>
              <a:srgbClr val="007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42899" y="1371600"/>
            <a:ext cx="38099" cy="4095749"/>
          </a:xfrm>
          <a:prstGeom prst="roundRect">
            <a:avLst/>
          </a:prstGeom>
          <a:solidFill>
            <a:srgbClr val="007CBF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custGeom>
            <a:pathLst>
              <a:path w="76199" h="76200">
                <a:moveTo>
                  <a:pt x="0" y="38100"/>
                </a:moveTo>
                <a:lnTo>
                  <a:pt x="38099" y="0"/>
                </a:lnTo>
                <a:lnTo>
                  <a:pt x="76199" y="38100"/>
                </a:lnTo>
                <a:lnTo>
                  <a:pt x="38099" y="76200"/>
                </a:lnTo>
                <a:close/>
              </a:path>
            </a:pathLst>
          </a:custGeom>
          <a:xfrm>
            <a:off x="857249" y="1695449"/>
            <a:ext cx="76199" cy="76200"/>
          </a:xfrm>
          <a:solidFill>
            <a:srgbClr val="007CBF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8699" y="1608582"/>
            <a:ext cx="7415212" cy="4286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700" b="0">
                <a:solidFill>
                  <a:srgbClr val="475569"/>
                </a:solidFill>
                <a:latin typeface="Roboto"/>
                <a:ea typeface="Microsoft YaHei"/>
              </a:rPr>
              <a:t>模型|AUC|高风险召回|单次推理耗时</a:t>
            </a:r>
          </a:p>
        </p:txBody>
      </p:sp>
      <p:sp>
        <p:nvSpPr>
          <p:cNvPr id="16" name="Rectangle 15"/>
          <p:cNvSpPr/>
          <p:nvPr/>
        </p:nvSpPr>
        <p:spPr>
          <a:custGeom>
            <a:pathLst>
              <a:path w="76199" h="76200">
                <a:moveTo>
                  <a:pt x="0" y="38100"/>
                </a:moveTo>
                <a:lnTo>
                  <a:pt x="38099" y="0"/>
                </a:lnTo>
                <a:lnTo>
                  <a:pt x="76199" y="38100"/>
                </a:lnTo>
                <a:lnTo>
                  <a:pt x="38099" y="76200"/>
                </a:lnTo>
                <a:close/>
              </a:path>
            </a:pathLst>
          </a:custGeom>
          <a:xfrm>
            <a:off x="857249" y="2381250"/>
            <a:ext cx="76199" cy="76200"/>
          </a:xfrm>
          <a:solidFill>
            <a:srgbClr val="007CBF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28699" y="2294381"/>
            <a:ext cx="6193631" cy="4286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700" b="0">
                <a:solidFill>
                  <a:srgbClr val="475569"/>
                </a:solidFill>
                <a:latin typeface="Roboto"/>
                <a:ea typeface="Microsoft YaHei"/>
              </a:rPr>
              <a:t>SCS-CN|0.782|68.3%|分钟级</a:t>
            </a:r>
          </a:p>
        </p:txBody>
      </p:sp>
      <p:sp>
        <p:nvSpPr>
          <p:cNvPr id="18" name="Rectangle 17"/>
          <p:cNvSpPr/>
          <p:nvPr/>
        </p:nvSpPr>
        <p:spPr>
          <a:custGeom>
            <a:pathLst>
              <a:path w="76199" h="76200">
                <a:moveTo>
                  <a:pt x="0" y="38100"/>
                </a:moveTo>
                <a:lnTo>
                  <a:pt x="38099" y="0"/>
                </a:lnTo>
                <a:lnTo>
                  <a:pt x="76199" y="38100"/>
                </a:lnTo>
                <a:lnTo>
                  <a:pt x="38099" y="76200"/>
                </a:lnTo>
                <a:close/>
              </a:path>
            </a:pathLst>
          </a:custGeom>
          <a:xfrm>
            <a:off x="857249" y="3067050"/>
            <a:ext cx="76199" cy="76200"/>
          </a:xfrm>
          <a:solidFill>
            <a:srgbClr val="007CBF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28699" y="2980181"/>
            <a:ext cx="6493668" cy="4286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700" b="0">
                <a:solidFill>
                  <a:srgbClr val="475569"/>
                </a:solidFill>
                <a:latin typeface="Roboto"/>
                <a:ea typeface="Microsoft YaHei"/>
              </a:rPr>
              <a:t>熵权指数法|0.741|61.5%|秒级</a:t>
            </a:r>
          </a:p>
        </p:txBody>
      </p:sp>
      <p:sp>
        <p:nvSpPr>
          <p:cNvPr id="20" name="Rectangle 19"/>
          <p:cNvSpPr/>
          <p:nvPr/>
        </p:nvSpPr>
        <p:spPr>
          <a:custGeom>
            <a:pathLst>
              <a:path w="76199" h="76200">
                <a:moveTo>
                  <a:pt x="0" y="38100"/>
                </a:moveTo>
                <a:lnTo>
                  <a:pt x="38099" y="0"/>
                </a:lnTo>
                <a:lnTo>
                  <a:pt x="76199" y="38100"/>
                </a:lnTo>
                <a:lnTo>
                  <a:pt x="38099" y="76200"/>
                </a:lnTo>
                <a:close/>
              </a:path>
            </a:pathLst>
          </a:custGeom>
          <a:xfrm>
            <a:off x="857249" y="3752849"/>
            <a:ext cx="76199" cy="76200"/>
          </a:xfrm>
          <a:solidFill>
            <a:srgbClr val="007CBF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8699" y="3665981"/>
            <a:ext cx="6043612" cy="4286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700" b="0">
                <a:solidFill>
                  <a:srgbClr val="475569"/>
                </a:solidFill>
                <a:latin typeface="Roboto"/>
                <a:ea typeface="Microsoft YaHei"/>
              </a:rPr>
              <a:t>XGBoost|0.861|79.1%|9 秒</a:t>
            </a:r>
          </a:p>
        </p:txBody>
      </p:sp>
      <p:sp>
        <p:nvSpPr>
          <p:cNvPr id="22" name="Rectangle 21"/>
          <p:cNvSpPr/>
          <p:nvPr/>
        </p:nvSpPr>
        <p:spPr>
          <a:custGeom>
            <a:pathLst>
              <a:path w="76199" h="76200">
                <a:moveTo>
                  <a:pt x="0" y="38100"/>
                </a:moveTo>
                <a:lnTo>
                  <a:pt x="38099" y="0"/>
                </a:lnTo>
                <a:lnTo>
                  <a:pt x="76199" y="38100"/>
                </a:lnTo>
                <a:lnTo>
                  <a:pt x="38099" y="76200"/>
                </a:lnTo>
                <a:close/>
              </a:path>
            </a:pathLst>
          </a:custGeom>
          <a:xfrm>
            <a:off x="857249" y="4438649"/>
            <a:ext cx="76199" cy="76200"/>
          </a:xfrm>
          <a:solidFill>
            <a:srgbClr val="007CBF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8699" y="4351782"/>
            <a:ext cx="7200900" cy="4286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700" b="0">
                <a:solidFill>
                  <a:srgbClr val="475569"/>
                </a:solidFill>
                <a:latin typeface="Roboto"/>
                <a:ea typeface="Microsoft YaHei"/>
              </a:rPr>
              <a:t>本文融合模型|0.913|87.4%|11 秒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57249" y="1523999"/>
            <a:ext cx="5048249" cy="4667249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86499" y="1523999"/>
            <a:ext cx="5048249" cy="4667249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000999" y="-2381250"/>
            <a:ext cx="7619999" cy="5334000"/>
          </a:xfrm>
          <a:prstGeom prst="ellipse">
            <a:avLst/>
          </a:prstGeom>
          <a:gradFill>
            <a:gsLst>
              <a:gs pos="0">
                <a:srgbClr val="0284C7">
                  <a:alpha val="15000"/>
                </a:srgbClr>
              </a:gs>
              <a:gs pos="100000">
                <a:srgbClr val="0284C7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2095499" y="4667249"/>
            <a:ext cx="5333999" cy="3809999"/>
          </a:xfrm>
          <a:prstGeom prst="ellipse">
            <a:avLst/>
          </a:prstGeom>
          <a:gradFill>
            <a:gsLst>
              <a:gs pos="0">
                <a:srgbClr val="2AACEF">
                  <a:alpha val="10000"/>
                </a:srgbClr>
              </a:gs>
              <a:gs pos="100000">
                <a:srgbClr val="2AACE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H="1">
            <a:off x="10286999" y="0"/>
            <a:ext cx="1905000" cy="1714500"/>
          </a:xfrm>
          <a:prstGeom prst="line">
            <a:avLst/>
          </a:prstGeom>
          <a:ln w="25400">
            <a:solidFill>
              <a:srgbClr val="0284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>
            <a:off x="10858499" y="0"/>
            <a:ext cx="1333500" cy="1143000"/>
          </a:xfrm>
          <a:prstGeom prst="line">
            <a:avLst/>
          </a:prstGeom>
          <a:ln w="12700">
            <a:solidFill>
              <a:srgbClr val="0284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0" y="0"/>
            <a:ext cx="114299" cy="6858000"/>
          </a:xfrm>
          <a:prstGeom prst="rect">
            <a:avLst/>
          </a:prstGeom>
          <a:gradFill>
            <a:gsLst>
              <a:gs pos="0">
                <a:srgbClr val="0284C7">
                  <a:alpha val="40000"/>
                </a:srgbClr>
              </a:gs>
              <a:gs pos="50000">
                <a:srgbClr val="0284C7">
                  <a:alpha val="90000"/>
                </a:srgbClr>
              </a:gs>
              <a:gs pos="100000">
                <a:srgbClr val="0284C7">
                  <a:alpha val="40000"/>
                </a:srgbClr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93548" y="6216777"/>
            <a:ext cx="1212651" cy="25003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575" b="0">
                <a:solidFill>
                  <a:srgbClr val="475569">
                    <a:alpha val="70000"/>
                  </a:srgbClr>
                </a:solidFill>
                <a:latin typeface="Roboto"/>
                <a:ea typeface="Microsoft YaHei"/>
              </a:rPr>
              <a:t>14 / 16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899" y="111251"/>
            <a:ext cx="11391899" cy="54768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450" b="1">
                <a:solidFill>
                  <a:srgbClr val="0F172A"/>
                </a:solidFill>
                <a:latin typeface="Roboto"/>
                <a:ea typeface="Microsoft YaHei"/>
              </a:rPr>
              <a:t>典型案例：2025-08-04 特大暴雨复盘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2899" y="628650"/>
            <a:ext cx="952499" cy="3810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57249" y="1523999"/>
            <a:ext cx="5048249" cy="4667249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F5F5F5"/>
              </a:gs>
            </a:gsLst>
            <a:lin ang="27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57249" y="1523999"/>
            <a:ext cx="5048249" cy="57150"/>
          </a:xfrm>
          <a:prstGeom prst="rect">
            <a:avLst/>
          </a:prstGeom>
          <a:solidFill>
            <a:srgbClr val="0284C7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57249" y="1523999"/>
            <a:ext cx="5048249" cy="4667249"/>
          </a:xfrm>
          <a:prstGeom prst="roundRect">
            <a:avLst/>
          </a:prstGeom>
          <a:effectLst>
            <a:blur rad="152400"/>
            <a:outerShdw dist="28575" dir="0" blurRad="152400" algn="bl" rotWithShape="0">
              <a:srgbClr val="000000">
                <a:alpha val="16000"/>
              </a:srgbClr>
            </a:outerShdw>
          </a:effectLst>
          <a:noFill/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085849" y="1752599"/>
            <a:ext cx="666749" cy="190499"/>
          </a:xfrm>
          <a:prstGeom prst="roundRect">
            <a:avLst/>
          </a:prstGeom>
          <a:solidFill>
            <a:srgbClr val="0284C7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33474" y="1754505"/>
            <a:ext cx="571500" cy="1785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25" b="1">
                <a:solidFill>
                  <a:srgbClr val="0284C7"/>
                </a:solidFill>
                <a:latin typeface="Roboto"/>
                <a:ea typeface="Microsoft YaHei"/>
              </a:rPr>
              <a:t>CASE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5849" y="2098167"/>
            <a:ext cx="3990975" cy="1904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00" b="0">
                <a:solidFill>
                  <a:srgbClr val="0F172A"/>
                </a:solidFill>
                <a:latin typeface="Roboto"/>
                <a:ea typeface="Microsoft YaHei"/>
              </a:rPr>
              <a:t>过程雨量 128 毫米，最大小时雨强 68 毫米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5849" y="2393441"/>
            <a:ext cx="2409824" cy="1904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00" b="0">
                <a:solidFill>
                  <a:srgbClr val="0F172A"/>
                </a:solidFill>
                <a:latin typeface="Roboto"/>
                <a:ea typeface="Microsoft YaHei"/>
              </a:rPr>
              <a:t>模型提前 2 小时发布预警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5849" y="2638806"/>
            <a:ext cx="1578768" cy="15478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75" b="0">
                <a:solidFill>
                  <a:srgbClr val="475569">
                    <a:alpha val="80000"/>
                  </a:srgbClr>
                </a:solidFill>
                <a:latin typeface="Roboto"/>
                <a:ea typeface="Microsoft YaHei"/>
              </a:rPr>
              <a:t>极高风险网格 41 个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095999" y="1714500"/>
            <a:ext cx="0" cy="4286250"/>
          </a:xfrm>
          <a:prstGeom prst="line">
            <a:avLst/>
          </a:prstGeom>
          <a:ln w="19050">
            <a:solidFill>
              <a:srgbClr val="0284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6000749" y="3762374"/>
            <a:ext cx="190499" cy="190499"/>
          </a:xfrm>
          <a:prstGeom prst="ellipse">
            <a:avLst/>
          </a:prstGeom>
          <a:solidFill>
            <a:srgbClr val="0284C7">
              <a:alpha val="8000"/>
            </a:srgbClr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038849" y="3800475"/>
            <a:ext cx="114299" cy="114300"/>
          </a:xfrm>
          <a:prstGeom prst="ellipse">
            <a:avLst/>
          </a:prstGeom>
          <a:solidFill>
            <a:srgbClr val="0284C7">
              <a:alpha val="1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067424" y="3829050"/>
            <a:ext cx="57149" cy="57150"/>
          </a:xfrm>
          <a:prstGeom prst="ellipse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86499" y="1523999"/>
            <a:ext cx="5048249" cy="4667249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F5F5F5"/>
              </a:gs>
            </a:gsLst>
            <a:lin ang="27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86499" y="1523999"/>
            <a:ext cx="5048249" cy="57150"/>
          </a:xfrm>
          <a:prstGeom prst="rect">
            <a:avLst/>
          </a:prstGeom>
          <a:solidFill>
            <a:srgbClr val="2AACEF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286499" y="1523999"/>
            <a:ext cx="5048249" cy="4667249"/>
          </a:xfrm>
          <a:prstGeom prst="roundRect">
            <a:avLst/>
          </a:prstGeom>
          <a:effectLst>
            <a:blur rad="152400"/>
            <a:outerShdw dist="28575" dir="0" blurRad="152400" algn="bl" rotWithShape="0">
              <a:srgbClr val="000000">
                <a:alpha val="16000"/>
              </a:srgbClr>
            </a:outerShdw>
          </a:effectLst>
          <a:noFill/>
          <a:ln w="19050">
            <a:solidFill>
              <a:srgbClr val="2AA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515099" y="1752599"/>
            <a:ext cx="952499" cy="190499"/>
          </a:xfrm>
          <a:prstGeom prst="roundRect">
            <a:avLst/>
          </a:prstGeom>
          <a:solidFill>
            <a:srgbClr val="0284C7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09146" y="1754505"/>
            <a:ext cx="964406" cy="1785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25" b="1">
                <a:solidFill>
                  <a:srgbClr val="0284C7"/>
                </a:solidFill>
                <a:latin typeface="Roboto"/>
                <a:ea typeface="Microsoft YaHei"/>
              </a:rPr>
              <a:t>ANALYSIS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15099" y="2098167"/>
            <a:ext cx="4476750" cy="1904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00" b="0">
                <a:solidFill>
                  <a:srgbClr val="0F172A"/>
                </a:solidFill>
                <a:latin typeface="Roboto"/>
                <a:ea typeface="Microsoft YaHei"/>
              </a:rPr>
              <a:t>实际 35 处积水点落于预警网格内，命中率 85.4%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15099" y="2393441"/>
            <a:ext cx="5600700" cy="1904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00" b="0">
                <a:solidFill>
                  <a:srgbClr val="0F172A"/>
                </a:solidFill>
                <a:latin typeface="Roboto"/>
                <a:ea typeface="Microsoft YaHei"/>
              </a:rPr>
              <a:t>防汛部门据此预置排涝泵车 12 台，重点路段封控提前 40 分钟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00999" y="-2381250"/>
            <a:ext cx="7619999" cy="5334000"/>
          </a:xfrm>
          <a:prstGeom prst="ellipse">
            <a:avLst/>
          </a:prstGeom>
          <a:gradFill>
            <a:gsLst>
              <a:gs pos="0">
                <a:srgbClr val="0284C7">
                  <a:alpha val="15000"/>
                </a:srgbClr>
              </a:gs>
              <a:gs pos="100000">
                <a:srgbClr val="0284C7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095499" y="4667249"/>
            <a:ext cx="5333999" cy="3809999"/>
          </a:xfrm>
          <a:prstGeom prst="ellipse">
            <a:avLst/>
          </a:prstGeom>
          <a:gradFill>
            <a:gsLst>
              <a:gs pos="0">
                <a:srgbClr val="2AACEF">
                  <a:alpha val="10000"/>
                </a:srgbClr>
              </a:gs>
              <a:gs pos="100000">
                <a:srgbClr val="2AACE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 flipH="1">
            <a:off x="10286999" y="0"/>
            <a:ext cx="1905000" cy="1714500"/>
          </a:xfrm>
          <a:prstGeom prst="line">
            <a:avLst/>
          </a:prstGeom>
          <a:ln w="25400">
            <a:solidFill>
              <a:srgbClr val="0284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H="1">
            <a:off x="10858499" y="0"/>
            <a:ext cx="1333500" cy="1143000"/>
          </a:xfrm>
          <a:prstGeom prst="line">
            <a:avLst/>
          </a:prstGeom>
          <a:ln w="12700">
            <a:solidFill>
              <a:srgbClr val="0284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11734799" y="0"/>
            <a:ext cx="457199" cy="6858000"/>
          </a:xfrm>
          <a:prstGeom prst="rect">
            <a:avLst/>
          </a:prstGeom>
          <a:solidFill>
            <a:srgbClr val="0284C7">
              <a:alpha val="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14299" cy="6858000"/>
          </a:xfrm>
          <a:prstGeom prst="rect">
            <a:avLst/>
          </a:prstGeom>
          <a:gradFill>
            <a:gsLst>
              <a:gs pos="0">
                <a:srgbClr val="0284C7">
                  <a:alpha val="40000"/>
                </a:srgbClr>
              </a:gs>
              <a:gs pos="50000">
                <a:srgbClr val="0284C7">
                  <a:alpha val="90000"/>
                </a:srgbClr>
              </a:gs>
              <a:gs pos="100000">
                <a:srgbClr val="0284C7">
                  <a:alpha val="40000"/>
                </a:srgbClr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93548" y="6216777"/>
            <a:ext cx="1212651" cy="25003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575" b="0">
                <a:solidFill>
                  <a:srgbClr val="475569">
                    <a:alpha val="70000"/>
                  </a:srgbClr>
                </a:solidFill>
                <a:latin typeface="Roboto"/>
                <a:ea typeface="Microsoft YaHei"/>
              </a:rPr>
              <a:t>15 / 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899" y="48768"/>
            <a:ext cx="11391899" cy="7619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4800" b="1">
                <a:solidFill>
                  <a:srgbClr val="0F172A"/>
                </a:solidFill>
                <a:latin typeface="Roboto"/>
                <a:ea typeface="Microsoft YaHei"/>
              </a:rPr>
              <a:t>结论与展望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899" y="723900"/>
            <a:ext cx="685799" cy="33337"/>
          </a:xfrm>
          <a:prstGeom prst="roundRect">
            <a:avLst/>
          </a:prstGeom>
          <a:solidFill>
            <a:srgbClr val="0284C7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42899" y="990599"/>
            <a:ext cx="11506199" cy="1219200"/>
          </a:xfrm>
          <a:prstGeom prst="roundRect">
            <a:avLst/>
          </a:prstGeom>
          <a:effectLst>
            <a:blur rad="203200"/>
            <a:outerShdw dist="38100" dir="0" blurRad="203200" algn="bl" rotWithShape="0">
              <a:srgbClr val="000000">
                <a:alpha val="10000"/>
              </a:srgbClr>
            </a:outerShdw>
          </a:effectLst>
          <a:gradFill>
            <a:gsLst>
              <a:gs pos="0">
                <a:srgbClr val="FFFFFF"/>
              </a:gs>
              <a:gs pos="100000">
                <a:srgbClr val="FFFFFF">
                  <a:alpha val="80000"/>
                </a:srgbClr>
              </a:gs>
            </a:gsLst>
            <a:lin ang="5400000" scaled="0"/>
          </a:gra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42899" y="990599"/>
            <a:ext cx="38099" cy="1219200"/>
          </a:xfrm>
          <a:prstGeom prst="roundRect">
            <a:avLst/>
          </a:prstGeom>
          <a:solidFill>
            <a:srgbClr val="0284C7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38149" y="1390650"/>
            <a:ext cx="419099" cy="419100"/>
          </a:xfrm>
          <a:prstGeom prst="ellipse">
            <a:avLst/>
          </a:prstGeom>
          <a:noFill/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04824" y="1457325"/>
            <a:ext cx="285749" cy="285750"/>
          </a:xfrm>
          <a:prstGeom prst="ellipse">
            <a:avLst/>
          </a:prstGeom>
          <a:solidFill>
            <a:srgbClr val="0284C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1949" y="1463802"/>
            <a:ext cx="571500" cy="25003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575" b="1">
                <a:solidFill>
                  <a:srgbClr val="20A2E5"/>
                </a:solidFill>
                <a:latin typeface="Roboto"/>
                <a:ea typeface="Microsoft YaHei"/>
              </a:rPr>
              <a:t>01</a:t>
            </a:r>
          </a:p>
        </p:txBody>
      </p:sp>
      <p:sp>
        <p:nvSpPr>
          <p:cNvPr id="17" name="Oval 16"/>
          <p:cNvSpPr/>
          <p:nvPr/>
        </p:nvSpPr>
        <p:spPr>
          <a:xfrm>
            <a:off x="1009649" y="1333500"/>
            <a:ext cx="76199" cy="76200"/>
          </a:xfrm>
          <a:prstGeom prst="ellipse">
            <a:avLst/>
          </a:prstGeom>
          <a:solidFill>
            <a:srgbClr val="0284C7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81099" y="1113282"/>
            <a:ext cx="12280106" cy="8572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700" b="0">
                <a:solidFill>
                  <a:srgbClr val="0F172A"/>
                </a:solidFill>
                <a:latin typeface="Roboto"/>
                <a:ea typeface="Microsoft YaHei"/>
              </a:rPr>
              <a:t>多源融合与拓扑建模显著提升街区尺度内涝风险评估精度（AUC</a:t>
            </a:r>
          </a:p>
          <a:p>
            <a:r>
              <a:rPr sz="2700" b="0">
                <a:solidFill>
                  <a:srgbClr val="0F172A"/>
                </a:solidFill>
                <a:latin typeface="Roboto"/>
                <a:ea typeface="Microsoft YaHei"/>
              </a:rPr>
              <a:t>0.913）</a:t>
            </a:r>
          </a:p>
        </p:txBody>
      </p:sp>
      <p:sp>
        <p:nvSpPr>
          <p:cNvPr id="19" name="Rectangle 18"/>
          <p:cNvSpPr/>
          <p:nvPr/>
        </p:nvSpPr>
        <p:spPr>
          <a:custGeom>
            <a:pathLst>
              <a:path w="57149" h="114300">
                <a:moveTo>
                  <a:pt x="0" y="0"/>
                </a:moveTo>
                <a:lnTo>
                  <a:pt x="57149" y="57150"/>
                </a:lnTo>
                <a:lnTo>
                  <a:pt x="0" y="114300"/>
                </a:lnTo>
              </a:path>
            </a:pathLst>
          </a:custGeom>
          <a:xfrm>
            <a:off x="11620499" y="1543050"/>
            <a:ext cx="57149" cy="114300"/>
          </a:xfrm>
          <a:noFill/>
          <a:ln w="254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42899" y="2324100"/>
            <a:ext cx="11506199" cy="723900"/>
          </a:xfrm>
          <a:prstGeom prst="roundRect">
            <a:avLst/>
          </a:prstGeom>
          <a:effectLst>
            <a:blur rad="203200"/>
            <a:outerShdw dist="38100" dir="0" blurRad="203200" algn="bl" rotWithShape="0">
              <a:srgbClr val="000000">
                <a:alpha val="10000"/>
              </a:srgbClr>
            </a:outerShdw>
          </a:effectLst>
          <a:gradFill>
            <a:gsLst>
              <a:gs pos="0">
                <a:srgbClr val="FFFFFF"/>
              </a:gs>
              <a:gs pos="100000">
                <a:srgbClr val="FFFFFF">
                  <a:alpha val="80000"/>
                </a:srgbClr>
              </a:gs>
            </a:gsLst>
            <a:lin ang="5400000" scaled="0"/>
          </a:gradFill>
          <a:ln w="19050">
            <a:solidFill>
              <a:srgbClr val="0066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42899" y="2324100"/>
            <a:ext cx="38099" cy="723900"/>
          </a:xfrm>
          <a:prstGeom prst="roundRect">
            <a:avLst/>
          </a:prstGeom>
          <a:solidFill>
            <a:srgbClr val="0066A9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38149" y="2476499"/>
            <a:ext cx="419099" cy="419100"/>
          </a:xfrm>
          <a:prstGeom prst="ellipse">
            <a:avLst/>
          </a:prstGeom>
          <a:noFill/>
          <a:ln w="19050">
            <a:solidFill>
              <a:srgbClr val="0066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04824" y="2543175"/>
            <a:ext cx="285749" cy="285750"/>
          </a:xfrm>
          <a:prstGeom prst="ellipse">
            <a:avLst/>
          </a:prstGeom>
          <a:solidFill>
            <a:srgbClr val="0066A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1949" y="2549652"/>
            <a:ext cx="571500" cy="25003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575" b="1">
                <a:solidFill>
                  <a:srgbClr val="0066A9"/>
                </a:solidFill>
                <a:latin typeface="Roboto"/>
                <a:ea typeface="Microsoft YaHei"/>
              </a:rPr>
              <a:t>02</a:t>
            </a:r>
          </a:p>
        </p:txBody>
      </p:sp>
      <p:sp>
        <p:nvSpPr>
          <p:cNvPr id="25" name="Oval 24"/>
          <p:cNvSpPr/>
          <p:nvPr/>
        </p:nvSpPr>
        <p:spPr>
          <a:xfrm>
            <a:off x="1009649" y="2667000"/>
            <a:ext cx="76199" cy="76200"/>
          </a:xfrm>
          <a:prstGeom prst="ellipse">
            <a:avLst/>
          </a:prstGeom>
          <a:solidFill>
            <a:srgbClr val="0066A9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81099" y="2446781"/>
            <a:ext cx="10565606" cy="4286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700" b="0">
                <a:solidFill>
                  <a:srgbClr val="0F172A"/>
                </a:solidFill>
                <a:latin typeface="Roboto"/>
                <a:ea typeface="Microsoft YaHei"/>
              </a:rPr>
              <a:t>方法已接入 Z 市防汛调度平台，试运行一个完整汛期</a:t>
            </a:r>
          </a:p>
        </p:txBody>
      </p:sp>
      <p:sp>
        <p:nvSpPr>
          <p:cNvPr id="27" name="Rectangle 26"/>
          <p:cNvSpPr/>
          <p:nvPr/>
        </p:nvSpPr>
        <p:spPr>
          <a:custGeom>
            <a:pathLst>
              <a:path w="57149" h="114300">
                <a:moveTo>
                  <a:pt x="0" y="0"/>
                </a:moveTo>
                <a:lnTo>
                  <a:pt x="57149" y="57150"/>
                </a:lnTo>
                <a:lnTo>
                  <a:pt x="0" y="114300"/>
                </a:lnTo>
              </a:path>
            </a:pathLst>
          </a:custGeom>
          <a:xfrm>
            <a:off x="11620499" y="2628900"/>
            <a:ext cx="57149" cy="114300"/>
          </a:xfrm>
          <a:noFill/>
          <a:ln w="25400">
            <a:solidFill>
              <a:srgbClr val="0066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342899" y="3162299"/>
            <a:ext cx="11506199" cy="723900"/>
          </a:xfrm>
          <a:prstGeom prst="roundRect">
            <a:avLst/>
          </a:prstGeom>
          <a:effectLst>
            <a:blur rad="203200"/>
            <a:outerShdw dist="38100" dir="0" blurRad="203200" algn="bl" rotWithShape="0">
              <a:srgbClr val="000000">
                <a:alpha val="10000"/>
              </a:srgbClr>
            </a:outerShdw>
          </a:effectLst>
          <a:gradFill>
            <a:gsLst>
              <a:gs pos="0">
                <a:srgbClr val="FFFFFF"/>
              </a:gs>
              <a:gs pos="100000">
                <a:srgbClr val="FFFFFF">
                  <a:alpha val="80000"/>
                </a:srgbClr>
              </a:gs>
            </a:gsLst>
            <a:lin ang="5400000" scaled="0"/>
          </a:gradFill>
          <a:ln w="19050">
            <a:solidFill>
              <a:srgbClr val="2AA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342899" y="3162299"/>
            <a:ext cx="38099" cy="723900"/>
          </a:xfrm>
          <a:prstGeom prst="roundRect">
            <a:avLst/>
          </a:prstGeom>
          <a:solidFill>
            <a:srgbClr val="2AACEF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38149" y="3314700"/>
            <a:ext cx="419099" cy="419100"/>
          </a:xfrm>
          <a:prstGeom prst="ellipse">
            <a:avLst/>
          </a:prstGeom>
          <a:noFill/>
          <a:ln w="19050">
            <a:solidFill>
              <a:srgbClr val="2AA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04824" y="3381375"/>
            <a:ext cx="285749" cy="285750"/>
          </a:xfrm>
          <a:prstGeom prst="ellipse">
            <a:avLst/>
          </a:prstGeom>
          <a:solidFill>
            <a:srgbClr val="2AACE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1949" y="3387852"/>
            <a:ext cx="571500" cy="25003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575" b="1">
                <a:solidFill>
                  <a:srgbClr val="20A2E5"/>
                </a:solidFill>
                <a:latin typeface="Roboto"/>
                <a:ea typeface="Microsoft YaHei"/>
              </a:rPr>
              <a:t>03</a:t>
            </a:r>
          </a:p>
        </p:txBody>
      </p:sp>
      <p:sp>
        <p:nvSpPr>
          <p:cNvPr id="33" name="Oval 32"/>
          <p:cNvSpPr/>
          <p:nvPr/>
        </p:nvSpPr>
        <p:spPr>
          <a:xfrm>
            <a:off x="1009649" y="3505199"/>
            <a:ext cx="76199" cy="76200"/>
          </a:xfrm>
          <a:prstGeom prst="ellipse">
            <a:avLst/>
          </a:prstGeom>
          <a:solidFill>
            <a:srgbClr val="2AACEF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81099" y="3284982"/>
            <a:ext cx="10715625" cy="4286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700" b="0">
                <a:solidFill>
                  <a:srgbClr val="0F172A"/>
                </a:solidFill>
                <a:latin typeface="Roboto"/>
                <a:ea typeface="Microsoft YaHei"/>
              </a:rPr>
              <a:t>局限：跨城市泛化能力待验证，极端罕见事件样本不足</a:t>
            </a:r>
          </a:p>
        </p:txBody>
      </p:sp>
      <p:sp>
        <p:nvSpPr>
          <p:cNvPr id="35" name="Rectangle 34"/>
          <p:cNvSpPr/>
          <p:nvPr/>
        </p:nvSpPr>
        <p:spPr>
          <a:custGeom>
            <a:pathLst>
              <a:path w="57149" h="114300">
                <a:moveTo>
                  <a:pt x="0" y="0"/>
                </a:moveTo>
                <a:lnTo>
                  <a:pt x="57149" y="57150"/>
                </a:lnTo>
                <a:lnTo>
                  <a:pt x="0" y="114300"/>
                </a:lnTo>
              </a:path>
            </a:pathLst>
          </a:custGeom>
          <a:xfrm>
            <a:off x="11620499" y="3467100"/>
            <a:ext cx="57149" cy="114300"/>
          </a:xfrm>
          <a:noFill/>
          <a:ln w="25400">
            <a:solidFill>
              <a:srgbClr val="2AA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342899" y="4000500"/>
            <a:ext cx="11506199" cy="723900"/>
          </a:xfrm>
          <a:prstGeom prst="roundRect">
            <a:avLst/>
          </a:prstGeom>
          <a:effectLst>
            <a:blur rad="203200"/>
            <a:outerShdw dist="38100" dir="0" blurRad="203200" algn="bl" rotWithShape="0">
              <a:srgbClr val="000000">
                <a:alpha val="10000"/>
              </a:srgbClr>
            </a:outerShdw>
          </a:effectLst>
          <a:gradFill>
            <a:gsLst>
              <a:gs pos="0">
                <a:srgbClr val="FFFFFF"/>
              </a:gs>
              <a:gs pos="100000">
                <a:srgbClr val="FFFFFF">
                  <a:alpha val="80000"/>
                </a:srgbClr>
              </a:gs>
            </a:gsLst>
            <a:lin ang="5400000" scaled="0"/>
          </a:gra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342899" y="4000500"/>
            <a:ext cx="38099" cy="723900"/>
          </a:xfrm>
          <a:prstGeom prst="roundRect">
            <a:avLst/>
          </a:prstGeom>
          <a:solidFill>
            <a:srgbClr val="0284C7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438149" y="4152899"/>
            <a:ext cx="419099" cy="419100"/>
          </a:xfrm>
          <a:prstGeom prst="ellipse">
            <a:avLst/>
          </a:prstGeom>
          <a:noFill/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04824" y="4219575"/>
            <a:ext cx="285749" cy="285750"/>
          </a:xfrm>
          <a:prstGeom prst="ellipse">
            <a:avLst/>
          </a:prstGeom>
          <a:solidFill>
            <a:srgbClr val="0284C7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1949" y="4226051"/>
            <a:ext cx="571500" cy="25003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575" b="1">
                <a:solidFill>
                  <a:srgbClr val="20A2E5"/>
                </a:solidFill>
                <a:latin typeface="Roboto"/>
                <a:ea typeface="Microsoft YaHei"/>
              </a:rPr>
              <a:t>04</a:t>
            </a:r>
          </a:p>
        </p:txBody>
      </p:sp>
      <p:sp>
        <p:nvSpPr>
          <p:cNvPr id="41" name="Oval 40"/>
          <p:cNvSpPr/>
          <p:nvPr/>
        </p:nvSpPr>
        <p:spPr>
          <a:xfrm>
            <a:off x="1009649" y="4343400"/>
            <a:ext cx="76199" cy="76200"/>
          </a:xfrm>
          <a:prstGeom prst="ellipse">
            <a:avLst/>
          </a:prstGeom>
          <a:solidFill>
            <a:srgbClr val="0284C7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81099" y="4123181"/>
            <a:ext cx="11379993" cy="4286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700" b="0">
                <a:solidFill>
                  <a:srgbClr val="0F172A"/>
                </a:solidFill>
                <a:latin typeface="Roboto"/>
                <a:ea typeface="Microsoft YaHei"/>
              </a:rPr>
              <a:t>展望：耦合短临降雨预报，扩展至内涝-交通联动影响评估</a:t>
            </a:r>
          </a:p>
        </p:txBody>
      </p:sp>
      <p:sp>
        <p:nvSpPr>
          <p:cNvPr id="43" name="Rectangle 42"/>
          <p:cNvSpPr/>
          <p:nvPr/>
        </p:nvSpPr>
        <p:spPr>
          <a:custGeom>
            <a:pathLst>
              <a:path w="57149" h="114300">
                <a:moveTo>
                  <a:pt x="0" y="0"/>
                </a:moveTo>
                <a:lnTo>
                  <a:pt x="57149" y="57150"/>
                </a:lnTo>
                <a:lnTo>
                  <a:pt x="0" y="114300"/>
                </a:lnTo>
              </a:path>
            </a:pathLst>
          </a:custGeom>
          <a:xfrm>
            <a:off x="11620499" y="4305300"/>
            <a:ext cx="57149" cy="114300"/>
          </a:xfrm>
          <a:noFill/>
          <a:ln w="254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00999" y="-2381250"/>
            <a:ext cx="7619999" cy="5334000"/>
          </a:xfrm>
          <a:prstGeom prst="ellipse">
            <a:avLst/>
          </a:prstGeom>
          <a:gradFill>
            <a:gsLst>
              <a:gs pos="0">
                <a:srgbClr val="0C8ED1">
                  <a:alpha val="15000"/>
                </a:srgbClr>
              </a:gs>
              <a:gs pos="100000">
                <a:srgbClr val="0C8ED1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095499" y="4667249"/>
            <a:ext cx="5333999" cy="3809999"/>
          </a:xfrm>
          <a:prstGeom prst="ellipse">
            <a:avLst/>
          </a:prstGeom>
          <a:gradFill>
            <a:gsLst>
              <a:gs pos="0">
                <a:srgbClr val="34B6F9">
                  <a:alpha val="10000"/>
                </a:srgbClr>
              </a:gs>
              <a:gs pos="100000">
                <a:srgbClr val="34B6F9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 flipH="1">
            <a:off x="10286999" y="0"/>
            <a:ext cx="1905000" cy="1714500"/>
          </a:xfrm>
          <a:prstGeom prst="line">
            <a:avLst/>
          </a:prstGeom>
          <a:ln w="25400">
            <a:solidFill>
              <a:srgbClr val="0C8E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H="1">
            <a:off x="10858499" y="0"/>
            <a:ext cx="1333500" cy="1143000"/>
          </a:xfrm>
          <a:prstGeom prst="line">
            <a:avLst/>
          </a:prstGeom>
          <a:ln w="12700">
            <a:solidFill>
              <a:srgbClr val="0C8E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-1447799" y="-1047749"/>
            <a:ext cx="3047999" cy="3047999"/>
          </a:xfrm>
          <a:prstGeom prst="ellipse">
            <a:avLst/>
          </a:prstGeom>
          <a:noFill/>
          <a:ln w="15240">
            <a:solidFill>
              <a:srgbClr val="0C8E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-647699" y="-1047749"/>
            <a:ext cx="3047999" cy="3047999"/>
          </a:xfrm>
          <a:prstGeom prst="ellipse">
            <a:avLst/>
          </a:prstGeom>
          <a:noFill/>
          <a:ln w="15240">
            <a:solidFill>
              <a:srgbClr val="0C8E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custGeom>
            <a:pathLst>
              <a:path w="9591674" h="95">
                <a:moveTo>
                  <a:pt x="0" y="0"/>
                </a:moveTo>
                <a:lnTo>
                  <a:pt x="9591674" y="0"/>
                </a:lnTo>
              </a:path>
            </a:pathLst>
          </a:custGeom>
          <a:xfrm>
            <a:off x="1304924" y="4819650"/>
            <a:ext cx="9591674" cy="95"/>
          </a:xfrm>
          <a:noFill/>
          <a:ln w="19050">
            <a:solidFill>
              <a:srgbClr val="0C8E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114299" cy="6858000"/>
          </a:xfrm>
          <a:prstGeom prst="rect">
            <a:avLst/>
          </a:prstGeom>
          <a:gradFill>
            <a:gsLst>
              <a:gs pos="0">
                <a:srgbClr val="0C8ED1">
                  <a:alpha val="40000"/>
                </a:srgbClr>
              </a:gs>
              <a:gs pos="50000">
                <a:srgbClr val="0C8ED1">
                  <a:alpha val="90000"/>
                </a:srgbClr>
              </a:gs>
              <a:gs pos="100000">
                <a:srgbClr val="0C8ED1">
                  <a:alpha val="40000"/>
                </a:srgbClr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93548" y="6216777"/>
            <a:ext cx="1212651" cy="25003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575" b="0">
                <a:solidFill>
                  <a:srgbClr val="475569">
                    <a:alpha val="70000"/>
                  </a:srgbClr>
                </a:solidFill>
                <a:latin typeface="Roboto"/>
                <a:ea typeface="Microsoft YaHei"/>
              </a:rPr>
              <a:t>16 / 16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81074" y="1714500"/>
            <a:ext cx="10239374" cy="3429000"/>
          </a:xfrm>
          <a:prstGeom prst="roundRect">
            <a:avLst/>
          </a:prstGeom>
          <a:effectLst>
            <a:blur rad="203200"/>
            <a:outerShdw dist="38100" dir="0" blurRad="203200" algn="bl" rotWithShape="0">
              <a:srgbClr val="000000">
                <a:alpha val="10000"/>
              </a:srgbClr>
            </a:outerShdw>
          </a:effectLst>
          <a:gradFill>
            <a:gsLst>
              <a:gs pos="0">
                <a:srgbClr val="FFFFFF"/>
              </a:gs>
              <a:gs pos="100000">
                <a:srgbClr val="FFFFFF">
                  <a:alpha val="90000"/>
                </a:srgbClr>
              </a:gs>
            </a:gsLst>
            <a:lin ang="27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57274" y="1790700"/>
            <a:ext cx="10086974" cy="3276599"/>
          </a:xfrm>
          <a:prstGeom prst="roundRect">
            <a:avLst/>
          </a:prstGeom>
          <a:effectLst>
            <a:blur rad="203200"/>
            <a:outerShdw dist="38100" dir="0" blurRad="203200" algn="bl" rotWithShape="0">
              <a:srgbClr val="000000">
                <a:alpha val="10000"/>
              </a:srgbClr>
            </a:outerShdw>
          </a:effectLst>
          <a:noFill/>
          <a:ln w="15240">
            <a:solidFill>
              <a:srgbClr val="0C8E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524499" y="2019299"/>
            <a:ext cx="1142999" cy="228600"/>
          </a:xfrm>
          <a:prstGeom prst="roundRect">
            <a:avLst/>
          </a:prstGeom>
          <a:solidFill>
            <a:srgbClr val="0C8ED1">
              <a:alpha val="10000"/>
            </a:srgbClr>
          </a:solidFill>
          <a:ln w="12700">
            <a:solidFill>
              <a:srgbClr val="0C8E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22999" y="2005203"/>
            <a:ext cx="1346001" cy="22621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425" b="1">
                <a:solidFill>
                  <a:srgbClr val="0C8ED1"/>
                </a:solidFill>
                <a:latin typeface="Roboto"/>
                <a:ea typeface="Microsoft YaHei"/>
              </a:rPr>
              <a:t>THANK YOU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88718" y="2552319"/>
            <a:ext cx="2214562" cy="73818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4649" b="1">
                <a:solidFill>
                  <a:srgbClr val="0F172A"/>
                </a:solidFill>
                <a:latin typeface="Roboto"/>
                <a:ea typeface="Microsoft YaHei"/>
              </a:rPr>
              <a:t>致谢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50838" y="3426713"/>
            <a:ext cx="8290321" cy="7858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50" b="0">
                <a:solidFill>
                  <a:srgbClr val="475569"/>
                </a:solidFill>
                <a:latin typeface="Roboto"/>
                <a:ea typeface="Microsoft YaHei"/>
              </a:rPr>
              <a:t>感谢指导教师的悉心指导，感谢 Z 市水务局、气象局提供数据支持。</a:t>
            </a:r>
          </a:p>
          <a:p>
            <a:pPr algn="ctr"/>
            <a:r>
              <a:rPr sz="1650" b="0">
                <a:solidFill>
                  <a:srgbClr val="475569"/>
                </a:solidFill>
                <a:latin typeface="Roboto"/>
                <a:ea typeface="Microsoft YaHei"/>
              </a:rPr>
              <a:t>感谢团队每一位在 37 场暴雨数据里泡过的日夜。</a:t>
            </a:r>
          </a:p>
          <a:p>
            <a:pPr algn="ctr"/>
            <a:r>
              <a:rPr sz="1650" b="0">
                <a:solidFill>
                  <a:srgbClr val="475569"/>
                </a:solidFill>
                <a:latin typeface="Roboto"/>
                <a:ea typeface="Microsoft YaHei"/>
              </a:rPr>
              <a:t>恳请各位评委批评指正！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