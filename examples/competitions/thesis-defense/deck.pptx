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各位评审老师好，我是王晓琳，指导教师李建国副教授。我的论文题目是《基于 LSTM 的校园快递驿站取件量预测研究》。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汇报分五部分：背景与意义、研究现状、内容与技术路线、实验结果、结论与展望。重点放在第三、第四部分。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选题来自真实场景：驿站取件量波动剧烈，排班全靠站长经验，高峰期学生平均排队 18 分钟。而取件量只要能提前一天预测，班次和货架就能提前调度到位。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意义有四层：理论上验证 LSTM 在强周期、多突发序列上的适用边界；实践上直接支撑排班；同时沉淀一套可复用的数据流程，方法还能迁移到食堂、图书馆等校园场景。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研究现状从统计模型到深度学习：ARIMA 擅长平稳序列但抓不住突发峰值，树模型引入外部特征但时序建模有限，LSTM 在客流预测已经成熟——驿站场景缺系统研究，这正是本文的缺口。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技术路线五层：数据、特征、模型、评估、应用，逐层递进，最终落到次日预测报表。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数据是三个驿站 22 个月、41.6 万条取件记录。清洗规则和严格按时间切分的划分方式保证了实验严谨性——绝不让未来信息泄漏进训练集。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模型是两层 LSTM，14 天滑动窗口拼接 12 维外部特征。损失函数选 Huber，就是为了对双 11 这类极端峰值更稳健。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关键参数都经过验证集网格搜索，这里列出取值与依据，供老师们审阅。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整体性能四个数：R 方 0.91、MAPE 6.8%、误差比基线降 12.4%、促销峰值日误差 8.2%。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与三个基线横向比：移动平均完全跟不上波动，ARIMA 峰值日系统性低估，GRU 接近但高峰日波动更大——两层 LSTM 在全部三个驿站上都是最优。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误差分析诚实指出了短板：误差最大的五天全在双 11、618 和开学周；宿舍区驿站误差小、教学区受课表扰动偏大。改进方向是引入入库量做先行指标。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结论三点：数据集和特征体系建立起来了，模型显著优于基线，预测结果已经支撑试点驿站的排班决策。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创新点集中在场景、特征、工程三个层面：驿站场景的首个系统研究、多事件联合编码方案、全流程自动化管道。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不足与展望：单一高校的泛化能力待验证，后续计划对比 Transformer 结构并做多驿站联合建模。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感谢李老师两年来的悉心指导，感谢驿站站长提供数据支持。恳请各位评审老师批评指正！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999" y="0"/>
            <a:ext cx="6095999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29499" y="1714500"/>
            <a:ext cx="3428999" cy="3429000"/>
          </a:xfrm>
          <a:prstGeom prst="ellipse">
            <a:avLst/>
          </a:prstGeom>
          <a:noFill/>
          <a:ln w="2540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10499" y="2095499"/>
            <a:ext cx="2666999" cy="2667000"/>
          </a:xfrm>
          <a:prstGeom prst="ellipse">
            <a:avLst/>
          </a:prstGeom>
          <a:solidFill>
            <a:srgbClr val="375484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" y="2400300"/>
            <a:ext cx="57149" cy="2457450"/>
          </a:xfrm>
          <a:prstGeom prst="rect">
            <a:avLst/>
          </a:prstGeom>
          <a:solidFill>
            <a:srgbClr val="375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699" y="2455164"/>
            <a:ext cx="7115175" cy="2571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400" b="1">
                <a:solidFill>
                  <a:srgbClr val="1B2A4A"/>
                </a:solidFill>
                <a:latin typeface="Microsoft YaHei"/>
                <a:ea typeface="Microsoft YaHei"/>
              </a:rPr>
              <a:t>基于 LSTM 的校</a:t>
            </a:r>
          </a:p>
          <a:p>
            <a:r>
              <a:rPr sz="5400" b="1">
                <a:solidFill>
                  <a:srgbClr val="1B2A4A"/>
                </a:solidFill>
                <a:latin typeface="Microsoft YaHei"/>
                <a:ea typeface="Microsoft YaHei"/>
              </a:rPr>
              <a:t>园快递驿站取件</a:t>
            </a:r>
          </a:p>
          <a:p>
            <a:r>
              <a:rPr sz="5400" b="1">
                <a:solidFill>
                  <a:srgbClr val="1B2A4A"/>
                </a:solidFill>
                <a:latin typeface="Microsoft YaHei"/>
                <a:ea typeface="Microsoft YaHei"/>
              </a:rPr>
              <a:t>量预测研究</a:t>
            </a:r>
          </a:p>
        </p:txBody>
      </p:sp>
      <p:sp>
        <p:nvSpPr>
          <p:cNvPr id="8" name="Rectangle 7"/>
          <p:cNvSpPr/>
          <p:nvPr/>
        </p:nvSpPr>
        <p:spPr>
          <a:xfrm>
            <a:off x="647699" y="4914900"/>
            <a:ext cx="380999" cy="19050"/>
          </a:xfrm>
          <a:prstGeom prst="rect">
            <a:avLst/>
          </a:prstGeom>
          <a:solidFill>
            <a:srgbClr val="C9D2E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99" y="4955286"/>
            <a:ext cx="6434137" cy="1000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99" b="0">
                <a:solidFill>
                  <a:srgbClr val="44506B">
                    <a:alpha val="85000"/>
                  </a:srgbClr>
                </a:solidFill>
                <a:latin typeface="Microsoft YaHei"/>
                <a:ea typeface="Microsoft YaHei"/>
              </a:rPr>
              <a:t>答辩人:王晓琳 | 指导教师:李建国 副教</a:t>
            </a:r>
          </a:p>
          <a:p>
            <a:r>
              <a:rPr sz="2099" b="0">
                <a:solidFill>
                  <a:srgbClr val="44506B">
                    <a:alpha val="85000"/>
                  </a:srgbClr>
                </a:solidFill>
                <a:latin typeface="Microsoft YaHei"/>
                <a:ea typeface="Microsoft YaHei"/>
              </a:rPr>
              <a:t>授 | 信息管理与信息系统专业 | 2026</a:t>
            </a:r>
          </a:p>
          <a:p>
            <a:r>
              <a:rPr sz="2099" b="0">
                <a:solidFill>
                  <a:srgbClr val="44506B">
                    <a:alpha val="85000"/>
                  </a:srgbClr>
                </a:solidFill>
                <a:latin typeface="Microsoft YaHei"/>
                <a:ea typeface="Microsoft YaHei"/>
              </a:rPr>
              <a:t>年 6 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499" y="2857500"/>
            <a:ext cx="4952999" cy="11430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4F6FA"/>
          </a:solidFill>
          <a:ln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53249" y="3105912"/>
            <a:ext cx="4781549" cy="309562"/>
          </a:xfrm>
          <a:prstGeom prst="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44506B"/>
                </a:solidFill>
                <a:latin typeface="Microsoft YaHei"/>
                <a:ea typeface="Microsoft YaHei"/>
              </a:rPr>
              <a:t>PAGES DESIGNED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49" y="3236594"/>
            <a:ext cx="4781549" cy="714375"/>
          </a:xfrm>
          <a:prstGeom prst="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</p:spPr>
        <p:txBody>
          <a:bodyPr wrap="none" lIns="0" rIns="0" tIns="0" bIns="0">
            <a:spAutoFit/>
          </a:bodyPr>
          <a:lstStyle/>
          <a:p>
            <a:r>
              <a:rPr sz="4500" b="1">
                <a:solidFill>
                  <a:srgbClr val="375484"/>
                </a:solidFill>
                <a:latin typeface="Microsoft YaHei"/>
                <a:ea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375484">
                  <a:alpha val="15000"/>
                </a:srgbClr>
              </a:gs>
              <a:gs pos="100000">
                <a:srgbClr val="37548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5F7CAC">
                  <a:alpha val="10000"/>
                </a:srgbClr>
              </a:gs>
              <a:gs pos="100000">
                <a:srgbClr val="5F7CA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375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375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375484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375484">
                  <a:alpha val="40000"/>
                </a:srgbClr>
              </a:gs>
              <a:gs pos="50000">
                <a:srgbClr val="375484">
                  <a:alpha val="90000"/>
                </a:srgbClr>
              </a:gs>
              <a:gs pos="100000">
                <a:srgbClr val="375484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4506B">
                    <a:alpha val="70000"/>
                  </a:srgbClr>
                </a:solidFill>
                <a:latin typeface="Microsoft YaHei"/>
                <a:ea typeface="Microsoft YaHei"/>
              </a:rPr>
              <a:t>02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B2A4A"/>
                </a:solidFill>
                <a:latin typeface="Microsoft YaHei"/>
                <a:ea typeface="Microsoft YaHei"/>
              </a:rPr>
              <a:t>汇报提纲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37548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723900"/>
          </a:xfrm>
          <a:prstGeom prst="roundRect">
            <a:avLst/>
          </a:prstGeom>
          <a:solidFill>
            <a:srgbClr val="37548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143000"/>
            <a:ext cx="419099" cy="419100"/>
          </a:xfrm>
          <a:prstGeom prst="ellipse">
            <a:avLst/>
          </a:prstGeom>
          <a:noFill/>
          <a:ln w="1905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209674"/>
            <a:ext cx="285749" cy="285750"/>
          </a:xfrm>
          <a:prstGeom prst="ellipse">
            <a:avLst/>
          </a:prstGeom>
          <a:solidFill>
            <a:srgbClr val="37548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2161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375484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375484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7522368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研究背景与意义:校园驿站的排班难题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295399"/>
            <a:ext cx="57149" cy="114300"/>
          </a:xfrm>
          <a:noFill/>
          <a:ln w="2540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18288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193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1828800"/>
            <a:ext cx="38099" cy="723900"/>
          </a:xfrm>
          <a:prstGeom prst="roundRect">
            <a:avLst/>
          </a:prstGeom>
          <a:solidFill>
            <a:srgbClr val="193666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1981199"/>
            <a:ext cx="419099" cy="419100"/>
          </a:xfrm>
          <a:prstGeom prst="ellipse">
            <a:avLst/>
          </a:prstGeom>
          <a:noFill/>
          <a:ln w="19050">
            <a:solidFill>
              <a:srgbClr val="193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047874"/>
            <a:ext cx="285749" cy="285750"/>
          </a:xfrm>
          <a:prstGeom prst="ellipse">
            <a:avLst/>
          </a:prstGeom>
          <a:solidFill>
            <a:srgbClr val="193666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0543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19366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171700"/>
            <a:ext cx="76199" cy="76200"/>
          </a:xfrm>
          <a:prstGeom prst="ellipse">
            <a:avLst/>
          </a:prstGeom>
          <a:solidFill>
            <a:srgbClr val="193666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1951481"/>
            <a:ext cx="7950993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国内外研究现状:从统计模型到深度学习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133599"/>
            <a:ext cx="57149" cy="114300"/>
          </a:xfrm>
          <a:noFill/>
          <a:ln w="25400">
            <a:solidFill>
              <a:srgbClr val="193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26670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5F7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2667000"/>
            <a:ext cx="38099" cy="723900"/>
          </a:xfrm>
          <a:prstGeom prst="roundRect">
            <a:avLst/>
          </a:prstGeom>
          <a:solidFill>
            <a:srgbClr val="5F7CAC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2819399"/>
            <a:ext cx="419099" cy="419100"/>
          </a:xfrm>
          <a:prstGeom prst="ellipse">
            <a:avLst/>
          </a:prstGeom>
          <a:noFill/>
          <a:ln w="19050">
            <a:solidFill>
              <a:srgbClr val="5F7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2886075"/>
            <a:ext cx="285749" cy="285750"/>
          </a:xfrm>
          <a:prstGeom prst="ellipse">
            <a:avLst/>
          </a:prstGeom>
          <a:solidFill>
            <a:srgbClr val="5F7CA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28925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4B689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3009900"/>
            <a:ext cx="76199" cy="76200"/>
          </a:xfrm>
          <a:prstGeom prst="ellipse">
            <a:avLst/>
          </a:prstGeom>
          <a:solidFill>
            <a:srgbClr val="5F7CA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2789681"/>
            <a:ext cx="9236868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研究内容与技术路线:数据、模型、实验三步走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971800"/>
            <a:ext cx="57149" cy="114300"/>
          </a:xfrm>
          <a:noFill/>
          <a:ln w="25400">
            <a:solidFill>
              <a:srgbClr val="5F7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35051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3505199"/>
            <a:ext cx="38099" cy="723900"/>
          </a:xfrm>
          <a:prstGeom prst="roundRect">
            <a:avLst/>
          </a:prstGeom>
          <a:solidFill>
            <a:srgbClr val="37548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3657600"/>
            <a:ext cx="419099" cy="419100"/>
          </a:xfrm>
          <a:prstGeom prst="ellipse">
            <a:avLst/>
          </a:prstGeom>
          <a:noFill/>
          <a:ln w="1905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3724274"/>
            <a:ext cx="285749" cy="285750"/>
          </a:xfrm>
          <a:prstGeom prst="ellipse">
            <a:avLst/>
          </a:prstGeom>
          <a:solidFill>
            <a:srgbClr val="37548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37307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375484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3848099"/>
            <a:ext cx="76199" cy="76200"/>
          </a:xfrm>
          <a:prstGeom prst="ellipse">
            <a:avLst/>
          </a:prstGeom>
          <a:solidFill>
            <a:srgbClr val="375484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3627882"/>
            <a:ext cx="7950993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实验结果与分析:精度、对比与误差来源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3809999"/>
            <a:ext cx="57149" cy="114300"/>
          </a:xfrm>
          <a:noFill/>
          <a:ln w="2540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42899" y="43434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193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42899" y="4343400"/>
            <a:ext cx="38099" cy="723900"/>
          </a:xfrm>
          <a:prstGeom prst="roundRect">
            <a:avLst/>
          </a:prstGeom>
          <a:solidFill>
            <a:srgbClr val="193666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8149" y="4495799"/>
            <a:ext cx="419099" cy="419100"/>
          </a:xfrm>
          <a:prstGeom prst="ellipse">
            <a:avLst/>
          </a:prstGeom>
          <a:noFill/>
          <a:ln w="19050">
            <a:solidFill>
              <a:srgbClr val="193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04824" y="4562475"/>
            <a:ext cx="285749" cy="285750"/>
          </a:xfrm>
          <a:prstGeom prst="ellipse">
            <a:avLst/>
          </a:prstGeom>
          <a:solidFill>
            <a:srgbClr val="193666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1949" y="4568951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19366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49" name="Oval 48"/>
          <p:cNvSpPr/>
          <p:nvPr/>
        </p:nvSpPr>
        <p:spPr>
          <a:xfrm>
            <a:off x="1009649" y="4686300"/>
            <a:ext cx="76199" cy="76200"/>
          </a:xfrm>
          <a:prstGeom prst="ellipse">
            <a:avLst/>
          </a:prstGeom>
          <a:solidFill>
            <a:srgbClr val="193666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1099" y="4466082"/>
            <a:ext cx="428625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结论、创新点与展望</a:t>
            </a:r>
          </a:p>
        </p:txBody>
      </p:sp>
      <p:sp>
        <p:nvSpPr>
          <p:cNvPr id="51" name="Rectangle 50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4648200"/>
            <a:ext cx="57149" cy="114300"/>
          </a:xfrm>
          <a:noFill/>
          <a:ln w="25400">
            <a:solidFill>
              <a:srgbClr val="193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2D4A7A">
                  <a:alpha val="15000"/>
                </a:srgbClr>
              </a:gs>
              <a:gs pos="100000">
                <a:srgbClr val="2D4A7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5572A2">
                  <a:alpha val="10000"/>
                </a:srgbClr>
              </a:gs>
              <a:gs pos="100000">
                <a:srgbClr val="5572A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2D4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2D4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2D4A7A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2D4A7A">
                  <a:alpha val="40000"/>
                </a:srgbClr>
              </a:gs>
              <a:gs pos="50000">
                <a:srgbClr val="2D4A7A">
                  <a:alpha val="90000"/>
                </a:srgbClr>
              </a:gs>
              <a:gs pos="100000">
                <a:srgbClr val="2D4A7A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4506B">
                    <a:alpha val="70000"/>
                  </a:srgbClr>
                </a:solidFill>
                <a:latin typeface="Microsoft YaHei"/>
                <a:ea typeface="Microsoft YaHei"/>
              </a:rPr>
              <a:t>03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B2A4A"/>
                </a:solidFill>
                <a:latin typeface="Microsoft YaHei"/>
                <a:ea typeface="Microsoft YaHei"/>
              </a:rPr>
              <a:t>研究背景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2D4A7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11506199" cy="48958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5000"/>
                </a:srgbClr>
              </a:gs>
            </a:gsLst>
            <a:lin ang="0" scaled="0"/>
          </a:gradFill>
          <a:ln w="1905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38099" cy="4895849"/>
          </a:xfrm>
          <a:prstGeom prst="roundRect">
            <a:avLst/>
          </a:prstGeom>
          <a:solidFill>
            <a:srgbClr val="2D4A7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1695449"/>
            <a:ext cx="76199" cy="76200"/>
          </a:xfrm>
          <a:solidFill>
            <a:srgbClr val="2D4A7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8699" y="1608582"/>
            <a:ext cx="13373100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4506B"/>
                </a:solidFill>
                <a:latin typeface="Microsoft YaHei"/>
                <a:ea typeface="Microsoft YaHei"/>
              </a:rPr>
              <a:t>校园快递驿站取件量波动剧烈:开学周、双 11、雨雪天气都会造成排</a:t>
            </a:r>
          </a:p>
          <a:p>
            <a:r>
              <a:rPr sz="2700" b="0">
                <a:solidFill>
                  <a:srgbClr val="44506B"/>
                </a:solidFill>
                <a:latin typeface="Microsoft YaHei"/>
                <a:ea typeface="Microsoft YaHei"/>
              </a:rPr>
              <a:t>队高峰</a:t>
            </a:r>
          </a:p>
        </p:txBody>
      </p:sp>
      <p:sp>
        <p:nvSpPr>
          <p:cNvPr id="16" name="Rectangle 15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2876549"/>
            <a:ext cx="76199" cy="76200"/>
          </a:xfrm>
          <a:solidFill>
            <a:srgbClr val="2D4A7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699" y="2789681"/>
            <a:ext cx="12472987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4506B"/>
                </a:solidFill>
                <a:latin typeface="Microsoft YaHei"/>
                <a:ea typeface="Microsoft YaHei"/>
              </a:rPr>
              <a:t>驿站排班目前依赖站长经验,人力常年错配,学生高峰期平均排队</a:t>
            </a:r>
          </a:p>
          <a:p>
            <a:r>
              <a:rPr sz="2700" b="0">
                <a:solidFill>
                  <a:srgbClr val="44506B"/>
                </a:solidFill>
                <a:latin typeface="Microsoft YaHei"/>
                <a:ea typeface="Microsoft YaHei"/>
              </a:rPr>
              <a:t>18 分钟</a:t>
            </a:r>
          </a:p>
        </p:txBody>
      </p:sp>
      <p:sp>
        <p:nvSpPr>
          <p:cNvPr id="18" name="Rectangle 17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4057650"/>
            <a:ext cx="76199" cy="76200"/>
          </a:xfrm>
          <a:solidFill>
            <a:srgbClr val="2D4A7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699" y="3970782"/>
            <a:ext cx="12237243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4506B"/>
                </a:solidFill>
                <a:latin typeface="Microsoft YaHei"/>
                <a:ea typeface="Microsoft YaHei"/>
              </a:rPr>
              <a:t>取件量提前一天可知,即可把兼职班次和货架空间提前调度到位</a:t>
            </a:r>
          </a:p>
        </p:txBody>
      </p:sp>
      <p:sp>
        <p:nvSpPr>
          <p:cNvPr id="20" name="Rectangle 19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4743450"/>
            <a:ext cx="76199" cy="76200"/>
          </a:xfrm>
          <a:solidFill>
            <a:srgbClr val="2D4A7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699" y="4656582"/>
            <a:ext cx="13951743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4506B"/>
                </a:solidFill>
                <a:latin typeface="Microsoft YaHei"/>
                <a:ea typeface="Microsoft YaHei"/>
              </a:rPr>
              <a:t>时间序列深度学习已在电力负荷、地铁客流预测中成熟落地,快递驿站场</a:t>
            </a:r>
          </a:p>
          <a:p>
            <a:r>
              <a:rPr sz="2700" b="0">
                <a:solidFill>
                  <a:srgbClr val="44506B"/>
                </a:solidFill>
                <a:latin typeface="Microsoft YaHei"/>
                <a:ea typeface="Microsoft YaHei"/>
              </a:rPr>
              <a:t>景尚缺系统研究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375484">
                  <a:alpha val="15000"/>
                </a:srgbClr>
              </a:gs>
              <a:gs pos="100000">
                <a:srgbClr val="37548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5F7CAC">
                  <a:alpha val="10000"/>
                </a:srgbClr>
              </a:gs>
              <a:gs pos="100000">
                <a:srgbClr val="5F7CA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375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375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375484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375484">
                  <a:alpha val="40000"/>
                </a:srgbClr>
              </a:gs>
              <a:gs pos="50000">
                <a:srgbClr val="375484">
                  <a:alpha val="90000"/>
                </a:srgbClr>
              </a:gs>
              <a:gs pos="100000">
                <a:srgbClr val="375484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4506B">
                    <a:alpha val="70000"/>
                  </a:srgbClr>
                </a:solidFill>
                <a:latin typeface="Microsoft YaHei"/>
                <a:ea typeface="Microsoft YaHei"/>
              </a:rPr>
              <a:t>04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B2A4A"/>
                </a:solidFill>
                <a:latin typeface="Microsoft YaHei"/>
                <a:ea typeface="Microsoft YaHei"/>
              </a:rPr>
              <a:t>研究意义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37548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1219200"/>
          </a:xfrm>
          <a:prstGeom prst="roundRect">
            <a:avLst/>
          </a:prstGeom>
          <a:solidFill>
            <a:srgbClr val="37548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390650"/>
            <a:ext cx="419099" cy="419100"/>
          </a:xfrm>
          <a:prstGeom prst="ellipse">
            <a:avLst/>
          </a:prstGeom>
          <a:noFill/>
          <a:ln w="1905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457325"/>
            <a:ext cx="285749" cy="285750"/>
          </a:xfrm>
          <a:prstGeom prst="ellipse">
            <a:avLst/>
          </a:prstGeom>
          <a:solidFill>
            <a:srgbClr val="37548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4638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375484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375484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13223081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理论意义:验证 LSTM 在中小规模、强周期、多突发事件序列上的适</a:t>
            </a:r>
          </a:p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用边界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543050"/>
            <a:ext cx="57149" cy="114300"/>
          </a:xfrm>
          <a:noFill/>
          <a:ln w="2540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2324100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193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2324100"/>
            <a:ext cx="38099" cy="1219200"/>
          </a:xfrm>
          <a:prstGeom prst="roundRect">
            <a:avLst/>
          </a:prstGeom>
          <a:solidFill>
            <a:srgbClr val="193666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2724150"/>
            <a:ext cx="419099" cy="419100"/>
          </a:xfrm>
          <a:prstGeom prst="ellipse">
            <a:avLst/>
          </a:prstGeom>
          <a:noFill/>
          <a:ln w="19050">
            <a:solidFill>
              <a:srgbClr val="193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790824"/>
            <a:ext cx="285749" cy="285750"/>
          </a:xfrm>
          <a:prstGeom prst="ellipse">
            <a:avLst/>
          </a:prstGeom>
          <a:solidFill>
            <a:srgbClr val="193666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7973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19366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667000"/>
            <a:ext cx="76199" cy="76200"/>
          </a:xfrm>
          <a:prstGeom prst="ellipse">
            <a:avLst/>
          </a:prstGeom>
          <a:solidFill>
            <a:srgbClr val="193666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2446781"/>
            <a:ext cx="12901612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实践意义:为驿站提供可执行的次日取件量预测,直接支撑排班与货</a:t>
            </a:r>
          </a:p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架规划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876549"/>
            <a:ext cx="57149" cy="114300"/>
          </a:xfrm>
          <a:noFill/>
          <a:ln w="25400">
            <a:solidFill>
              <a:srgbClr val="193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36576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5F7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3657600"/>
            <a:ext cx="38099" cy="723900"/>
          </a:xfrm>
          <a:prstGeom prst="roundRect">
            <a:avLst/>
          </a:prstGeom>
          <a:solidFill>
            <a:srgbClr val="5F7CAC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3809999"/>
            <a:ext cx="419099" cy="419100"/>
          </a:xfrm>
          <a:prstGeom prst="ellipse">
            <a:avLst/>
          </a:prstGeom>
          <a:noFill/>
          <a:ln w="19050">
            <a:solidFill>
              <a:srgbClr val="5F7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3876674"/>
            <a:ext cx="285749" cy="285750"/>
          </a:xfrm>
          <a:prstGeom prst="ellipse">
            <a:avLst/>
          </a:prstGeom>
          <a:solidFill>
            <a:srgbClr val="5F7CA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3883151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4B689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4000500"/>
            <a:ext cx="76199" cy="76200"/>
          </a:xfrm>
          <a:prstGeom prst="ellipse">
            <a:avLst/>
          </a:prstGeom>
          <a:solidFill>
            <a:srgbClr val="5F7CA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3780281"/>
            <a:ext cx="12237243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数据价值:沉淀一套可复用的校园驿站数据清洗与特征构建流程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3962399"/>
            <a:ext cx="57149" cy="114300"/>
          </a:xfrm>
          <a:noFill/>
          <a:ln w="25400">
            <a:solidFill>
              <a:srgbClr val="5F7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44957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4495799"/>
            <a:ext cx="38099" cy="723900"/>
          </a:xfrm>
          <a:prstGeom prst="roundRect">
            <a:avLst/>
          </a:prstGeom>
          <a:solidFill>
            <a:srgbClr val="37548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4648200"/>
            <a:ext cx="419099" cy="419100"/>
          </a:xfrm>
          <a:prstGeom prst="ellipse">
            <a:avLst/>
          </a:prstGeom>
          <a:noFill/>
          <a:ln w="1905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4714875"/>
            <a:ext cx="285749" cy="285750"/>
          </a:xfrm>
          <a:prstGeom prst="ellipse">
            <a:avLst/>
          </a:prstGeom>
          <a:solidFill>
            <a:srgbClr val="37548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47213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375484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4838699"/>
            <a:ext cx="76199" cy="76200"/>
          </a:xfrm>
          <a:prstGeom prst="ellipse">
            <a:avLst/>
          </a:prstGeom>
          <a:solidFill>
            <a:srgbClr val="375484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4618482"/>
            <a:ext cx="13094493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推广价值:方法可迁移到食堂客流、图书馆座位等校园资源调度场景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4800600"/>
            <a:ext cx="57149" cy="114300"/>
          </a:xfrm>
          <a:noFill/>
          <a:ln w="2540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2D4A7A">
                  <a:alpha val="15000"/>
                </a:srgbClr>
              </a:gs>
              <a:gs pos="100000">
                <a:srgbClr val="2D4A7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5572A2">
                  <a:alpha val="10000"/>
                </a:srgbClr>
              </a:gs>
              <a:gs pos="100000">
                <a:srgbClr val="5572A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2D4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2D4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2D4A7A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2D4A7A">
                  <a:alpha val="40000"/>
                </a:srgbClr>
              </a:gs>
              <a:gs pos="50000">
                <a:srgbClr val="2D4A7A">
                  <a:alpha val="90000"/>
                </a:srgbClr>
              </a:gs>
              <a:gs pos="100000">
                <a:srgbClr val="2D4A7A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4506B">
                    <a:alpha val="70000"/>
                  </a:srgbClr>
                </a:solidFill>
                <a:latin typeface="Microsoft YaHei"/>
                <a:ea typeface="Microsoft YaHei"/>
              </a:rPr>
              <a:t>05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B2A4A"/>
                </a:solidFill>
                <a:latin typeface="Microsoft YaHei"/>
                <a:ea typeface="Microsoft YaHei"/>
              </a:rPr>
              <a:t>国内外研究现状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2D4A7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1219200"/>
          </a:xfrm>
          <a:prstGeom prst="roundRect">
            <a:avLst/>
          </a:prstGeom>
          <a:solidFill>
            <a:srgbClr val="2D4A7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390650"/>
            <a:ext cx="419099" cy="419100"/>
          </a:xfrm>
          <a:prstGeom prst="ellipse">
            <a:avLst/>
          </a:prstGeom>
          <a:noFill/>
          <a:ln w="1905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457325"/>
            <a:ext cx="285749" cy="285750"/>
          </a:xfrm>
          <a:prstGeom prst="ellipse">
            <a:avLst/>
          </a:prstGeom>
          <a:solidFill>
            <a:srgbClr val="2D4A7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4638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D4A7A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2D4A7A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13287375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统计方法:ARIMA、Holt-Winters 长期主导快递量预测,擅长平稳序</a:t>
            </a:r>
          </a:p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列但难以刻画突发峰值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543050"/>
            <a:ext cx="57149" cy="114300"/>
          </a:xfrm>
          <a:noFill/>
          <a:ln w="2540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2324100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0F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2324100"/>
            <a:ext cx="38099" cy="1219200"/>
          </a:xfrm>
          <a:prstGeom prst="roundRect">
            <a:avLst/>
          </a:prstGeom>
          <a:solidFill>
            <a:srgbClr val="0F2C5C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2724150"/>
            <a:ext cx="419099" cy="419100"/>
          </a:xfrm>
          <a:prstGeom prst="ellipse">
            <a:avLst/>
          </a:prstGeom>
          <a:noFill/>
          <a:ln w="19050">
            <a:solidFill>
              <a:srgbClr val="0F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790824"/>
            <a:ext cx="285749" cy="285750"/>
          </a:xfrm>
          <a:prstGeom prst="ellipse">
            <a:avLst/>
          </a:prstGeom>
          <a:solidFill>
            <a:srgbClr val="0F2C5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7973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0F2C5C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667000"/>
            <a:ext cx="76199" cy="76200"/>
          </a:xfrm>
          <a:prstGeom prst="ellipse">
            <a:avLst/>
          </a:prstGeom>
          <a:solidFill>
            <a:srgbClr val="0F2C5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2446781"/>
            <a:ext cx="13073062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机器学习:随机森林、XGBoost 引入外部特征后精度提升,但对时序</a:t>
            </a:r>
          </a:p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依赖建模有限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876549"/>
            <a:ext cx="57149" cy="114300"/>
          </a:xfrm>
          <a:noFill/>
          <a:ln w="25400">
            <a:solidFill>
              <a:srgbClr val="0F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3657600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557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3657600"/>
            <a:ext cx="38099" cy="1219200"/>
          </a:xfrm>
          <a:prstGeom prst="roundRect">
            <a:avLst/>
          </a:prstGeom>
          <a:solidFill>
            <a:srgbClr val="5572A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4057650"/>
            <a:ext cx="419099" cy="419100"/>
          </a:xfrm>
          <a:prstGeom prst="ellipse">
            <a:avLst/>
          </a:prstGeom>
          <a:noFill/>
          <a:ln w="19050">
            <a:solidFill>
              <a:srgbClr val="557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4124324"/>
            <a:ext cx="285749" cy="285750"/>
          </a:xfrm>
          <a:prstGeom prst="ellipse">
            <a:avLst/>
          </a:prstGeom>
          <a:solidFill>
            <a:srgbClr val="5572A2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41308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4B689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4000500"/>
            <a:ext cx="76199" cy="76200"/>
          </a:xfrm>
          <a:prstGeom prst="ellipse">
            <a:avLst/>
          </a:prstGeom>
          <a:solidFill>
            <a:srgbClr val="5572A2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3780281"/>
            <a:ext cx="12644437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深度学习:LSTM、GRU 在客流与负荷预测中表现稳定,逐步成为主</a:t>
            </a:r>
          </a:p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流基线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4210049"/>
            <a:ext cx="57149" cy="114300"/>
          </a:xfrm>
          <a:noFill/>
          <a:ln w="25400">
            <a:solidFill>
              <a:srgbClr val="557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4991100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4991100"/>
            <a:ext cx="38099" cy="1219200"/>
          </a:xfrm>
          <a:prstGeom prst="roundRect">
            <a:avLst/>
          </a:prstGeom>
          <a:solidFill>
            <a:srgbClr val="2D4A7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5391150"/>
            <a:ext cx="419099" cy="419100"/>
          </a:xfrm>
          <a:prstGeom prst="ellipse">
            <a:avLst/>
          </a:prstGeom>
          <a:noFill/>
          <a:ln w="1905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5457825"/>
            <a:ext cx="285749" cy="285750"/>
          </a:xfrm>
          <a:prstGeom prst="ellipse">
            <a:avLst/>
          </a:prstGeom>
          <a:solidFill>
            <a:srgbClr val="2D4A7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54643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D4A7A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5334000"/>
            <a:ext cx="76199" cy="76200"/>
          </a:xfrm>
          <a:prstGeom prst="ellipse">
            <a:avLst/>
          </a:prstGeom>
          <a:solidFill>
            <a:srgbClr val="2D4A7A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5113782"/>
            <a:ext cx="12901612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研究缺口:面向校园驿站的公开研究少,缺少节假日与促销事件的联</a:t>
            </a:r>
          </a:p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合建模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5543550"/>
            <a:ext cx="57149" cy="114300"/>
          </a:xfrm>
          <a:noFill/>
          <a:ln w="2540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2899" y="2819399"/>
            <a:ext cx="1933574" cy="212407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33674" y="2819399"/>
            <a:ext cx="1933574" cy="212407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24449" y="2819399"/>
            <a:ext cx="1933574" cy="212407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15224" y="2819399"/>
            <a:ext cx="1933574" cy="212407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05999" y="2819399"/>
            <a:ext cx="1933574" cy="212407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375484">
                  <a:alpha val="15000"/>
                </a:srgbClr>
              </a:gs>
              <a:gs pos="100000">
                <a:srgbClr val="37548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5F7CAC">
                  <a:alpha val="10000"/>
                </a:srgbClr>
              </a:gs>
              <a:gs pos="100000">
                <a:srgbClr val="5F7CA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375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375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375484">
                  <a:alpha val="40000"/>
                </a:srgbClr>
              </a:gs>
              <a:gs pos="50000">
                <a:srgbClr val="375484">
                  <a:alpha val="90000"/>
                </a:srgbClr>
              </a:gs>
              <a:gs pos="100000">
                <a:srgbClr val="375484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4506B">
                    <a:alpha val="70000"/>
                  </a:srgbClr>
                </a:solidFill>
                <a:latin typeface="Microsoft YaHei"/>
                <a:ea typeface="Microsoft YaHei"/>
              </a:rPr>
              <a:t>06 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99" y="387476"/>
            <a:ext cx="11391899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75" b="1">
                <a:solidFill>
                  <a:srgbClr val="375484"/>
                </a:solidFill>
                <a:latin typeface="Microsoft YaHei"/>
                <a:ea typeface="Microsoft YaHei"/>
              </a:rPr>
              <a:t>PROCESS → 5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899" y="48691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B2A4A"/>
                </a:solidFill>
                <a:latin typeface="Microsoft YaHei"/>
                <a:ea typeface="Microsoft YaHei"/>
              </a:rPr>
              <a:t>研究内容与技术路线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899" y="2819399"/>
            <a:ext cx="1933574" cy="2124075"/>
          </a:xfrm>
          <a:prstGeom prst="roundRect">
            <a:avLst/>
          </a:prstGeom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899" y="2819399"/>
            <a:ext cx="38099" cy="2124075"/>
          </a:xfrm>
          <a:prstGeom prst="rect">
            <a:avLst/>
          </a:prstGeom>
          <a:solidFill>
            <a:srgbClr val="375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2899" y="2819399"/>
            <a:ext cx="1933574" cy="2124075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905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90524" y="2867025"/>
            <a:ext cx="1838324" cy="2028825"/>
          </a:xfrm>
          <a:prstGeom prst="roundRect">
            <a:avLst/>
          </a:prstGeom>
          <a:noFill/>
          <a:ln w="1270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14424" y="3047999"/>
            <a:ext cx="380999" cy="380999"/>
          </a:xfrm>
          <a:prstGeom prst="ellipse">
            <a:avLst/>
          </a:prstGeom>
          <a:noFill/>
          <a:ln w="1524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71574" y="3105149"/>
            <a:ext cx="266699" cy="266699"/>
          </a:xfrm>
          <a:prstGeom prst="ellipse">
            <a:avLst/>
          </a:prstGeom>
          <a:solidFill>
            <a:srgbClr val="375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9884" y="3058287"/>
            <a:ext cx="650081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6940" y="3863339"/>
            <a:ext cx="2035968" cy="952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0">
                <a:solidFill>
                  <a:srgbClr val="1B2A4A"/>
                </a:solidFill>
                <a:latin typeface="Microsoft YaHei"/>
                <a:ea typeface="Microsoft YaHei"/>
              </a:rPr>
              <a:t>数据层:采集驿站</a:t>
            </a:r>
          </a:p>
          <a:p>
            <a:pPr algn="ctr"/>
            <a:r>
              <a:rPr sz="1499" b="0">
                <a:solidFill>
                  <a:srgbClr val="1B2A4A"/>
                </a:solidFill>
                <a:latin typeface="Microsoft YaHei"/>
                <a:ea typeface="Microsoft YaHei"/>
              </a:rPr>
              <a:t>取件记录，完成</a:t>
            </a:r>
          </a:p>
          <a:p>
            <a:pPr algn="ctr"/>
            <a:r>
              <a:rPr sz="1499" b="0">
                <a:solidFill>
                  <a:srgbClr val="1B2A4A"/>
                </a:solidFill>
                <a:latin typeface="Microsoft YaHei"/>
                <a:ea typeface="Microsoft YaHei"/>
              </a:rPr>
              <a:t>清洗、对齐与异</a:t>
            </a:r>
          </a:p>
          <a:p>
            <a:pPr algn="ctr"/>
            <a:r>
              <a:rPr sz="1499" b="0">
                <a:solidFill>
                  <a:srgbClr val="1B2A4A"/>
                </a:solidFill>
                <a:latin typeface="Microsoft YaHei"/>
                <a:ea typeface="Microsoft YaHei"/>
              </a:rPr>
              <a:t>常剔除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90774" y="3876674"/>
            <a:ext cx="228600" cy="0"/>
          </a:xfrm>
          <a:prstGeom prst="line">
            <a:avLst/>
          </a:prstGeom>
          <a:ln w="31750">
            <a:solidFill>
              <a:srgbClr val="375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390774" y="3876674"/>
            <a:ext cx="228600" cy="0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custGeom>
            <a:pathLst>
              <a:path w="209549" h="95249">
                <a:moveTo>
                  <a:pt x="0" y="0"/>
                </a:moveTo>
                <a:lnTo>
                  <a:pt x="209549" y="47624"/>
                </a:lnTo>
                <a:lnTo>
                  <a:pt x="0" y="95249"/>
                </a:lnTo>
                <a:close/>
              </a:path>
            </a:pathLst>
          </a:custGeom>
          <a:xfrm>
            <a:off x="2619374" y="3829050"/>
            <a:ext cx="209549" cy="95249"/>
          </a:xfrm>
          <a:solidFill>
            <a:srgbClr val="37548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33674" y="2819399"/>
            <a:ext cx="1933574" cy="2124075"/>
          </a:xfrm>
          <a:prstGeom prst="roundRect">
            <a:avLst/>
          </a:prstGeom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33674" y="2819399"/>
            <a:ext cx="38099" cy="2124075"/>
          </a:xfrm>
          <a:prstGeom prst="rect">
            <a:avLst/>
          </a:prstGeom>
          <a:solidFill>
            <a:srgbClr val="0F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733674" y="2819399"/>
            <a:ext cx="1933574" cy="2124075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9050">
            <a:solidFill>
              <a:srgbClr val="0F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781299" y="2867025"/>
            <a:ext cx="1838324" cy="2028825"/>
          </a:xfrm>
          <a:prstGeom prst="roundRect">
            <a:avLst/>
          </a:prstGeom>
          <a:noFill/>
          <a:ln w="12700">
            <a:solidFill>
              <a:srgbClr val="0F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505199" y="3047999"/>
            <a:ext cx="380999" cy="380999"/>
          </a:xfrm>
          <a:prstGeom prst="ellipse">
            <a:avLst/>
          </a:prstGeom>
          <a:noFill/>
          <a:ln w="15240">
            <a:solidFill>
              <a:srgbClr val="0F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562349" y="3105149"/>
            <a:ext cx="266699" cy="266699"/>
          </a:xfrm>
          <a:prstGeom prst="ellipse">
            <a:avLst/>
          </a:prstGeom>
          <a:solidFill>
            <a:srgbClr val="0F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70659" y="3058287"/>
            <a:ext cx="650081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77715" y="3863339"/>
            <a:ext cx="2035968" cy="952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0">
                <a:solidFill>
                  <a:srgbClr val="1B2A4A"/>
                </a:solidFill>
                <a:latin typeface="Microsoft YaHei"/>
                <a:ea typeface="Microsoft YaHei"/>
              </a:rPr>
              <a:t>特征层:构建星期</a:t>
            </a:r>
          </a:p>
          <a:p>
            <a:pPr algn="ctr"/>
            <a:r>
              <a:rPr sz="1499" b="0">
                <a:solidFill>
                  <a:srgbClr val="1B2A4A"/>
                </a:solidFill>
                <a:latin typeface="Microsoft YaHei"/>
                <a:ea typeface="Microsoft YaHei"/>
              </a:rPr>
              <a:t>、节假日、天气</a:t>
            </a:r>
          </a:p>
          <a:p>
            <a:pPr algn="ctr"/>
            <a:r>
              <a:rPr sz="1499" b="0">
                <a:solidFill>
                  <a:srgbClr val="1B2A4A"/>
                </a:solidFill>
                <a:latin typeface="Microsoft YaHei"/>
                <a:ea typeface="Microsoft YaHei"/>
              </a:rPr>
              <a:t>、促销事件四类</a:t>
            </a:r>
          </a:p>
          <a:p>
            <a:pPr algn="ctr"/>
            <a:r>
              <a:rPr sz="1499" b="0">
                <a:solidFill>
                  <a:srgbClr val="1B2A4A"/>
                </a:solidFill>
                <a:latin typeface="Microsoft YaHei"/>
                <a:ea typeface="Microsoft YaHei"/>
              </a:rPr>
              <a:t>外部特征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781549" y="3876674"/>
            <a:ext cx="228600" cy="0"/>
          </a:xfrm>
          <a:prstGeom prst="line">
            <a:avLst/>
          </a:prstGeom>
          <a:ln w="31750">
            <a:solidFill>
              <a:srgbClr val="0F2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781549" y="3876674"/>
            <a:ext cx="228600" cy="0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custGeom>
            <a:pathLst>
              <a:path w="209549" h="95249">
                <a:moveTo>
                  <a:pt x="0" y="0"/>
                </a:moveTo>
                <a:lnTo>
                  <a:pt x="209549" y="47624"/>
                </a:lnTo>
                <a:lnTo>
                  <a:pt x="0" y="95249"/>
                </a:lnTo>
                <a:close/>
              </a:path>
            </a:pathLst>
          </a:custGeom>
          <a:xfrm>
            <a:off x="5010149" y="3829050"/>
            <a:ext cx="209549" cy="95249"/>
          </a:xfrm>
          <a:solidFill>
            <a:srgbClr val="0F2C5C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124449" y="2819399"/>
            <a:ext cx="1933574" cy="2124075"/>
          </a:xfrm>
          <a:prstGeom prst="roundRect">
            <a:avLst/>
          </a:prstGeom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124449" y="2819399"/>
            <a:ext cx="38099" cy="2124075"/>
          </a:xfrm>
          <a:prstGeom prst="rect">
            <a:avLst/>
          </a:prstGeom>
          <a:solidFill>
            <a:srgbClr val="698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124449" y="2819399"/>
            <a:ext cx="1933574" cy="2124075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9050">
            <a:solidFill>
              <a:srgbClr val="698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172074" y="2867025"/>
            <a:ext cx="1838324" cy="2028825"/>
          </a:xfrm>
          <a:prstGeom prst="roundRect">
            <a:avLst/>
          </a:prstGeom>
          <a:noFill/>
          <a:ln w="12700">
            <a:solidFill>
              <a:srgbClr val="698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95974" y="3047999"/>
            <a:ext cx="380999" cy="380999"/>
          </a:xfrm>
          <a:prstGeom prst="ellipse">
            <a:avLst/>
          </a:prstGeom>
          <a:noFill/>
          <a:ln w="15240">
            <a:solidFill>
              <a:srgbClr val="698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53124" y="3105149"/>
            <a:ext cx="266699" cy="266699"/>
          </a:xfrm>
          <a:prstGeom prst="ellipse">
            <a:avLst/>
          </a:prstGeom>
          <a:solidFill>
            <a:srgbClr val="698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1434" y="3058287"/>
            <a:ext cx="650081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1B2A4A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08078" y="3862578"/>
            <a:ext cx="1956792" cy="9048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25" b="0">
                <a:solidFill>
                  <a:srgbClr val="1B2A4A"/>
                </a:solidFill>
                <a:latin typeface="Microsoft YaHei"/>
                <a:ea typeface="Microsoft YaHei"/>
              </a:rPr>
              <a:t>模型层:搭建两层</a:t>
            </a:r>
          </a:p>
          <a:p>
            <a:pPr algn="ctr"/>
            <a:r>
              <a:rPr sz="1425" b="0">
                <a:solidFill>
                  <a:srgbClr val="1B2A4A"/>
                </a:solidFill>
                <a:latin typeface="Microsoft YaHei"/>
                <a:ea typeface="Microsoft YaHei"/>
              </a:rPr>
              <a:t>LSTM 网络，以</a:t>
            </a:r>
          </a:p>
          <a:p>
            <a:pPr algn="ctr"/>
            <a:r>
              <a:rPr sz="1425" b="0">
                <a:solidFill>
                  <a:srgbClr val="1B2A4A"/>
                </a:solidFill>
                <a:latin typeface="Microsoft YaHei"/>
                <a:ea typeface="Microsoft YaHei"/>
              </a:rPr>
              <a:t>14 天滑动窗口预</a:t>
            </a:r>
          </a:p>
          <a:p>
            <a:pPr algn="ctr"/>
            <a:r>
              <a:rPr sz="1425" b="0">
                <a:solidFill>
                  <a:srgbClr val="1B2A4A"/>
                </a:solidFill>
                <a:latin typeface="Microsoft YaHei"/>
                <a:ea typeface="Microsoft YaHei"/>
              </a:rPr>
              <a:t>测次日取件量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172324" y="3876674"/>
            <a:ext cx="228600" cy="0"/>
          </a:xfrm>
          <a:prstGeom prst="line">
            <a:avLst/>
          </a:prstGeom>
          <a:ln w="31750">
            <a:solidFill>
              <a:srgbClr val="698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172324" y="3876674"/>
            <a:ext cx="228600" cy="0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custGeom>
            <a:pathLst>
              <a:path w="209549" h="95249">
                <a:moveTo>
                  <a:pt x="0" y="0"/>
                </a:moveTo>
                <a:lnTo>
                  <a:pt x="209549" y="47624"/>
                </a:lnTo>
                <a:lnTo>
                  <a:pt x="0" y="95249"/>
                </a:lnTo>
                <a:close/>
              </a:path>
            </a:pathLst>
          </a:custGeom>
          <a:xfrm>
            <a:off x="7400924" y="3829050"/>
            <a:ext cx="209549" cy="95249"/>
          </a:xfrm>
          <a:solidFill>
            <a:srgbClr val="6986B6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515224" y="2819399"/>
            <a:ext cx="1933574" cy="2124075"/>
          </a:xfrm>
          <a:prstGeom prst="roundRect">
            <a:avLst/>
          </a:prstGeom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515224" y="2819399"/>
            <a:ext cx="38099" cy="2124075"/>
          </a:xfrm>
          <a:prstGeom prst="rect">
            <a:avLst/>
          </a:prstGeom>
          <a:solidFill>
            <a:srgbClr val="23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515224" y="2819399"/>
            <a:ext cx="1933574" cy="2124075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9050">
            <a:solidFill>
              <a:srgbClr val="23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562849" y="2867025"/>
            <a:ext cx="1838324" cy="2028825"/>
          </a:xfrm>
          <a:prstGeom prst="roundRect">
            <a:avLst/>
          </a:prstGeom>
          <a:noFill/>
          <a:ln w="12700">
            <a:solidFill>
              <a:srgbClr val="23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286749" y="3047999"/>
            <a:ext cx="380999" cy="380999"/>
          </a:xfrm>
          <a:prstGeom prst="ellipse">
            <a:avLst/>
          </a:prstGeom>
          <a:noFill/>
          <a:ln w="15240">
            <a:solidFill>
              <a:srgbClr val="23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343899" y="3105149"/>
            <a:ext cx="266699" cy="266699"/>
          </a:xfrm>
          <a:prstGeom prst="ellipse">
            <a:avLst/>
          </a:prstGeom>
          <a:solidFill>
            <a:srgbClr val="23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52209" y="3058287"/>
            <a:ext cx="650081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59265" y="3862578"/>
            <a:ext cx="2035968" cy="9048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25" b="0">
                <a:solidFill>
                  <a:srgbClr val="1B2A4A"/>
                </a:solidFill>
                <a:latin typeface="Microsoft YaHei"/>
                <a:ea typeface="Microsoft YaHei"/>
              </a:rPr>
              <a:t>评估层:与 ARIMA</a:t>
            </a:r>
          </a:p>
          <a:p>
            <a:pPr algn="ctr"/>
            <a:r>
              <a:rPr sz="1425" b="0">
                <a:solidFill>
                  <a:srgbClr val="1B2A4A"/>
                </a:solidFill>
                <a:latin typeface="Microsoft YaHei"/>
                <a:ea typeface="Microsoft YaHei"/>
              </a:rPr>
              <a:t>、GRU、移动平均</a:t>
            </a:r>
          </a:p>
          <a:p>
            <a:pPr algn="ctr"/>
            <a:r>
              <a:rPr sz="1425" b="0">
                <a:solidFill>
                  <a:srgbClr val="1B2A4A"/>
                </a:solidFill>
                <a:latin typeface="Microsoft YaHei"/>
                <a:ea typeface="Microsoft YaHei"/>
              </a:rPr>
              <a:t>基线对比，并做误</a:t>
            </a:r>
          </a:p>
          <a:p>
            <a:pPr algn="ctr"/>
            <a:r>
              <a:rPr sz="1425" b="0">
                <a:solidFill>
                  <a:srgbClr val="1B2A4A"/>
                </a:solidFill>
                <a:latin typeface="Microsoft YaHei"/>
                <a:ea typeface="Microsoft YaHei"/>
              </a:rPr>
              <a:t>差归因分析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563099" y="3876674"/>
            <a:ext cx="228600" cy="0"/>
          </a:xfrm>
          <a:prstGeom prst="line">
            <a:avLst/>
          </a:prstGeom>
          <a:ln w="31750">
            <a:solidFill>
              <a:srgbClr val="234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63099" y="3876674"/>
            <a:ext cx="228600" cy="0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custGeom>
            <a:pathLst>
              <a:path w="209549" h="95249">
                <a:moveTo>
                  <a:pt x="0" y="0"/>
                </a:moveTo>
                <a:lnTo>
                  <a:pt x="209549" y="47624"/>
                </a:lnTo>
                <a:lnTo>
                  <a:pt x="0" y="95249"/>
                </a:lnTo>
                <a:close/>
              </a:path>
            </a:pathLst>
          </a:custGeom>
          <a:xfrm>
            <a:off x="9791699" y="3829050"/>
            <a:ext cx="209549" cy="95249"/>
          </a:xfrm>
          <a:solidFill>
            <a:srgbClr val="23407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905999" y="2819399"/>
            <a:ext cx="1933574" cy="2124075"/>
          </a:xfrm>
          <a:prstGeom prst="roundRect">
            <a:avLst/>
          </a:prstGeom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905999" y="2819399"/>
            <a:ext cx="38099" cy="2124075"/>
          </a:xfrm>
          <a:prstGeom prst="rect">
            <a:avLst/>
          </a:prstGeom>
          <a:solidFill>
            <a:srgbClr val="557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905999" y="2819399"/>
            <a:ext cx="1933574" cy="2124075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9050">
            <a:solidFill>
              <a:srgbClr val="557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953624" y="2867025"/>
            <a:ext cx="1838324" cy="2028825"/>
          </a:xfrm>
          <a:prstGeom prst="roundRect">
            <a:avLst/>
          </a:prstGeom>
          <a:noFill/>
          <a:ln w="12700">
            <a:solidFill>
              <a:srgbClr val="557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77524" y="3047999"/>
            <a:ext cx="380999" cy="380999"/>
          </a:xfrm>
          <a:prstGeom prst="ellipse">
            <a:avLst/>
          </a:prstGeom>
          <a:noFill/>
          <a:ln w="15240">
            <a:solidFill>
              <a:srgbClr val="557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734674" y="3105149"/>
            <a:ext cx="266699" cy="266699"/>
          </a:xfrm>
          <a:prstGeom prst="ellipse">
            <a:avLst/>
          </a:prstGeom>
          <a:solidFill>
            <a:srgbClr val="557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542984" y="3058287"/>
            <a:ext cx="650081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20274" y="3864864"/>
            <a:ext cx="2095499" cy="785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1B2A4A"/>
                </a:solidFill>
                <a:latin typeface="Microsoft YaHei"/>
                <a:ea typeface="Microsoft YaHei"/>
              </a:rPr>
              <a:t>应用层:输出次</a:t>
            </a:r>
          </a:p>
          <a:p>
            <a:pPr algn="ctr"/>
            <a:r>
              <a:rPr sz="1650" b="0">
                <a:solidFill>
                  <a:srgbClr val="1B2A4A"/>
                </a:solidFill>
                <a:latin typeface="Microsoft YaHei"/>
                <a:ea typeface="Microsoft YaHei"/>
              </a:rPr>
              <a:t>日预测报表，支</a:t>
            </a:r>
          </a:p>
          <a:p>
            <a:pPr algn="ctr"/>
            <a:r>
              <a:rPr sz="1650" b="0">
                <a:solidFill>
                  <a:srgbClr val="1B2A4A"/>
                </a:solidFill>
                <a:latin typeface="Microsoft YaHei"/>
                <a:ea typeface="Microsoft YaHei"/>
              </a:rPr>
              <a:t>撑驿站排班决策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2D4A7A">
                  <a:alpha val="15000"/>
                </a:srgbClr>
              </a:gs>
              <a:gs pos="100000">
                <a:srgbClr val="2D4A7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5572A2">
                  <a:alpha val="10000"/>
                </a:srgbClr>
              </a:gs>
              <a:gs pos="100000">
                <a:srgbClr val="5572A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2D4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2D4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2D4A7A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2D4A7A">
                  <a:alpha val="40000"/>
                </a:srgbClr>
              </a:gs>
              <a:gs pos="50000">
                <a:srgbClr val="2D4A7A">
                  <a:alpha val="90000"/>
                </a:srgbClr>
              </a:gs>
              <a:gs pos="100000">
                <a:srgbClr val="2D4A7A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4506B">
                    <a:alpha val="70000"/>
                  </a:srgbClr>
                </a:solidFill>
                <a:latin typeface="Microsoft YaHei"/>
                <a:ea typeface="Microsoft YaHei"/>
              </a:rPr>
              <a:t>07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B2A4A"/>
                </a:solidFill>
                <a:latin typeface="Microsoft YaHei"/>
                <a:ea typeface="Microsoft YaHei"/>
              </a:rPr>
              <a:t>数据采集与预处理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2D4A7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1219200"/>
          </a:xfrm>
          <a:prstGeom prst="roundRect">
            <a:avLst/>
          </a:prstGeom>
          <a:solidFill>
            <a:srgbClr val="2D4A7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390650"/>
            <a:ext cx="419099" cy="419100"/>
          </a:xfrm>
          <a:prstGeom prst="ellipse">
            <a:avLst/>
          </a:prstGeom>
          <a:noFill/>
          <a:ln w="1905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457325"/>
            <a:ext cx="285749" cy="285750"/>
          </a:xfrm>
          <a:prstGeom prst="ellipse">
            <a:avLst/>
          </a:prstGeom>
          <a:solidFill>
            <a:srgbClr val="2D4A7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4638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D4A7A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2D4A7A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12901612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数据来源:某高校 3 个菜鸟驿站,2023 年 9 月至 2025 年 6 月</a:t>
            </a:r>
          </a:p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共 22 个月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543050"/>
            <a:ext cx="57149" cy="114300"/>
          </a:xfrm>
          <a:noFill/>
          <a:ln w="2540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2324100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0F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2324100"/>
            <a:ext cx="38099" cy="1219200"/>
          </a:xfrm>
          <a:prstGeom prst="roundRect">
            <a:avLst/>
          </a:prstGeom>
          <a:solidFill>
            <a:srgbClr val="0F2C5C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2724150"/>
            <a:ext cx="419099" cy="419100"/>
          </a:xfrm>
          <a:prstGeom prst="ellipse">
            <a:avLst/>
          </a:prstGeom>
          <a:noFill/>
          <a:ln w="19050">
            <a:solidFill>
              <a:srgbClr val="0F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790824"/>
            <a:ext cx="285749" cy="285750"/>
          </a:xfrm>
          <a:prstGeom prst="ellipse">
            <a:avLst/>
          </a:prstGeom>
          <a:solidFill>
            <a:srgbClr val="0F2C5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7973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0F2C5C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667000"/>
            <a:ext cx="76199" cy="76200"/>
          </a:xfrm>
          <a:prstGeom prst="ellipse">
            <a:avLst/>
          </a:prstGeom>
          <a:solidFill>
            <a:srgbClr val="0F2C5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2446781"/>
            <a:ext cx="12301537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数据规模:取件记录 41.6 万条,按日聚合后得到 1878 个站点</a:t>
            </a:r>
          </a:p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日样本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876549"/>
            <a:ext cx="57149" cy="114300"/>
          </a:xfrm>
          <a:noFill/>
          <a:ln w="25400">
            <a:solidFill>
              <a:srgbClr val="0F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36576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557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3657600"/>
            <a:ext cx="38099" cy="723900"/>
          </a:xfrm>
          <a:prstGeom prst="roundRect">
            <a:avLst/>
          </a:prstGeom>
          <a:solidFill>
            <a:srgbClr val="5572A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3809999"/>
            <a:ext cx="419099" cy="419100"/>
          </a:xfrm>
          <a:prstGeom prst="ellipse">
            <a:avLst/>
          </a:prstGeom>
          <a:noFill/>
          <a:ln w="19050">
            <a:solidFill>
              <a:srgbClr val="557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3876674"/>
            <a:ext cx="285749" cy="285750"/>
          </a:xfrm>
          <a:prstGeom prst="ellipse">
            <a:avLst/>
          </a:prstGeom>
          <a:solidFill>
            <a:srgbClr val="5572A2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3883151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4B689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4000500"/>
            <a:ext cx="76199" cy="76200"/>
          </a:xfrm>
          <a:prstGeom prst="ellipse">
            <a:avLst/>
          </a:prstGeom>
          <a:solidFill>
            <a:srgbClr val="5572A2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3780281"/>
            <a:ext cx="13330237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清洗规则:剔除寒暑假闭站日与系统故障日,缺失日用同星期均值插补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3962399"/>
            <a:ext cx="57149" cy="114300"/>
          </a:xfrm>
          <a:noFill/>
          <a:ln w="25400">
            <a:solidFill>
              <a:srgbClr val="557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4495799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4495799"/>
            <a:ext cx="38099" cy="1219200"/>
          </a:xfrm>
          <a:prstGeom prst="roundRect">
            <a:avLst/>
          </a:prstGeom>
          <a:solidFill>
            <a:srgbClr val="2D4A7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4895849"/>
            <a:ext cx="419099" cy="419100"/>
          </a:xfrm>
          <a:prstGeom prst="ellipse">
            <a:avLst/>
          </a:prstGeom>
          <a:noFill/>
          <a:ln w="1905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4962525"/>
            <a:ext cx="285749" cy="285750"/>
          </a:xfrm>
          <a:prstGeom prst="ellipse">
            <a:avLst/>
          </a:prstGeom>
          <a:solidFill>
            <a:srgbClr val="2D4A7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4969001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D4A7A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4838699"/>
            <a:ext cx="76199" cy="76200"/>
          </a:xfrm>
          <a:prstGeom prst="ellipse">
            <a:avLst/>
          </a:prstGeom>
          <a:solidFill>
            <a:srgbClr val="2D4A7A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4618482"/>
            <a:ext cx="12237243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特征工程:星期独热、节假日标记、天气等级、促销事件强度共</a:t>
            </a:r>
          </a:p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12 维特征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5048250"/>
            <a:ext cx="57149" cy="114300"/>
          </a:xfrm>
          <a:noFill/>
          <a:ln w="2540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42899" y="5829300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0F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42899" y="5829300"/>
            <a:ext cx="38099" cy="1219200"/>
          </a:xfrm>
          <a:prstGeom prst="roundRect">
            <a:avLst/>
          </a:prstGeom>
          <a:solidFill>
            <a:srgbClr val="0F2C5C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8149" y="6229350"/>
            <a:ext cx="419099" cy="419100"/>
          </a:xfrm>
          <a:prstGeom prst="ellipse">
            <a:avLst/>
          </a:prstGeom>
          <a:noFill/>
          <a:ln w="19050">
            <a:solidFill>
              <a:srgbClr val="0F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04824" y="6296024"/>
            <a:ext cx="285749" cy="285750"/>
          </a:xfrm>
          <a:prstGeom prst="ellipse">
            <a:avLst/>
          </a:prstGeom>
          <a:solidFill>
            <a:srgbClr val="0F2C5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1949" y="63025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0F2C5C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49" name="Oval 48"/>
          <p:cNvSpPr/>
          <p:nvPr/>
        </p:nvSpPr>
        <p:spPr>
          <a:xfrm>
            <a:off x="1009649" y="6172200"/>
            <a:ext cx="76199" cy="76200"/>
          </a:xfrm>
          <a:prstGeom prst="ellipse">
            <a:avLst/>
          </a:prstGeom>
          <a:solidFill>
            <a:srgbClr val="0F2C5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1099" y="5951982"/>
            <a:ext cx="13351668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数据划分:前 18 个月训练,2 个月验证,最后 2 个月测试,严格按时</a:t>
            </a:r>
          </a:p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间切分</a:t>
            </a:r>
          </a:p>
        </p:txBody>
      </p:sp>
      <p:sp>
        <p:nvSpPr>
          <p:cNvPr id="51" name="Rectangle 50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6381749"/>
            <a:ext cx="57149" cy="114300"/>
          </a:xfrm>
          <a:noFill/>
          <a:ln w="25400">
            <a:solidFill>
              <a:srgbClr val="0F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375484">
                  <a:alpha val="15000"/>
                </a:srgbClr>
              </a:gs>
              <a:gs pos="100000">
                <a:srgbClr val="37548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5F7CAC">
                  <a:alpha val="10000"/>
                </a:srgbClr>
              </a:gs>
              <a:gs pos="100000">
                <a:srgbClr val="5F7CA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375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375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375484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375484">
                  <a:alpha val="40000"/>
                </a:srgbClr>
              </a:gs>
              <a:gs pos="50000">
                <a:srgbClr val="375484">
                  <a:alpha val="90000"/>
                </a:srgbClr>
              </a:gs>
              <a:gs pos="100000">
                <a:srgbClr val="375484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4506B">
                    <a:alpha val="70000"/>
                  </a:srgbClr>
                </a:solidFill>
                <a:latin typeface="Microsoft YaHei"/>
                <a:ea typeface="Microsoft YaHei"/>
              </a:rPr>
              <a:t>08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B2A4A"/>
                </a:solidFill>
                <a:latin typeface="Microsoft YaHei"/>
                <a:ea typeface="Microsoft YaHei"/>
              </a:rPr>
              <a:t>LSTM 预测模型设计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37548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1219200"/>
          </a:xfrm>
          <a:prstGeom prst="roundRect">
            <a:avLst/>
          </a:prstGeom>
          <a:solidFill>
            <a:srgbClr val="37548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390650"/>
            <a:ext cx="419099" cy="419100"/>
          </a:xfrm>
          <a:prstGeom prst="ellipse">
            <a:avLst/>
          </a:prstGeom>
          <a:noFill/>
          <a:ln w="1905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457325"/>
            <a:ext cx="285749" cy="285750"/>
          </a:xfrm>
          <a:prstGeom prst="ellipse">
            <a:avLst/>
          </a:prstGeom>
          <a:solidFill>
            <a:srgbClr val="37548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4638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375484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375484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12923043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网络结构:两层 LSTM 堆叠,隐藏单元 128,后接全连接层输出次日</a:t>
            </a:r>
          </a:p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取件量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543050"/>
            <a:ext cx="57149" cy="114300"/>
          </a:xfrm>
          <a:noFill/>
          <a:ln w="2540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23241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193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2324100"/>
            <a:ext cx="38099" cy="723900"/>
          </a:xfrm>
          <a:prstGeom prst="roundRect">
            <a:avLst/>
          </a:prstGeom>
          <a:solidFill>
            <a:srgbClr val="193666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2476499"/>
            <a:ext cx="419099" cy="419100"/>
          </a:xfrm>
          <a:prstGeom prst="ellipse">
            <a:avLst/>
          </a:prstGeom>
          <a:noFill/>
          <a:ln w="19050">
            <a:solidFill>
              <a:srgbClr val="193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543175"/>
            <a:ext cx="285749" cy="285750"/>
          </a:xfrm>
          <a:prstGeom prst="ellipse">
            <a:avLst/>
          </a:prstGeom>
          <a:solidFill>
            <a:srgbClr val="193666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5496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19366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667000"/>
            <a:ext cx="76199" cy="76200"/>
          </a:xfrm>
          <a:prstGeom prst="ellipse">
            <a:avLst/>
          </a:prstGeom>
          <a:solidFill>
            <a:srgbClr val="193666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2446781"/>
            <a:ext cx="12837318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输入设计:14 天滑动窗口,每天取件量与 12 维外部特征拼接输入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628900"/>
            <a:ext cx="57149" cy="114300"/>
          </a:xfrm>
          <a:noFill/>
          <a:ln w="25400">
            <a:solidFill>
              <a:srgbClr val="193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31622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5F7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3162299"/>
            <a:ext cx="38099" cy="723900"/>
          </a:xfrm>
          <a:prstGeom prst="roundRect">
            <a:avLst/>
          </a:prstGeom>
          <a:solidFill>
            <a:srgbClr val="5F7CAC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3314700"/>
            <a:ext cx="419099" cy="419100"/>
          </a:xfrm>
          <a:prstGeom prst="ellipse">
            <a:avLst/>
          </a:prstGeom>
          <a:noFill/>
          <a:ln w="19050">
            <a:solidFill>
              <a:srgbClr val="5F7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3381375"/>
            <a:ext cx="285749" cy="285750"/>
          </a:xfrm>
          <a:prstGeom prst="ellipse">
            <a:avLst/>
          </a:prstGeom>
          <a:solidFill>
            <a:srgbClr val="5F7CA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33878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4B689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3505199"/>
            <a:ext cx="76199" cy="76200"/>
          </a:xfrm>
          <a:prstGeom prst="ellipse">
            <a:avLst/>
          </a:prstGeom>
          <a:solidFill>
            <a:srgbClr val="5F7CA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3284982"/>
            <a:ext cx="12387262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正则策略:层间 Dropout 0.2,早停轮数 15,防止小样本过拟合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3467100"/>
            <a:ext cx="57149" cy="114300"/>
          </a:xfrm>
          <a:noFill/>
          <a:ln w="25400">
            <a:solidFill>
              <a:srgbClr val="5F7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40005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4000500"/>
            <a:ext cx="38099" cy="723900"/>
          </a:xfrm>
          <a:prstGeom prst="roundRect">
            <a:avLst/>
          </a:prstGeom>
          <a:solidFill>
            <a:srgbClr val="37548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4152899"/>
            <a:ext cx="419099" cy="419100"/>
          </a:xfrm>
          <a:prstGeom prst="ellipse">
            <a:avLst/>
          </a:prstGeom>
          <a:noFill/>
          <a:ln w="1905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4219575"/>
            <a:ext cx="285749" cy="285750"/>
          </a:xfrm>
          <a:prstGeom prst="ellipse">
            <a:avLst/>
          </a:prstGeom>
          <a:solidFill>
            <a:srgbClr val="37548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4226051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375484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4343400"/>
            <a:ext cx="76199" cy="76200"/>
          </a:xfrm>
          <a:prstGeom prst="ellipse">
            <a:avLst/>
          </a:prstGeom>
          <a:solidFill>
            <a:srgbClr val="375484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4123181"/>
            <a:ext cx="1105852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损失函数:Huber Loss,对双 11 等极端峰值天更加稳健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4305300"/>
            <a:ext cx="57149" cy="114300"/>
          </a:xfrm>
          <a:noFill/>
          <a:ln w="2540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42899" y="48386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193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42899" y="4838699"/>
            <a:ext cx="38099" cy="723900"/>
          </a:xfrm>
          <a:prstGeom prst="roundRect">
            <a:avLst/>
          </a:prstGeom>
          <a:solidFill>
            <a:srgbClr val="193666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8149" y="4991100"/>
            <a:ext cx="419099" cy="419100"/>
          </a:xfrm>
          <a:prstGeom prst="ellipse">
            <a:avLst/>
          </a:prstGeom>
          <a:noFill/>
          <a:ln w="19050">
            <a:solidFill>
              <a:srgbClr val="193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04824" y="5057775"/>
            <a:ext cx="285749" cy="285750"/>
          </a:xfrm>
          <a:prstGeom prst="ellipse">
            <a:avLst/>
          </a:prstGeom>
          <a:solidFill>
            <a:srgbClr val="193666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1949" y="50642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19366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49" name="Oval 48"/>
          <p:cNvSpPr/>
          <p:nvPr/>
        </p:nvSpPr>
        <p:spPr>
          <a:xfrm>
            <a:off x="1009649" y="5181599"/>
            <a:ext cx="76199" cy="76200"/>
          </a:xfrm>
          <a:prstGeom prst="ellipse">
            <a:avLst/>
          </a:prstGeom>
          <a:solidFill>
            <a:srgbClr val="193666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1099" y="4961382"/>
            <a:ext cx="10865643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训练配置:Adam 优化器,初始学习率 0.001,批大小 32</a:t>
            </a:r>
          </a:p>
        </p:txBody>
      </p:sp>
      <p:sp>
        <p:nvSpPr>
          <p:cNvPr id="51" name="Rectangle 50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5143500"/>
            <a:ext cx="57149" cy="114300"/>
          </a:xfrm>
          <a:noFill/>
          <a:ln w="25400">
            <a:solidFill>
              <a:srgbClr val="193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254272">
                  <a:alpha val="15000"/>
                </a:srgbClr>
              </a:gs>
              <a:gs pos="100000">
                <a:srgbClr val="25427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4D6A9A">
                  <a:alpha val="10000"/>
                </a:srgbClr>
              </a:gs>
              <a:gs pos="100000">
                <a:srgbClr val="4D6A9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25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2542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254272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254272">
                  <a:alpha val="40000"/>
                </a:srgbClr>
              </a:gs>
              <a:gs pos="50000">
                <a:srgbClr val="254272">
                  <a:alpha val="90000"/>
                </a:srgbClr>
              </a:gs>
              <a:gs pos="100000">
                <a:srgbClr val="254272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4506B">
                    <a:alpha val="70000"/>
                  </a:srgbClr>
                </a:solidFill>
                <a:latin typeface="Microsoft YaHei"/>
                <a:ea typeface="Microsoft YaHei"/>
              </a:rPr>
              <a:t>09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B2A4A"/>
                </a:solidFill>
                <a:latin typeface="Microsoft YaHei"/>
                <a:ea typeface="Microsoft YaHei"/>
              </a:rPr>
              <a:t>实验环境与参数设置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25427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11506199" cy="47815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5000"/>
                </a:srgbClr>
              </a:gs>
            </a:gsLst>
            <a:lin ang="0" scaled="0"/>
          </a:gradFill>
          <a:ln w="19050">
            <a:solidFill>
              <a:srgbClr val="2542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38099" cy="4781549"/>
          </a:xfrm>
          <a:prstGeom prst="roundRect">
            <a:avLst/>
          </a:prstGeom>
          <a:solidFill>
            <a:srgbClr val="25427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1695449"/>
            <a:ext cx="76199" cy="76200"/>
          </a:xfrm>
          <a:solidFill>
            <a:srgbClr val="25427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8699" y="1608582"/>
            <a:ext cx="3471862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4506B"/>
                </a:solidFill>
                <a:latin typeface="Microsoft YaHei"/>
                <a:ea typeface="Microsoft YaHei"/>
              </a:rPr>
              <a:t>参数|取值|说明</a:t>
            </a:r>
          </a:p>
        </p:txBody>
      </p:sp>
      <p:sp>
        <p:nvSpPr>
          <p:cNvPr id="16" name="Rectangle 15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2381250"/>
            <a:ext cx="76199" cy="76200"/>
          </a:xfrm>
          <a:solidFill>
            <a:srgbClr val="25427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699" y="2294381"/>
            <a:ext cx="8036718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4506B"/>
                </a:solidFill>
                <a:latin typeface="Microsoft YaHei"/>
                <a:ea typeface="Microsoft YaHei"/>
              </a:rPr>
              <a:t>滑动窗口|14 天|覆盖两个完整星期周期</a:t>
            </a:r>
          </a:p>
        </p:txBody>
      </p:sp>
      <p:sp>
        <p:nvSpPr>
          <p:cNvPr id="18" name="Rectangle 17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3067050"/>
            <a:ext cx="76199" cy="76200"/>
          </a:xfrm>
          <a:solidFill>
            <a:srgbClr val="25427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699" y="2980181"/>
            <a:ext cx="7179468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4506B"/>
                </a:solidFill>
                <a:latin typeface="Microsoft YaHei"/>
                <a:ea typeface="Microsoft YaHei"/>
              </a:rPr>
              <a:t>隐藏单元|128|验证集网格搜索选定</a:t>
            </a:r>
          </a:p>
        </p:txBody>
      </p:sp>
      <p:sp>
        <p:nvSpPr>
          <p:cNvPr id="20" name="Rectangle 19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3752849"/>
            <a:ext cx="76199" cy="76200"/>
          </a:xfrm>
          <a:solidFill>
            <a:srgbClr val="25427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699" y="3665981"/>
            <a:ext cx="7693818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4506B"/>
                </a:solidFill>
                <a:latin typeface="Microsoft YaHei"/>
                <a:ea typeface="Microsoft YaHei"/>
              </a:rPr>
              <a:t>网络层数|2 层 LSTM|加深无显著收益</a:t>
            </a:r>
          </a:p>
        </p:txBody>
      </p:sp>
      <p:sp>
        <p:nvSpPr>
          <p:cNvPr id="22" name="Rectangle 21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4438649"/>
            <a:ext cx="76199" cy="76200"/>
          </a:xfrm>
          <a:solidFill>
            <a:srgbClr val="25427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699" y="4351782"/>
            <a:ext cx="540067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4506B"/>
                </a:solidFill>
                <a:latin typeface="Microsoft YaHei"/>
                <a:ea typeface="Microsoft YaHei"/>
              </a:rPr>
              <a:t>Dropout|0.2|抑制过拟合</a:t>
            </a:r>
          </a:p>
        </p:txBody>
      </p:sp>
      <p:sp>
        <p:nvSpPr>
          <p:cNvPr id="24" name="Rectangle 23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5124449"/>
            <a:ext cx="76199" cy="76200"/>
          </a:xfrm>
          <a:solidFill>
            <a:srgbClr val="25427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699" y="5037582"/>
            <a:ext cx="9236868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4506B"/>
                </a:solidFill>
                <a:latin typeface="Microsoft YaHei"/>
                <a:ea typeface="Microsoft YaHei"/>
              </a:rPr>
              <a:t>优化器|Adam(0.001)|批大小 32,早停 15 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375484">
                  <a:alpha val="15000"/>
                </a:srgbClr>
              </a:gs>
              <a:gs pos="100000">
                <a:srgbClr val="37548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5F7CAC">
                  <a:alpha val="10000"/>
                </a:srgbClr>
              </a:gs>
              <a:gs pos="100000">
                <a:srgbClr val="5F7CA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375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375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375484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375484">
                  <a:alpha val="40000"/>
                </a:srgbClr>
              </a:gs>
              <a:gs pos="50000">
                <a:srgbClr val="375484">
                  <a:alpha val="90000"/>
                </a:srgbClr>
              </a:gs>
              <a:gs pos="100000">
                <a:srgbClr val="375484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4506B">
                    <a:alpha val="70000"/>
                  </a:srgbClr>
                </a:solidFill>
                <a:latin typeface="Microsoft YaHei"/>
                <a:ea typeface="Microsoft YaHei"/>
              </a:rPr>
              <a:t>10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B2A4A"/>
                </a:solidFill>
                <a:latin typeface="Microsoft YaHei"/>
                <a:ea typeface="Microsoft YaHei"/>
              </a:rPr>
              <a:t>整体预测性能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37548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27050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5000"/>
                </a:srgbClr>
              </a:gs>
            </a:gsLst>
            <a:lin ang="0" scaled="0"/>
          </a:gradFill>
          <a:ln w="1905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2705099" cy="38100"/>
          </a:xfrm>
          <a:prstGeom prst="roundRect">
            <a:avLst/>
          </a:prstGeom>
          <a:solidFill>
            <a:srgbClr val="37548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38274" y="1552574"/>
            <a:ext cx="514349" cy="514350"/>
          </a:xfrm>
          <a:prstGeom prst="ellipse">
            <a:avLst/>
          </a:prstGeom>
          <a:noFill/>
          <a:ln w="1270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76374" y="1590675"/>
            <a:ext cx="438149" cy="438149"/>
          </a:xfrm>
          <a:prstGeom prst="ellipse">
            <a:avLst/>
          </a:prstGeom>
          <a:solidFill>
            <a:srgbClr val="37548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0969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375484">
                    <a:alpha val="90000"/>
                  </a:srgbClr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custGeom>
            <a:pathLst>
              <a:path w="2451099" h="285750">
                <a:moveTo>
                  <a:pt x="0" y="285750"/>
                </a:moveTo>
                <a:cubicBezTo>
                  <a:pt x="469899" y="158750"/>
                  <a:pt x="1006474" y="126999"/>
                  <a:pt x="1609724" y="190499"/>
                </a:cubicBezTo>
                <a:cubicBezTo>
                  <a:pt x="2212974" y="254000"/>
                  <a:pt x="2451099" y="190499"/>
                  <a:pt x="2324099" y="0"/>
                </a:cubicBezTo>
              </a:path>
            </a:pathLst>
          </a:custGeom>
          <a:xfrm>
            <a:off x="533399" y="4038599"/>
            <a:ext cx="2451099" cy="285750"/>
          </a:xfrm>
          <a:noFill/>
          <a:ln w="2540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28924" y="4010024"/>
            <a:ext cx="57149" cy="57150"/>
          </a:xfrm>
          <a:prstGeom prst="ellipse">
            <a:avLst/>
          </a:prstGeom>
          <a:solidFill>
            <a:srgbClr val="37548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590" y="2582798"/>
            <a:ext cx="2321718" cy="619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900" b="1">
                <a:latin typeface="Microsoft YaHei"/>
                <a:ea typeface="Microsoft YaHei"/>
              </a:rPr>
              <a:t>12.4%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2418" y="4166615"/>
            <a:ext cx="2786062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44506B">
                    <a:alpha val="90000"/>
                  </a:srgbClr>
                </a:solidFill>
                <a:latin typeface="Microsoft YaHei"/>
                <a:ea typeface="Microsoft YaHei"/>
              </a:rPr>
              <a:t>平均绝对误差相对基线下降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76599" y="1371600"/>
            <a:ext cx="27050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5000"/>
                </a:srgbClr>
              </a:gs>
            </a:gsLst>
            <a:lin ang="0" scaled="0"/>
          </a:gradFill>
          <a:ln w="19050">
            <a:solidFill>
              <a:srgbClr val="143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76599" y="1371600"/>
            <a:ext cx="2705099" cy="38100"/>
          </a:xfrm>
          <a:prstGeom prst="roundRect">
            <a:avLst/>
          </a:prstGeom>
          <a:solidFill>
            <a:srgbClr val="14316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71974" y="1552574"/>
            <a:ext cx="514349" cy="514350"/>
          </a:xfrm>
          <a:prstGeom prst="ellipse">
            <a:avLst/>
          </a:prstGeom>
          <a:noFill/>
          <a:ln w="12700">
            <a:solidFill>
              <a:srgbClr val="143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10074" y="1590675"/>
            <a:ext cx="438149" cy="438149"/>
          </a:xfrm>
          <a:prstGeom prst="ellipse">
            <a:avLst/>
          </a:prstGeom>
          <a:solidFill>
            <a:srgbClr val="14316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39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143161">
                    <a:alpha val="90000"/>
                  </a:srgbClr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6" name="Rectangle 25"/>
          <p:cNvSpPr/>
          <p:nvPr/>
        </p:nvSpPr>
        <p:spPr>
          <a:custGeom>
            <a:pathLst>
              <a:path w="2451099" h="285750">
                <a:moveTo>
                  <a:pt x="0" y="285750"/>
                </a:moveTo>
                <a:cubicBezTo>
                  <a:pt x="469899" y="158750"/>
                  <a:pt x="1006474" y="126999"/>
                  <a:pt x="1609724" y="190499"/>
                </a:cubicBezTo>
                <a:cubicBezTo>
                  <a:pt x="2212974" y="254000"/>
                  <a:pt x="2451099" y="190499"/>
                  <a:pt x="2324099" y="0"/>
                </a:cubicBezTo>
              </a:path>
            </a:pathLst>
          </a:custGeom>
          <a:xfrm>
            <a:off x="3467099" y="4038599"/>
            <a:ext cx="2451099" cy="285750"/>
          </a:xfrm>
          <a:noFill/>
          <a:ln w="25400">
            <a:solidFill>
              <a:srgbClr val="143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62624" y="4010024"/>
            <a:ext cx="57149" cy="57150"/>
          </a:xfrm>
          <a:prstGeom prst="ellipse">
            <a:avLst/>
          </a:prstGeom>
          <a:solidFill>
            <a:srgbClr val="14316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8549" y="2582798"/>
            <a:ext cx="1981200" cy="619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900" b="1">
                <a:latin typeface="Microsoft YaHei"/>
                <a:ea typeface="Microsoft YaHei"/>
              </a:rPr>
              <a:t>0.91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95092" y="4166615"/>
            <a:ext cx="2068115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44506B">
                    <a:alpha val="90000"/>
                  </a:srgbClr>
                </a:solidFill>
                <a:latin typeface="Microsoft YaHei"/>
                <a:ea typeface="Microsoft YaHei"/>
              </a:rPr>
              <a:t>测试集拟合优度 R²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0299" y="1371600"/>
            <a:ext cx="27050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5000"/>
                </a:srgbClr>
              </a:gs>
            </a:gsLst>
            <a:lin ang="0" scaled="0"/>
          </a:gradFill>
          <a:ln w="19050">
            <a:solidFill>
              <a:srgbClr val="648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10299" y="1371600"/>
            <a:ext cx="2705099" cy="38100"/>
          </a:xfrm>
          <a:prstGeom prst="roundRect">
            <a:avLst/>
          </a:prstGeom>
          <a:solidFill>
            <a:srgbClr val="6481B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5674" y="1552574"/>
            <a:ext cx="514349" cy="514350"/>
          </a:xfrm>
          <a:prstGeom prst="ellipse">
            <a:avLst/>
          </a:prstGeom>
          <a:noFill/>
          <a:ln w="12700">
            <a:solidFill>
              <a:srgbClr val="648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43774" y="1590675"/>
            <a:ext cx="438149" cy="438149"/>
          </a:xfrm>
          <a:prstGeom prst="ellipse">
            <a:avLst/>
          </a:prstGeom>
          <a:solidFill>
            <a:srgbClr val="6481B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709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4B6898">
                    <a:alpha val="90000"/>
                  </a:srgbClr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2451099" h="285750">
                <a:moveTo>
                  <a:pt x="0" y="285750"/>
                </a:moveTo>
                <a:cubicBezTo>
                  <a:pt x="469899" y="158750"/>
                  <a:pt x="1006474" y="126999"/>
                  <a:pt x="1609724" y="190499"/>
                </a:cubicBezTo>
                <a:cubicBezTo>
                  <a:pt x="2212974" y="254000"/>
                  <a:pt x="2451099" y="190499"/>
                  <a:pt x="2324099" y="0"/>
                </a:cubicBezTo>
              </a:path>
            </a:pathLst>
          </a:custGeom>
          <a:xfrm>
            <a:off x="6400799" y="4038599"/>
            <a:ext cx="2451099" cy="285750"/>
          </a:xfrm>
          <a:noFill/>
          <a:ln w="25400">
            <a:solidFill>
              <a:srgbClr val="648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96324" y="4010024"/>
            <a:ext cx="57149" cy="57150"/>
          </a:xfrm>
          <a:prstGeom prst="ellipse">
            <a:avLst/>
          </a:prstGeom>
          <a:solidFill>
            <a:srgbClr val="6481B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72249" y="2582798"/>
            <a:ext cx="1981200" cy="619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900" b="1">
                <a:latin typeface="Microsoft YaHei"/>
                <a:ea typeface="Microsoft YaHei"/>
              </a:rPr>
              <a:t>6.8%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4131" y="4166615"/>
            <a:ext cx="2357437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44506B">
                    <a:alpha val="90000"/>
                  </a:srgbClr>
                </a:solidFill>
                <a:latin typeface="Microsoft YaHei"/>
                <a:ea typeface="Microsoft YaHei"/>
              </a:rPr>
              <a:t>平均绝对百分比误差仅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3999" y="1371600"/>
            <a:ext cx="27050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5000"/>
                </a:srgbClr>
              </a:gs>
            </a:gsLst>
            <a:lin ang="0" scaled="0"/>
          </a:gradFill>
          <a:ln w="19050">
            <a:solidFill>
              <a:srgbClr val="284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43999" y="1371600"/>
            <a:ext cx="2705099" cy="38100"/>
          </a:xfrm>
          <a:prstGeom prst="roundRect">
            <a:avLst/>
          </a:prstGeom>
          <a:solidFill>
            <a:srgbClr val="284575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239374" y="1552574"/>
            <a:ext cx="514349" cy="514350"/>
          </a:xfrm>
          <a:prstGeom prst="ellipse">
            <a:avLst/>
          </a:prstGeom>
          <a:noFill/>
          <a:ln w="12700">
            <a:solidFill>
              <a:srgbClr val="284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77474" y="1590675"/>
            <a:ext cx="438149" cy="438149"/>
          </a:xfrm>
          <a:prstGeom prst="ellipse">
            <a:avLst/>
          </a:prstGeom>
          <a:solidFill>
            <a:srgbClr val="28457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1079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284575">
                    <a:alpha val="90000"/>
                  </a:srgbClr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44" name="Rectangle 43"/>
          <p:cNvSpPr/>
          <p:nvPr/>
        </p:nvSpPr>
        <p:spPr>
          <a:custGeom>
            <a:pathLst>
              <a:path w="2451099" h="285750">
                <a:moveTo>
                  <a:pt x="0" y="285750"/>
                </a:moveTo>
                <a:cubicBezTo>
                  <a:pt x="469899" y="158750"/>
                  <a:pt x="1006474" y="126999"/>
                  <a:pt x="1609724" y="190499"/>
                </a:cubicBezTo>
                <a:cubicBezTo>
                  <a:pt x="2212974" y="254000"/>
                  <a:pt x="2451099" y="190499"/>
                  <a:pt x="2324099" y="0"/>
                </a:cubicBezTo>
              </a:path>
            </a:pathLst>
          </a:custGeom>
          <a:xfrm>
            <a:off x="9334499" y="4038599"/>
            <a:ext cx="2451099" cy="285750"/>
          </a:xfrm>
          <a:noFill/>
          <a:ln w="25400">
            <a:solidFill>
              <a:srgbClr val="284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30024" y="4010024"/>
            <a:ext cx="57149" cy="57150"/>
          </a:xfrm>
          <a:prstGeom prst="ellipse">
            <a:avLst/>
          </a:prstGeom>
          <a:solidFill>
            <a:srgbClr val="28457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05949" y="2582798"/>
            <a:ext cx="1981200" cy="619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900" b="1">
                <a:latin typeface="Microsoft YaHei"/>
                <a:ea typeface="Microsoft YaHei"/>
              </a:rPr>
              <a:t>8.2%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24987" y="4166615"/>
            <a:ext cx="2143125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44506B">
                    <a:alpha val="90000"/>
                  </a:srgbClr>
                </a:solidFill>
                <a:latin typeface="Microsoft YaHei"/>
                <a:ea typeface="Microsoft YaHei"/>
              </a:rPr>
              <a:t>促销峰值日预测误差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2D4A7A">
                  <a:alpha val="15000"/>
                </a:srgbClr>
              </a:gs>
              <a:gs pos="100000">
                <a:srgbClr val="2D4A7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5572A2">
                  <a:alpha val="10000"/>
                </a:srgbClr>
              </a:gs>
              <a:gs pos="100000">
                <a:srgbClr val="5572A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2D4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2D4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2D4A7A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2D4A7A">
                  <a:alpha val="40000"/>
                </a:srgbClr>
              </a:gs>
              <a:gs pos="50000">
                <a:srgbClr val="2D4A7A">
                  <a:alpha val="90000"/>
                </a:srgbClr>
              </a:gs>
              <a:gs pos="100000">
                <a:srgbClr val="2D4A7A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4506B">
                    <a:alpha val="70000"/>
                  </a:srgbClr>
                </a:solidFill>
                <a:latin typeface="Microsoft YaHei"/>
                <a:ea typeface="Microsoft YaHei"/>
              </a:rPr>
              <a:t>11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B2A4A"/>
                </a:solidFill>
                <a:latin typeface="Microsoft YaHei"/>
                <a:ea typeface="Microsoft YaHei"/>
              </a:rPr>
              <a:t>基线模型评估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2D4A7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723900"/>
          </a:xfrm>
          <a:prstGeom prst="roundRect">
            <a:avLst/>
          </a:prstGeom>
          <a:solidFill>
            <a:srgbClr val="2D4A7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143000"/>
            <a:ext cx="419099" cy="419100"/>
          </a:xfrm>
          <a:prstGeom prst="ellipse">
            <a:avLst/>
          </a:prstGeom>
          <a:noFill/>
          <a:ln w="1905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209674"/>
            <a:ext cx="285749" cy="285750"/>
          </a:xfrm>
          <a:prstGeom prst="ellipse">
            <a:avLst/>
          </a:prstGeom>
          <a:solidFill>
            <a:srgbClr val="2D4A7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2161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D4A7A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2D4A7A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10265568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移动平均:R² 0.76,完全无法响应促销与节假日波动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295399"/>
            <a:ext cx="57149" cy="114300"/>
          </a:xfrm>
          <a:noFill/>
          <a:ln w="2540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18288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0F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1828800"/>
            <a:ext cx="38099" cy="723900"/>
          </a:xfrm>
          <a:prstGeom prst="roundRect">
            <a:avLst/>
          </a:prstGeom>
          <a:solidFill>
            <a:srgbClr val="0F2C5C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1981199"/>
            <a:ext cx="419099" cy="419100"/>
          </a:xfrm>
          <a:prstGeom prst="ellipse">
            <a:avLst/>
          </a:prstGeom>
          <a:noFill/>
          <a:ln w="19050">
            <a:solidFill>
              <a:srgbClr val="0F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047874"/>
            <a:ext cx="285749" cy="285750"/>
          </a:xfrm>
          <a:prstGeom prst="ellipse">
            <a:avLst/>
          </a:prstGeom>
          <a:solidFill>
            <a:srgbClr val="0F2C5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0543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0F2C5C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171700"/>
            <a:ext cx="76199" cy="76200"/>
          </a:xfrm>
          <a:prstGeom prst="ellipse">
            <a:avLst/>
          </a:prstGeom>
          <a:solidFill>
            <a:srgbClr val="0F2C5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1951481"/>
            <a:ext cx="11680031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ARIMA:R² 0.83,平稳周内规律拟合良好,峰值日系统性低估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133599"/>
            <a:ext cx="57149" cy="114300"/>
          </a:xfrm>
          <a:noFill/>
          <a:ln w="25400">
            <a:solidFill>
              <a:srgbClr val="0F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26670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557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2667000"/>
            <a:ext cx="38099" cy="723900"/>
          </a:xfrm>
          <a:prstGeom prst="roundRect">
            <a:avLst/>
          </a:prstGeom>
          <a:solidFill>
            <a:srgbClr val="5572A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2819399"/>
            <a:ext cx="419099" cy="419100"/>
          </a:xfrm>
          <a:prstGeom prst="ellipse">
            <a:avLst/>
          </a:prstGeom>
          <a:noFill/>
          <a:ln w="19050">
            <a:solidFill>
              <a:srgbClr val="557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2886075"/>
            <a:ext cx="285749" cy="285750"/>
          </a:xfrm>
          <a:prstGeom prst="ellipse">
            <a:avLst/>
          </a:prstGeom>
          <a:solidFill>
            <a:srgbClr val="5572A2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28925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4B689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3009900"/>
            <a:ext cx="76199" cy="76200"/>
          </a:xfrm>
          <a:prstGeom prst="ellipse">
            <a:avLst/>
          </a:prstGeom>
          <a:solidFill>
            <a:srgbClr val="5572A2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2789681"/>
            <a:ext cx="10479881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GRU:R² 0.89,与 LSTM 接近,但高峰日误差波动更大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971800"/>
            <a:ext cx="57149" cy="114300"/>
          </a:xfrm>
          <a:noFill/>
          <a:ln w="25400">
            <a:solidFill>
              <a:srgbClr val="557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35051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3505199"/>
            <a:ext cx="38099" cy="723900"/>
          </a:xfrm>
          <a:prstGeom prst="roundRect">
            <a:avLst/>
          </a:prstGeom>
          <a:solidFill>
            <a:srgbClr val="2D4A7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3657600"/>
            <a:ext cx="419099" cy="419100"/>
          </a:xfrm>
          <a:prstGeom prst="ellipse">
            <a:avLst/>
          </a:prstGeom>
          <a:noFill/>
          <a:ln w="1905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3724274"/>
            <a:ext cx="285749" cy="285750"/>
          </a:xfrm>
          <a:prstGeom prst="ellipse">
            <a:avLst/>
          </a:prstGeom>
          <a:solidFill>
            <a:srgbClr val="2D4A7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37307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D4A7A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3848099"/>
            <a:ext cx="76199" cy="76200"/>
          </a:xfrm>
          <a:prstGeom prst="ellipse">
            <a:avLst/>
          </a:prstGeom>
          <a:solidFill>
            <a:srgbClr val="2D4A7A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3627882"/>
            <a:ext cx="9729787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两层 LSTM:R² 0.91,在全部三个驿站上均为最优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3809999"/>
            <a:ext cx="57149" cy="114300"/>
          </a:xfrm>
          <a:noFill/>
          <a:ln w="2540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375484">
                  <a:alpha val="15000"/>
                </a:srgbClr>
              </a:gs>
              <a:gs pos="100000">
                <a:srgbClr val="37548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5F7CAC">
                  <a:alpha val="10000"/>
                </a:srgbClr>
              </a:gs>
              <a:gs pos="100000">
                <a:srgbClr val="5F7CA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375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375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375484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375484">
                  <a:alpha val="40000"/>
                </a:srgbClr>
              </a:gs>
              <a:gs pos="50000">
                <a:srgbClr val="375484">
                  <a:alpha val="90000"/>
                </a:srgbClr>
              </a:gs>
              <a:gs pos="100000">
                <a:srgbClr val="375484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4506B">
                    <a:alpha val="70000"/>
                  </a:srgbClr>
                </a:solidFill>
                <a:latin typeface="Microsoft YaHei"/>
                <a:ea typeface="Microsoft YaHei"/>
              </a:rPr>
              <a:t>12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B2A4A"/>
                </a:solidFill>
                <a:latin typeface="Microsoft YaHei"/>
                <a:ea typeface="Microsoft YaHei"/>
              </a:rPr>
              <a:t>预测误差分析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37548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11506199" cy="340995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5000"/>
                </a:srgbClr>
              </a:gs>
            </a:gsLst>
            <a:lin ang="0" scaled="0"/>
          </a:gradFill>
          <a:ln w="1905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38099" cy="3409950"/>
          </a:xfrm>
          <a:prstGeom prst="roundRect">
            <a:avLst/>
          </a:prstGeom>
          <a:solidFill>
            <a:srgbClr val="37548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1695449"/>
            <a:ext cx="76199" cy="76200"/>
          </a:xfrm>
          <a:solidFill>
            <a:srgbClr val="37548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8699" y="1608582"/>
            <a:ext cx="12451556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4506B"/>
                </a:solidFill>
                <a:latin typeface="Microsoft YaHei"/>
                <a:ea typeface="Microsoft YaHei"/>
              </a:rPr>
              <a:t>误差集中:全年误差最大的 5 天全部落在双 11、618 与开学周</a:t>
            </a:r>
          </a:p>
        </p:txBody>
      </p:sp>
      <p:sp>
        <p:nvSpPr>
          <p:cNvPr id="16" name="Rectangle 15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2381250"/>
            <a:ext cx="76199" cy="76200"/>
          </a:xfrm>
          <a:solidFill>
            <a:srgbClr val="37548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699" y="2294381"/>
            <a:ext cx="12901612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4506B"/>
                </a:solidFill>
                <a:latin typeface="Microsoft YaHei"/>
                <a:ea typeface="Microsoft YaHei"/>
              </a:rPr>
              <a:t>天气影响:雨雪天取件量下降但次日回补,模型对回补幅度略有低估</a:t>
            </a:r>
          </a:p>
        </p:txBody>
      </p:sp>
      <p:sp>
        <p:nvSpPr>
          <p:cNvPr id="18" name="Rectangle 17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3067050"/>
            <a:ext cx="76199" cy="76200"/>
          </a:xfrm>
          <a:solidFill>
            <a:srgbClr val="37548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699" y="2980181"/>
            <a:ext cx="13758862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4506B"/>
                </a:solidFill>
                <a:latin typeface="Microsoft YaHei"/>
                <a:ea typeface="Microsoft YaHei"/>
              </a:rPr>
              <a:t>站点差异:宿舍区驿站规律性强误差小,教学区驿站受课表扰动误差偏大</a:t>
            </a:r>
          </a:p>
        </p:txBody>
      </p:sp>
      <p:sp>
        <p:nvSpPr>
          <p:cNvPr id="20" name="Rectangle 19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3752849"/>
            <a:ext cx="76199" cy="76200"/>
          </a:xfrm>
          <a:solidFill>
            <a:srgbClr val="37548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699" y="3665981"/>
            <a:ext cx="12901612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4506B"/>
                </a:solidFill>
                <a:latin typeface="Microsoft YaHei"/>
                <a:ea typeface="Microsoft YaHei"/>
              </a:rPr>
              <a:t>改进方向:引入快递入库量作为先行指标,可进一步压缩峰值日误差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2D4A7A">
                  <a:alpha val="15000"/>
                </a:srgbClr>
              </a:gs>
              <a:gs pos="100000">
                <a:srgbClr val="2D4A7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5572A2">
                  <a:alpha val="10000"/>
                </a:srgbClr>
              </a:gs>
              <a:gs pos="100000">
                <a:srgbClr val="5572A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2D4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2D4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2D4A7A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2D4A7A">
                  <a:alpha val="40000"/>
                </a:srgbClr>
              </a:gs>
              <a:gs pos="50000">
                <a:srgbClr val="2D4A7A">
                  <a:alpha val="90000"/>
                </a:srgbClr>
              </a:gs>
              <a:gs pos="100000">
                <a:srgbClr val="2D4A7A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4506B">
                    <a:alpha val="70000"/>
                  </a:srgbClr>
                </a:solidFill>
                <a:latin typeface="Microsoft YaHei"/>
                <a:ea typeface="Microsoft YaHei"/>
              </a:rPr>
              <a:t>13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B2A4A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2D4A7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1219200"/>
          </a:xfrm>
          <a:prstGeom prst="roundRect">
            <a:avLst/>
          </a:prstGeom>
          <a:solidFill>
            <a:srgbClr val="2D4A7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390650"/>
            <a:ext cx="419099" cy="419100"/>
          </a:xfrm>
          <a:prstGeom prst="ellipse">
            <a:avLst/>
          </a:prstGeom>
          <a:noFill/>
          <a:ln w="1905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457325"/>
            <a:ext cx="285749" cy="285750"/>
          </a:xfrm>
          <a:prstGeom prst="ellipse">
            <a:avLst/>
          </a:prstGeom>
          <a:solidFill>
            <a:srgbClr val="2D4A7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4638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D4A7A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2D4A7A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13265943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构建了覆盖 22 个月、41.6 万条记录的校园驿站取件量数据集与特</a:t>
            </a:r>
          </a:p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征体系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543050"/>
            <a:ext cx="57149" cy="114300"/>
          </a:xfrm>
          <a:noFill/>
          <a:ln w="2540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2324100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0F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2324100"/>
            <a:ext cx="38099" cy="1219200"/>
          </a:xfrm>
          <a:prstGeom prst="roundRect">
            <a:avLst/>
          </a:prstGeom>
          <a:solidFill>
            <a:srgbClr val="0F2C5C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2724150"/>
            <a:ext cx="419099" cy="419100"/>
          </a:xfrm>
          <a:prstGeom prst="ellipse">
            <a:avLst/>
          </a:prstGeom>
          <a:noFill/>
          <a:ln w="19050">
            <a:solidFill>
              <a:srgbClr val="0F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790824"/>
            <a:ext cx="285749" cy="285750"/>
          </a:xfrm>
          <a:prstGeom prst="ellipse">
            <a:avLst/>
          </a:prstGeom>
          <a:solidFill>
            <a:srgbClr val="0F2C5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7973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0F2C5C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667000"/>
            <a:ext cx="76199" cy="76200"/>
          </a:xfrm>
          <a:prstGeom prst="ellipse">
            <a:avLst/>
          </a:prstGeom>
          <a:solidFill>
            <a:srgbClr val="0F2C5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2446781"/>
            <a:ext cx="13201650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两层 LSTM 联合外部事件特征,测试集 R² 0.91,显著优于统计与机</a:t>
            </a:r>
          </a:p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器学习基线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876549"/>
            <a:ext cx="57149" cy="114300"/>
          </a:xfrm>
          <a:noFill/>
          <a:ln w="25400">
            <a:solidFill>
              <a:srgbClr val="0F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3657600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557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3657600"/>
            <a:ext cx="38099" cy="1219200"/>
          </a:xfrm>
          <a:prstGeom prst="roundRect">
            <a:avLst/>
          </a:prstGeom>
          <a:solidFill>
            <a:srgbClr val="5572A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4057650"/>
            <a:ext cx="419099" cy="419100"/>
          </a:xfrm>
          <a:prstGeom prst="ellipse">
            <a:avLst/>
          </a:prstGeom>
          <a:noFill/>
          <a:ln w="19050">
            <a:solidFill>
              <a:srgbClr val="557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4124324"/>
            <a:ext cx="285749" cy="285750"/>
          </a:xfrm>
          <a:prstGeom prst="ellipse">
            <a:avLst/>
          </a:prstGeom>
          <a:solidFill>
            <a:srgbClr val="5572A2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41308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4B689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4000500"/>
            <a:ext cx="76199" cy="76200"/>
          </a:xfrm>
          <a:prstGeom prst="ellipse">
            <a:avLst/>
          </a:prstGeom>
          <a:solidFill>
            <a:srgbClr val="5572A2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3780281"/>
            <a:ext cx="13330237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预测结果已支撑试点驿站排班:高峰日兼职班次提前一天确定,排队时</a:t>
            </a:r>
          </a:p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长明显缓解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4210049"/>
            <a:ext cx="57149" cy="114300"/>
          </a:xfrm>
          <a:noFill/>
          <a:ln w="25400">
            <a:solidFill>
              <a:srgbClr val="557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49911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4991100"/>
            <a:ext cx="38099" cy="723900"/>
          </a:xfrm>
          <a:prstGeom prst="roundRect">
            <a:avLst/>
          </a:prstGeom>
          <a:solidFill>
            <a:srgbClr val="2D4A7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5143500"/>
            <a:ext cx="419099" cy="419100"/>
          </a:xfrm>
          <a:prstGeom prst="ellipse">
            <a:avLst/>
          </a:prstGeom>
          <a:noFill/>
          <a:ln w="1905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5210174"/>
            <a:ext cx="285749" cy="285750"/>
          </a:xfrm>
          <a:prstGeom prst="ellipse">
            <a:avLst/>
          </a:prstGeom>
          <a:solidFill>
            <a:srgbClr val="2D4A7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52166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D4A7A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5334000"/>
            <a:ext cx="76199" cy="76200"/>
          </a:xfrm>
          <a:prstGeom prst="ellipse">
            <a:avLst/>
          </a:prstGeom>
          <a:solidFill>
            <a:srgbClr val="2D4A7A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5113782"/>
            <a:ext cx="1071562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验证了深度时序模型在校园资源调度场景的工程可行性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5295899"/>
            <a:ext cx="57149" cy="114300"/>
          </a:xfrm>
          <a:noFill/>
          <a:ln w="2540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375484">
                  <a:alpha val="15000"/>
                </a:srgbClr>
              </a:gs>
              <a:gs pos="100000">
                <a:srgbClr val="37548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5F7CAC">
                  <a:alpha val="10000"/>
                </a:srgbClr>
              </a:gs>
              <a:gs pos="100000">
                <a:srgbClr val="5F7CA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375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375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375484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375484">
                  <a:alpha val="40000"/>
                </a:srgbClr>
              </a:gs>
              <a:gs pos="50000">
                <a:srgbClr val="375484">
                  <a:alpha val="90000"/>
                </a:srgbClr>
              </a:gs>
              <a:gs pos="100000">
                <a:srgbClr val="375484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4506B">
                    <a:alpha val="70000"/>
                  </a:srgbClr>
                </a:solidFill>
                <a:latin typeface="Microsoft YaHei"/>
                <a:ea typeface="Microsoft YaHei"/>
              </a:rPr>
              <a:t>14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B2A4A"/>
                </a:solidFill>
                <a:latin typeface="Microsoft YaHei"/>
                <a:ea typeface="Microsoft YaHei"/>
              </a:rPr>
              <a:t>主要创新点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37548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11506199" cy="30861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5000"/>
                </a:srgbClr>
              </a:gs>
            </a:gsLst>
            <a:lin ang="0" scaled="0"/>
          </a:gradFill>
          <a:ln w="1905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38099" cy="3086100"/>
          </a:xfrm>
          <a:prstGeom prst="roundRect">
            <a:avLst/>
          </a:prstGeom>
          <a:solidFill>
            <a:srgbClr val="37548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1695449"/>
            <a:ext cx="76199" cy="76200"/>
          </a:xfrm>
          <a:solidFill>
            <a:srgbClr val="37548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8699" y="1608582"/>
            <a:ext cx="11379993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4506B"/>
                </a:solidFill>
                <a:latin typeface="Microsoft YaHei"/>
                <a:ea typeface="Microsoft YaHei"/>
              </a:rPr>
              <a:t>场景创新:首个面向校园快递驿站的取件量预测系统性研究</a:t>
            </a:r>
          </a:p>
        </p:txBody>
      </p:sp>
      <p:sp>
        <p:nvSpPr>
          <p:cNvPr id="16" name="Rectangle 15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2381250"/>
            <a:ext cx="76199" cy="76200"/>
          </a:xfrm>
          <a:solidFill>
            <a:srgbClr val="37548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699" y="2294381"/>
            <a:ext cx="12237243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4506B"/>
                </a:solidFill>
                <a:latin typeface="Microsoft YaHei"/>
                <a:ea typeface="Microsoft YaHei"/>
              </a:rPr>
              <a:t>特征创新:节假日、天气、促销事件与课表周期的联合编码方案</a:t>
            </a:r>
          </a:p>
        </p:txBody>
      </p:sp>
      <p:sp>
        <p:nvSpPr>
          <p:cNvPr id="18" name="Rectangle 17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3067050"/>
            <a:ext cx="76199" cy="76200"/>
          </a:xfrm>
          <a:solidFill>
            <a:srgbClr val="37548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699" y="2980181"/>
            <a:ext cx="11379993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4506B"/>
                </a:solidFill>
                <a:latin typeface="Microsoft YaHei"/>
                <a:ea typeface="Microsoft YaHei"/>
              </a:rPr>
              <a:t>工程创新:从原始记录到次日预测报表的全流程自动化管道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2D4A7A">
                  <a:alpha val="15000"/>
                </a:srgbClr>
              </a:gs>
              <a:gs pos="100000">
                <a:srgbClr val="2D4A7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5572A2">
                  <a:alpha val="10000"/>
                </a:srgbClr>
              </a:gs>
              <a:gs pos="100000">
                <a:srgbClr val="5572A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2D4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2D4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2D4A7A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2D4A7A">
                  <a:alpha val="40000"/>
                </a:srgbClr>
              </a:gs>
              <a:gs pos="50000">
                <a:srgbClr val="2D4A7A">
                  <a:alpha val="90000"/>
                </a:srgbClr>
              </a:gs>
              <a:gs pos="100000">
                <a:srgbClr val="2D4A7A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4506B">
                    <a:alpha val="70000"/>
                  </a:srgbClr>
                </a:solidFill>
                <a:latin typeface="Microsoft YaHei"/>
                <a:ea typeface="Microsoft YaHei"/>
              </a:rPr>
              <a:t>15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B2A4A"/>
                </a:solidFill>
                <a:latin typeface="Microsoft YaHei"/>
                <a:ea typeface="Microsoft YaHei"/>
              </a:rPr>
              <a:t>不足与展望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2D4A7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723900"/>
          </a:xfrm>
          <a:prstGeom prst="roundRect">
            <a:avLst/>
          </a:prstGeom>
          <a:solidFill>
            <a:srgbClr val="2D4A7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143000"/>
            <a:ext cx="419099" cy="419100"/>
          </a:xfrm>
          <a:prstGeom prst="ellipse">
            <a:avLst/>
          </a:prstGeom>
          <a:noFill/>
          <a:ln w="1905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209674"/>
            <a:ext cx="285749" cy="285750"/>
          </a:xfrm>
          <a:prstGeom prst="ellipse">
            <a:avLst/>
          </a:prstGeom>
          <a:solidFill>
            <a:srgbClr val="2D4A7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2161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D4A7A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2D4A7A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12322968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样本局限:数据来自单一高校 3 个驿站,跨校泛化能力有待验证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295399"/>
            <a:ext cx="57149" cy="114300"/>
          </a:xfrm>
          <a:noFill/>
          <a:ln w="2540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18288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0F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1828800"/>
            <a:ext cx="38099" cy="723900"/>
          </a:xfrm>
          <a:prstGeom prst="roundRect">
            <a:avLst/>
          </a:prstGeom>
          <a:solidFill>
            <a:srgbClr val="0F2C5C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1981199"/>
            <a:ext cx="419099" cy="419100"/>
          </a:xfrm>
          <a:prstGeom prst="ellipse">
            <a:avLst/>
          </a:prstGeom>
          <a:noFill/>
          <a:ln w="19050">
            <a:solidFill>
              <a:srgbClr val="0F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047874"/>
            <a:ext cx="285749" cy="285750"/>
          </a:xfrm>
          <a:prstGeom prst="ellipse">
            <a:avLst/>
          </a:prstGeom>
          <a:solidFill>
            <a:srgbClr val="0F2C5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0543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0F2C5C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171700"/>
            <a:ext cx="76199" cy="76200"/>
          </a:xfrm>
          <a:prstGeom prst="ellipse">
            <a:avLst/>
          </a:prstGeom>
          <a:solidFill>
            <a:srgbClr val="0F2C5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1951481"/>
            <a:ext cx="10522743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特征局限:尚未引入快递入库量、物流预报等先行指标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133599"/>
            <a:ext cx="57149" cy="114300"/>
          </a:xfrm>
          <a:noFill/>
          <a:ln w="25400">
            <a:solidFill>
              <a:srgbClr val="0F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2667000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557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2667000"/>
            <a:ext cx="38099" cy="1219200"/>
          </a:xfrm>
          <a:prstGeom prst="roundRect">
            <a:avLst/>
          </a:prstGeom>
          <a:solidFill>
            <a:srgbClr val="5572A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3067050"/>
            <a:ext cx="419099" cy="419100"/>
          </a:xfrm>
          <a:prstGeom prst="ellipse">
            <a:avLst/>
          </a:prstGeom>
          <a:noFill/>
          <a:ln w="19050">
            <a:solidFill>
              <a:srgbClr val="557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3133724"/>
            <a:ext cx="285749" cy="285750"/>
          </a:xfrm>
          <a:prstGeom prst="ellipse">
            <a:avLst/>
          </a:prstGeom>
          <a:solidFill>
            <a:srgbClr val="5572A2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31402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4B689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3009900"/>
            <a:ext cx="76199" cy="76200"/>
          </a:xfrm>
          <a:prstGeom prst="ellipse">
            <a:avLst/>
          </a:prstGeom>
          <a:solidFill>
            <a:srgbClr val="5572A2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2789681"/>
            <a:ext cx="12108656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模型展望:计划对比 Transformer 时序结构,并探索多驿站联</a:t>
            </a:r>
          </a:p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合建模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3219449"/>
            <a:ext cx="57149" cy="114300"/>
          </a:xfrm>
          <a:noFill/>
          <a:ln w="25400">
            <a:solidFill>
              <a:srgbClr val="557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40005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80000"/>
                </a:srgbClr>
              </a:gs>
            </a:gsLst>
            <a:lin ang="5400000" scaled="0"/>
          </a:gradFill>
          <a:ln w="1905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4000500"/>
            <a:ext cx="38099" cy="723900"/>
          </a:xfrm>
          <a:prstGeom prst="roundRect">
            <a:avLst/>
          </a:prstGeom>
          <a:solidFill>
            <a:srgbClr val="2D4A7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4152899"/>
            <a:ext cx="419099" cy="419100"/>
          </a:xfrm>
          <a:prstGeom prst="ellipse">
            <a:avLst/>
          </a:prstGeom>
          <a:noFill/>
          <a:ln w="1905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4219575"/>
            <a:ext cx="285749" cy="285750"/>
          </a:xfrm>
          <a:prstGeom prst="ellipse">
            <a:avLst/>
          </a:prstGeom>
          <a:solidFill>
            <a:srgbClr val="2D4A7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4226051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D4A7A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4343400"/>
            <a:ext cx="76199" cy="76200"/>
          </a:xfrm>
          <a:prstGeom prst="ellipse">
            <a:avLst/>
          </a:prstGeom>
          <a:solidFill>
            <a:srgbClr val="2D4A7A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4123181"/>
            <a:ext cx="11615737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B2A4A"/>
                </a:solidFill>
                <a:latin typeface="Microsoft YaHei"/>
                <a:ea typeface="Microsoft YaHei"/>
              </a:rPr>
              <a:t>应用展望:与驿站管理系统对接,实现预测、排班、复盘闭环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4305300"/>
            <a:ext cx="57149" cy="114300"/>
          </a:xfrm>
          <a:noFill/>
          <a:ln w="25400"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375484">
                  <a:alpha val="15000"/>
                </a:srgbClr>
              </a:gs>
              <a:gs pos="100000">
                <a:srgbClr val="37548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5F7CAC">
                  <a:alpha val="10000"/>
                </a:srgbClr>
              </a:gs>
              <a:gs pos="100000">
                <a:srgbClr val="5F7CA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375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375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-1447799" y="-1047749"/>
            <a:ext cx="3047999" cy="3047999"/>
          </a:xfrm>
          <a:prstGeom prst="ellipse">
            <a:avLst/>
          </a:prstGeom>
          <a:noFill/>
          <a:ln w="1524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647699" y="-1047749"/>
            <a:ext cx="3047999" cy="3047999"/>
          </a:xfrm>
          <a:prstGeom prst="ellipse">
            <a:avLst/>
          </a:prstGeom>
          <a:noFill/>
          <a:ln w="1524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custGeom>
            <a:pathLst>
              <a:path w="9591674" h="95">
                <a:moveTo>
                  <a:pt x="0" y="0"/>
                </a:moveTo>
                <a:lnTo>
                  <a:pt x="9591674" y="0"/>
                </a:lnTo>
              </a:path>
            </a:pathLst>
          </a:custGeom>
          <a:xfrm>
            <a:off x="1304924" y="4819650"/>
            <a:ext cx="9591674" cy="95"/>
          </a:xfrm>
          <a:noFill/>
          <a:ln w="1905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375484">
                  <a:alpha val="40000"/>
                </a:srgbClr>
              </a:gs>
              <a:gs pos="50000">
                <a:srgbClr val="375484">
                  <a:alpha val="90000"/>
                </a:srgbClr>
              </a:gs>
              <a:gs pos="100000">
                <a:srgbClr val="375484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4506B">
                    <a:alpha val="70000"/>
                  </a:srgbClr>
                </a:solidFill>
                <a:latin typeface="Microsoft YaHei"/>
                <a:ea typeface="Microsoft YaHei"/>
              </a:rPr>
              <a:t>16 / 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1074" y="1714500"/>
            <a:ext cx="10239374" cy="34290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4F6FA"/>
              </a:gs>
              <a:gs pos="100000">
                <a:srgbClr val="F4F6FA">
                  <a:alpha val="90000"/>
                </a:srgbClr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7274" y="1790700"/>
            <a:ext cx="10086974" cy="327659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524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24499" y="2019299"/>
            <a:ext cx="1142999" cy="228600"/>
          </a:xfrm>
          <a:prstGeom prst="roundRect">
            <a:avLst/>
          </a:prstGeom>
          <a:solidFill>
            <a:srgbClr val="375484">
              <a:alpha val="10000"/>
            </a:srgbClr>
          </a:solidFill>
          <a:ln w="12700">
            <a:solidFill>
              <a:srgbClr val="37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22999" y="2005203"/>
            <a:ext cx="1346001" cy="2262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25" b="1">
                <a:solidFill>
                  <a:srgbClr val="375484"/>
                </a:solidFill>
                <a:latin typeface="Microsoft YaHei"/>
                <a:ea typeface="Microsoft YaHei"/>
              </a:rP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8718" y="2552319"/>
            <a:ext cx="2214562" cy="7381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4649" b="1">
                <a:solidFill>
                  <a:srgbClr val="1B2A4A"/>
                </a:solidFill>
                <a:latin typeface="Microsoft YaHei"/>
                <a:ea typeface="Microsoft YaHei"/>
              </a:rPr>
              <a:t>致谢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5873" y="3426713"/>
            <a:ext cx="7740253" cy="5238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44506B"/>
                </a:solidFill>
                <a:latin typeface="Microsoft YaHei"/>
                <a:ea typeface="Microsoft YaHei"/>
              </a:rPr>
              <a:t>感谢李建国老师两年来的悉心指导,感谢驿站站长提供数据支持。</a:t>
            </a:r>
          </a:p>
          <a:p>
            <a:pPr algn="ctr"/>
            <a:r>
              <a:rPr sz="1650" b="0">
                <a:solidFill>
                  <a:srgbClr val="44506B"/>
                </a:solidFill>
                <a:latin typeface="Microsoft YaHei"/>
                <a:ea typeface="Microsoft YaHei"/>
              </a:rPr>
              <a:t>恳请各位评审老师批评指正!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