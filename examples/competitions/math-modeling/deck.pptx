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各位评委好，我们是 A2609 队。今天汇报共享单车区域调度优化模型，整体思路是"先预测、再优化、后检验"。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问题重述：30 个调度区、2.4 万辆车、386 万条订单。我们要回答三件事——需求怎么分布、车怎么调、方案稳不稳。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四条假设把问题边界圈清楚：迁移只由订单产生、调度在时段间隙完成、单程不超 20 辆、外部条件与历史同期一致。每一条都有数据或常识依据。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符号说明列在这里：D 是需求、S 是库存、x 是调度量，全文保持一致，这里不逐条展开。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模型一做需求预测。选 GBRT 而不是均值法，是因为需求存在明显的非线性时空交互——18 维特征，前三周训练、第四周滚动验证。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预测效果：MAE 4.2 辆，比均值法降 44.7%。"早进城、晚出城"的潮汐结构被完整刻画，为模型二提供了可靠输入。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模型二是整数规划：目标是调度成本加缺车损失最小化，约束是库存平衡和车队能力。选整数规划，是因为调度量必须取整、约束关系线性，结构最干净。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全规模 2.16 万个整数变量，精确求解超时。我们先在 10 区小算例上用分支定界验证正确性——启发式解与精确解偏差只有 1.8%，可以放心切换。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遗传算法设计：整数编码、锦标赛选择、交叉 0.8、变异 0.05，约 500 代收敛。参数是对比实验定下来的，不是拍脑袋。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求出的方案符合直觉：调度集中在早晚高峰前两个窗口，早上往地铁站送车、晚上往居住区回车。单日成本降到 0.98 万元，降幅 21%。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服务水平改善看这张表：高峰缺车率从 18.6% 降到 7.9%，借车失败次数少了一半以上。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灵敏度分析是我们特别想强调的：需求扰动正负 20%，缺车率仍稳定在 7% 到 9% 区间；惩罚系数在合理区间内方案基本不变——模型是稳健的。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客观讲优缺点：预测与优化解耦带来可解释性，但没有建模调度车的行驶顺序，成本估计偏保守。改进方向是滚动时域优化。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总结：完整的"预测、优化、求解"链条，缺车率降一半以上，灵敏度检验通过。谢谢评委老师，请批评指正！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05599" y="1371600"/>
            <a:ext cx="10972799" cy="10972800"/>
          </a:xfrm>
          <a:prstGeom prst="ellipse">
            <a:avLst/>
          </a:prstGeom>
          <a:solidFill>
            <a:srgbClr val="0C8ED1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048499" y="1714500"/>
            <a:ext cx="10286999" cy="10287000"/>
          </a:xfrm>
          <a:prstGeom prst="ellipse">
            <a:avLst/>
          </a:prstGeom>
          <a:noFill/>
          <a:ln w="2540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199" y="0"/>
            <a:ext cx="114299" cy="2390774"/>
          </a:xfrm>
          <a:prstGeom prst="rect">
            <a:avLst/>
          </a:prstGeom>
          <a:solidFill>
            <a:srgbClr val="0C8ED1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199" y="2956941"/>
            <a:ext cx="13287375" cy="2214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975" b="1">
                <a:solidFill>
                  <a:srgbClr val="0F172A"/>
                </a:solidFill>
                <a:latin typeface="Roboto"/>
                <a:ea typeface="Microsoft YaHei"/>
              </a:rPr>
              <a:t>城市共享单车区域调度优</a:t>
            </a:r>
          </a:p>
          <a:p>
            <a:r>
              <a:rPr sz="6975" b="1">
                <a:solidFill>
                  <a:srgbClr val="0F172A"/>
                </a:solidFill>
                <a:latin typeface="Roboto"/>
                <a:ea typeface="Microsoft YaHei"/>
              </a:rPr>
              <a:t>化模型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199" y="5522976"/>
            <a:ext cx="14144625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600" b="0">
                <a:solidFill>
                  <a:srgbClr val="475569">
                    <a:alpha val="90000"/>
                  </a:srgbClr>
                </a:solidFill>
                <a:latin typeface="Roboto"/>
                <a:ea typeface="Microsoft YaHei"/>
              </a:rPr>
              <a:t>全国大学生数学建模竞赛 | B 题：共享单车调度优化</a:t>
            </a:r>
          </a:p>
          <a:p>
            <a:r>
              <a:rPr sz="3600" b="0">
                <a:solidFill>
                  <a:srgbClr val="475569">
                    <a:alpha val="90000"/>
                  </a:srgbClr>
                </a:solidFill>
                <a:latin typeface="Roboto"/>
                <a:ea typeface="Microsoft YaHei"/>
              </a:rPr>
              <a:t>| 参赛队号 A2609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199" y="6286500"/>
            <a:ext cx="380999" cy="38100"/>
          </a:xfrm>
          <a:prstGeom prst="rect">
            <a:avLst/>
          </a:prstGeom>
          <a:solidFill>
            <a:srgbClr val="0C8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8699" y="6178677"/>
            <a:ext cx="10706099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75" b="1">
                <a:solidFill>
                  <a:srgbClr val="475569"/>
                </a:solidFill>
                <a:latin typeface="Roboto"/>
                <a:ea typeface="Microsoft YaHei"/>
              </a:rPr>
              <a:t>01 /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0284C7">
                  <a:alpha val="15000"/>
                </a:srgbClr>
              </a:gs>
              <a:gs pos="100000">
                <a:srgbClr val="0284C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2AACEF">
                  <a:alpha val="10000"/>
                </a:srgbClr>
              </a:gs>
              <a:gs pos="100000">
                <a:srgbClr val="2AAC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0284C7">
                  <a:alpha val="40000"/>
                </a:srgbClr>
              </a:gs>
              <a:gs pos="50000">
                <a:srgbClr val="0284C7">
                  <a:alpha val="90000"/>
                </a:srgbClr>
              </a:gs>
              <a:gs pos="100000">
                <a:srgbClr val="0284C7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75569">
                    <a:alpha val="70000"/>
                  </a:srgbClr>
                </a:solidFill>
                <a:latin typeface="Roboto"/>
                <a:ea typeface="Microsoft YaHei"/>
              </a:rPr>
              <a:t>02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899" y="136397"/>
            <a:ext cx="11391899" cy="642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050" b="1">
                <a:solidFill>
                  <a:srgbClr val="0F172A"/>
                </a:solidFill>
                <a:latin typeface="Roboto"/>
                <a:ea typeface="Microsoft YaHei"/>
              </a:rPr>
              <a:t>问题重述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0284C7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899" y="1428750"/>
            <a:ext cx="4876799" cy="32385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749" y="2087117"/>
            <a:ext cx="11068049" cy="1666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49" b="1">
                <a:solidFill>
                  <a:srgbClr val="20A2E5"/>
                </a:solidFill>
                <a:latin typeface="Roboto"/>
                <a:ea typeface="Microsoft YaHei"/>
              </a:rPr>
              <a:t>FRICTION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49" y="2611373"/>
            <a:ext cx="11068049" cy="619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900" b="1">
                <a:solidFill>
                  <a:srgbClr val="0F172A"/>
                </a:solidFill>
                <a:latin typeface="Roboto"/>
                <a:ea typeface="Microsoft YaHei"/>
              </a:rPr>
              <a:t>问题重述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49" y="4090415"/>
            <a:ext cx="11068049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0">
                <a:solidFill>
                  <a:srgbClr val="475569">
                    <a:alpha val="80000"/>
                  </a:srgbClr>
                </a:solidFill>
                <a:latin typeface="Roboto"/>
                <a:ea typeface="Microsoft YaHei"/>
              </a:rPr>
              <a:t>4 mapped signals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5999" y="1428750"/>
            <a:ext cx="5362574" cy="9144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FFFFF"/>
          </a:solidFill>
          <a:ln w="19050">
            <a:solidFill>
              <a:srgbClr val="0072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6499" y="1612391"/>
            <a:ext cx="5448299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0072B5"/>
                </a:solidFill>
                <a:latin typeface="Roboto"/>
                <a:ea typeface="Microsoft YaHei"/>
              </a:rPr>
              <a:t>!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499" y="1948053"/>
            <a:ext cx="6413301" cy="2262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25" b="1">
                <a:solidFill>
                  <a:srgbClr val="0F172A"/>
                </a:solidFill>
                <a:latin typeface="Roboto"/>
                <a:ea typeface="Microsoft YaHei"/>
              </a:rPr>
              <a:t>已知：H 市 30 个调度区、2.4 万辆车、4 周订单 386 万条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5999" y="2514600"/>
            <a:ext cx="5362574" cy="9144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6499" y="2698242"/>
            <a:ext cx="5448299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20A2E5"/>
                </a:solidFill>
                <a:latin typeface="Roboto"/>
                <a:ea typeface="Microsoft YaHei"/>
              </a:rPr>
              <a:t>!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6499" y="3051429"/>
            <a:ext cx="6274593" cy="2024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74" b="1">
                <a:solidFill>
                  <a:srgbClr val="0F172A"/>
                </a:solidFill>
                <a:latin typeface="Roboto"/>
                <a:ea typeface="Microsoft YaHei"/>
              </a:rPr>
              <a:t>问题一：刻画各调度区单车需求的时空分布规律，预测未来时段需求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5999" y="3600450"/>
            <a:ext cx="5362574" cy="9144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FFFFF"/>
          </a:solidFill>
          <a:ln w="19050">
            <a:solidFill>
              <a:srgbClr val="149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6499" y="3784091"/>
            <a:ext cx="5448299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20A2E5"/>
                </a:solidFill>
                <a:latin typeface="Roboto"/>
                <a:ea typeface="Microsoft YaHei"/>
              </a:rPr>
              <a:t>! 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499" y="4110990"/>
            <a:ext cx="6191249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99" b="1">
                <a:solidFill>
                  <a:srgbClr val="0F172A"/>
                </a:solidFill>
                <a:latin typeface="Roboto"/>
                <a:ea typeface="Microsoft YaHei"/>
              </a:rPr>
              <a:t>问题二：在车队与容量约束下制定总成本最小的调度方案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5999" y="4686300"/>
            <a:ext cx="5362574" cy="9144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FFFFF"/>
          </a:solidFill>
          <a:ln w="19050">
            <a:solidFill>
              <a:srgbClr val="26A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6499" y="4869941"/>
            <a:ext cx="5448299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20A2E5"/>
                </a:solidFill>
                <a:latin typeface="Roboto"/>
                <a:ea typeface="Microsoft YaHei"/>
              </a:rPr>
              <a:t>! 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6499" y="5205603"/>
            <a:ext cx="6334124" cy="2262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25" b="1">
                <a:solidFill>
                  <a:srgbClr val="0F172A"/>
                </a:solidFill>
                <a:latin typeface="Roboto"/>
                <a:ea typeface="Microsoft YaHei"/>
              </a:rPr>
              <a:t>问题三：评估方案对高峰缺车率的改善效果，并做灵敏度检验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2899" y="1943100"/>
            <a:ext cx="5524499" cy="157162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599" y="1943100"/>
            <a:ext cx="5524499" cy="157162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2899" y="3971925"/>
            <a:ext cx="5524499" cy="157162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24599" y="3971925"/>
            <a:ext cx="5524499" cy="157162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0C8ED1">
                  <a:alpha val="15000"/>
                </a:srgbClr>
              </a:gs>
              <a:gs pos="100000">
                <a:srgbClr val="0C8ED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34B6F9">
                  <a:alpha val="10000"/>
                </a:srgbClr>
              </a:gs>
              <a:gs pos="100000">
                <a:srgbClr val="34B6F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0C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0C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0C8ED1">
                  <a:alpha val="40000"/>
                </a:srgbClr>
              </a:gs>
              <a:gs pos="50000">
                <a:srgbClr val="0C8ED1">
                  <a:alpha val="90000"/>
                </a:srgbClr>
              </a:gs>
              <a:gs pos="100000">
                <a:srgbClr val="0C8ED1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75569">
                    <a:alpha val="70000"/>
                  </a:srgbClr>
                </a:solidFill>
                <a:latin typeface="Roboto"/>
                <a:ea typeface="Microsoft YaHei"/>
              </a:rPr>
              <a:t>03 / 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899" y="387476"/>
            <a:ext cx="11391899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75" b="1">
                <a:solidFill>
                  <a:srgbClr val="0C8ED1"/>
                </a:solidFill>
                <a:latin typeface="Roboto"/>
                <a:ea typeface="Microsoft YaHei"/>
              </a:rPr>
              <a:t>PROCESS → 4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899" y="48691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0F172A"/>
                </a:solidFill>
                <a:latin typeface="Roboto"/>
                <a:ea typeface="Microsoft YaHei"/>
              </a:rPr>
              <a:t>模型假设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899" y="1943100"/>
            <a:ext cx="5524499" cy="1571625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899" y="1943100"/>
            <a:ext cx="38099" cy="1571625"/>
          </a:xfrm>
          <a:prstGeom prst="rect">
            <a:avLst/>
          </a:prstGeom>
          <a:solidFill>
            <a:srgbClr val="0C8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2899" y="1943100"/>
            <a:ext cx="5524499" cy="1571625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noFill/>
          <a:ln w="1905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90524" y="1990724"/>
            <a:ext cx="5429249" cy="1476375"/>
          </a:xfrm>
          <a:prstGeom prst="roundRect">
            <a:avLst/>
          </a:prstGeom>
          <a:noFill/>
          <a:ln w="1270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14649" y="2133599"/>
            <a:ext cx="380999" cy="380999"/>
          </a:xfrm>
          <a:prstGeom prst="ellipse">
            <a:avLst/>
          </a:prstGeom>
          <a:noFill/>
          <a:ln w="1524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71799" y="2190749"/>
            <a:ext cx="266699" cy="266699"/>
          </a:xfrm>
          <a:prstGeom prst="ellipse">
            <a:avLst/>
          </a:prstGeom>
          <a:solidFill>
            <a:srgbClr val="0C8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0109" y="2143887"/>
            <a:ext cx="650081" cy="309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950" b="1">
                <a:solidFill>
                  <a:srgbClr val="0F172A"/>
                </a:solidFill>
                <a:latin typeface="Roboto"/>
                <a:ea typeface="Microsoft YaHei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2653283"/>
            <a:ext cx="64769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0F172A"/>
                </a:solidFill>
                <a:latin typeface="Roboto"/>
                <a:ea typeface="Microsoft YaHei"/>
              </a:rPr>
              <a:t>单车跨区迁移仅由订单骑行产生，忽</a:t>
            </a:r>
          </a:p>
          <a:p>
            <a:pPr algn="ctr"/>
            <a:r>
              <a:rPr sz="2400" b="0">
                <a:solidFill>
                  <a:srgbClr val="0F172A"/>
                </a:solidFill>
                <a:latin typeface="Roboto"/>
                <a:ea typeface="Microsoft YaHei"/>
              </a:rPr>
              <a:t>略用户私自挪动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4599" y="1943100"/>
            <a:ext cx="5524499" cy="1571625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24599" y="1943100"/>
            <a:ext cx="38099" cy="1571625"/>
          </a:xfrm>
          <a:prstGeom prst="rect">
            <a:avLst/>
          </a:prstGeom>
          <a:solidFill>
            <a:srgbClr val="0066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24599" y="1943100"/>
            <a:ext cx="5524499" cy="1571625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noFill/>
          <a:ln w="19050">
            <a:solidFill>
              <a:srgbClr val="00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72224" y="1990724"/>
            <a:ext cx="5429249" cy="1476375"/>
          </a:xfrm>
          <a:prstGeom prst="roundRect">
            <a:avLst/>
          </a:prstGeom>
          <a:noFill/>
          <a:ln w="12700">
            <a:solidFill>
              <a:srgbClr val="00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896349" y="2133599"/>
            <a:ext cx="380999" cy="380999"/>
          </a:xfrm>
          <a:prstGeom prst="ellipse">
            <a:avLst/>
          </a:prstGeom>
          <a:noFill/>
          <a:ln w="15240">
            <a:solidFill>
              <a:srgbClr val="00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953499" y="2190749"/>
            <a:ext cx="266699" cy="266699"/>
          </a:xfrm>
          <a:prstGeom prst="ellipse">
            <a:avLst/>
          </a:prstGeom>
          <a:solidFill>
            <a:srgbClr val="0066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61809" y="2143887"/>
            <a:ext cx="650081" cy="309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950" b="1">
                <a:solidFill>
                  <a:srgbClr val="F1F5F9"/>
                </a:solidFill>
                <a:latin typeface="Roboto"/>
                <a:ea typeface="Microsoft YaHei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8349" y="2653283"/>
            <a:ext cx="64769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0F172A"/>
                </a:solidFill>
                <a:latin typeface="Roboto"/>
                <a:ea typeface="Microsoft YaHei"/>
              </a:rPr>
              <a:t>调度作业在相邻时段间隙完成，不影</a:t>
            </a:r>
          </a:p>
          <a:p>
            <a:pPr algn="ctr"/>
            <a:r>
              <a:rPr sz="2400" b="0">
                <a:solidFill>
                  <a:srgbClr val="0F172A"/>
                </a:solidFill>
                <a:latin typeface="Roboto"/>
                <a:ea typeface="Microsoft YaHei"/>
              </a:rPr>
              <a:t>响当期骑行需求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2899" y="3971925"/>
            <a:ext cx="5524499" cy="1571625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2899" y="3971925"/>
            <a:ext cx="38099" cy="1571625"/>
          </a:xfrm>
          <a:prstGeom prst="rect">
            <a:avLst/>
          </a:prstGeom>
          <a:solidFill>
            <a:srgbClr val="3E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42899" y="3971925"/>
            <a:ext cx="5524499" cy="1571625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noFill/>
          <a:ln w="19050">
            <a:solidFill>
              <a:srgbClr val="3E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90524" y="4019549"/>
            <a:ext cx="5429249" cy="1476375"/>
          </a:xfrm>
          <a:prstGeom prst="roundRect">
            <a:avLst/>
          </a:prstGeom>
          <a:noFill/>
          <a:ln w="12700">
            <a:solidFill>
              <a:srgbClr val="3E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14649" y="4162424"/>
            <a:ext cx="380999" cy="380999"/>
          </a:xfrm>
          <a:prstGeom prst="ellipse">
            <a:avLst/>
          </a:prstGeom>
          <a:noFill/>
          <a:ln w="15240">
            <a:solidFill>
              <a:srgbClr val="3E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971799" y="4219575"/>
            <a:ext cx="266699" cy="266699"/>
          </a:xfrm>
          <a:prstGeom prst="ellipse">
            <a:avLst/>
          </a:prstGeom>
          <a:solidFill>
            <a:srgbClr val="3E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80109" y="4172712"/>
            <a:ext cx="650081" cy="309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950" b="1">
                <a:solidFill>
                  <a:srgbClr val="0F172A"/>
                </a:solidFill>
                <a:latin typeface="Roboto"/>
                <a:ea typeface="Microsoft YaHei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7649" y="4682109"/>
            <a:ext cx="5715000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0F172A"/>
                </a:solidFill>
                <a:latin typeface="Roboto"/>
                <a:ea typeface="Microsoft YaHei"/>
              </a:rPr>
              <a:t>调度车单程装载不超过额定容量</a:t>
            </a:r>
          </a:p>
          <a:p>
            <a:pPr algn="ctr"/>
            <a:r>
              <a:rPr sz="2400" b="0">
                <a:solidFill>
                  <a:srgbClr val="0F172A"/>
                </a:solidFill>
                <a:latin typeface="Roboto"/>
                <a:ea typeface="Microsoft YaHei"/>
              </a:rPr>
              <a:t>20 辆，装卸时间计入固定成本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24599" y="3971925"/>
            <a:ext cx="5524499" cy="1571625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24599" y="3971925"/>
            <a:ext cx="38099" cy="1571625"/>
          </a:xfrm>
          <a:prstGeom prst="rect">
            <a:avLst/>
          </a:prstGeom>
          <a:solidFill>
            <a:srgbClr val="00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324599" y="3971925"/>
            <a:ext cx="5524499" cy="1571625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noFill/>
          <a:ln w="19050">
            <a:solidFill>
              <a:srgbClr val="007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372224" y="4019549"/>
            <a:ext cx="5429249" cy="1476375"/>
          </a:xfrm>
          <a:prstGeom prst="roundRect">
            <a:avLst/>
          </a:prstGeom>
          <a:noFill/>
          <a:ln w="12700">
            <a:solidFill>
              <a:srgbClr val="007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896349" y="4162424"/>
            <a:ext cx="380999" cy="380999"/>
          </a:xfrm>
          <a:prstGeom prst="ellipse">
            <a:avLst/>
          </a:prstGeom>
          <a:noFill/>
          <a:ln w="15240">
            <a:solidFill>
              <a:srgbClr val="007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953499" y="4219575"/>
            <a:ext cx="266699" cy="266699"/>
          </a:xfrm>
          <a:prstGeom prst="ellipse">
            <a:avLst/>
          </a:prstGeom>
          <a:solidFill>
            <a:srgbClr val="00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61809" y="4172712"/>
            <a:ext cx="650081" cy="309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950" b="1">
                <a:solidFill>
                  <a:srgbClr val="F1F5F9"/>
                </a:solidFill>
                <a:latin typeface="Roboto"/>
                <a:ea typeface="Microsoft YaHei"/>
              </a:rPr>
              <a:t>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8349" y="4682109"/>
            <a:ext cx="64769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0F172A"/>
                </a:solidFill>
                <a:latin typeface="Roboto"/>
                <a:ea typeface="Microsoft YaHei"/>
              </a:rPr>
              <a:t>预测期内天气、节假日等外部条件与</a:t>
            </a:r>
          </a:p>
          <a:p>
            <a:pPr algn="ctr"/>
            <a:r>
              <a:rPr sz="2400" b="0">
                <a:solidFill>
                  <a:srgbClr val="0F172A"/>
                </a:solidFill>
                <a:latin typeface="Roboto"/>
                <a:ea typeface="Microsoft YaHei"/>
              </a:rPr>
              <a:t>历史同期分布一致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007CBF">
                  <a:alpha val="15000"/>
                </a:srgbClr>
              </a:gs>
              <a:gs pos="100000">
                <a:srgbClr val="007CB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28A4E7">
                  <a:alpha val="10000"/>
                </a:srgbClr>
              </a:gs>
              <a:gs pos="100000">
                <a:srgbClr val="28A4E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007C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007C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849099" y="0"/>
            <a:ext cx="342899" cy="6858000"/>
          </a:xfrm>
          <a:prstGeom prst="rect">
            <a:avLst/>
          </a:prstGeom>
          <a:solidFill>
            <a:srgbClr val="007CB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007CBF">
                  <a:alpha val="40000"/>
                </a:srgbClr>
              </a:gs>
              <a:gs pos="50000">
                <a:srgbClr val="007CBF">
                  <a:alpha val="90000"/>
                </a:srgbClr>
              </a:gs>
              <a:gs pos="100000">
                <a:srgbClr val="007CBF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75569">
                    <a:alpha val="70000"/>
                  </a:srgbClr>
                </a:solidFill>
                <a:latin typeface="Roboto"/>
                <a:ea typeface="Microsoft YaHei"/>
              </a:rPr>
              <a:t>04 /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0F172A"/>
                </a:solidFill>
                <a:latin typeface="Roboto"/>
                <a:ea typeface="Microsoft YaHei"/>
              </a:rPr>
              <a:t>符号说明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007CB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1371600"/>
            <a:ext cx="11506199" cy="47815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5000"/>
                </a:srgbClr>
              </a:gs>
            </a:gsLst>
            <a:lin ang="0" scaled="0"/>
          </a:gradFill>
          <a:ln w="19050">
            <a:solidFill>
              <a:srgbClr val="007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1371600"/>
            <a:ext cx="38099" cy="4781549"/>
          </a:xfrm>
          <a:prstGeom prst="roundRect">
            <a:avLst/>
          </a:prstGeom>
          <a:solidFill>
            <a:srgbClr val="007CB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1695449"/>
            <a:ext cx="76199" cy="76200"/>
          </a:xfrm>
          <a:solidFill>
            <a:srgbClr val="007CB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8699" y="1608582"/>
            <a:ext cx="3471862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75569"/>
                </a:solidFill>
                <a:latin typeface="Roboto"/>
                <a:ea typeface="Microsoft YaHei"/>
              </a:rPr>
              <a:t>符号|含义|单位</a:t>
            </a:r>
          </a:p>
        </p:txBody>
      </p:sp>
      <p:sp>
        <p:nvSpPr>
          <p:cNvPr id="16" name="Rectangle 15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2381250"/>
            <a:ext cx="76199" cy="76200"/>
          </a:xfrm>
          <a:solidFill>
            <a:srgbClr val="007CB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8699" y="2294381"/>
            <a:ext cx="7972425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75569"/>
                </a:solidFill>
                <a:latin typeface="Roboto"/>
                <a:ea typeface="Microsoft YaHei"/>
              </a:rPr>
              <a:t>D_it|区域 i 在时段 t 的骑行需求|辆</a:t>
            </a:r>
          </a:p>
        </p:txBody>
      </p:sp>
      <p:sp>
        <p:nvSpPr>
          <p:cNvPr id="18" name="Rectangle 17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3067050"/>
            <a:ext cx="76199" cy="76200"/>
          </a:xfrm>
          <a:solidFill>
            <a:srgbClr val="007CB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699" y="2980181"/>
            <a:ext cx="7972425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75569"/>
                </a:solidFill>
                <a:latin typeface="Roboto"/>
                <a:ea typeface="Microsoft YaHei"/>
              </a:rPr>
              <a:t>S_it|区域 i 在时段 t 初的库存量|辆</a:t>
            </a:r>
          </a:p>
        </p:txBody>
      </p:sp>
      <p:sp>
        <p:nvSpPr>
          <p:cNvPr id="20" name="Rectangle 19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3752849"/>
            <a:ext cx="76199" cy="76200"/>
          </a:xfrm>
          <a:solidFill>
            <a:srgbClr val="007CB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8699" y="3665981"/>
            <a:ext cx="9344025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75569"/>
                </a:solidFill>
                <a:latin typeface="Roboto"/>
                <a:ea typeface="Microsoft YaHei"/>
              </a:rPr>
              <a:t>x_ijt|时段 t 从区域 i 调往 j 的单车数|辆</a:t>
            </a:r>
          </a:p>
        </p:txBody>
      </p:sp>
      <p:sp>
        <p:nvSpPr>
          <p:cNvPr id="22" name="Rectangle 21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4438649"/>
            <a:ext cx="76199" cy="76200"/>
          </a:xfrm>
          <a:solidFill>
            <a:srgbClr val="007CB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8699" y="4351782"/>
            <a:ext cx="8636793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75569"/>
                </a:solidFill>
                <a:latin typeface="Roboto"/>
                <a:ea typeface="Microsoft YaHei"/>
              </a:rPr>
              <a:t>c_ij|区域 i 到 j 的单位调度成本|元/辆</a:t>
            </a:r>
          </a:p>
        </p:txBody>
      </p:sp>
      <p:sp>
        <p:nvSpPr>
          <p:cNvPr id="24" name="Rectangle 23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5124449"/>
            <a:ext cx="76199" cy="76200"/>
          </a:xfrm>
          <a:solidFill>
            <a:srgbClr val="007CB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8699" y="5037582"/>
            <a:ext cx="4800599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75569"/>
                </a:solidFill>
                <a:latin typeface="Roboto"/>
                <a:ea typeface="Microsoft YaHei"/>
              </a:rPr>
              <a:t>α|缺车惩罚系数|元/辆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0C8ED1">
                  <a:alpha val="15000"/>
                </a:srgbClr>
              </a:gs>
              <a:gs pos="100000">
                <a:srgbClr val="0C8ED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34B6F9">
                  <a:alpha val="10000"/>
                </a:srgbClr>
              </a:gs>
              <a:gs pos="100000">
                <a:srgbClr val="34B6F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0C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0C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734799" y="0"/>
            <a:ext cx="457199" cy="6858000"/>
          </a:xfrm>
          <a:prstGeom prst="rect">
            <a:avLst/>
          </a:prstGeom>
          <a:solidFill>
            <a:srgbClr val="0C8ED1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0C8ED1">
                  <a:alpha val="40000"/>
                </a:srgbClr>
              </a:gs>
              <a:gs pos="50000">
                <a:srgbClr val="0C8ED1">
                  <a:alpha val="90000"/>
                </a:srgbClr>
              </a:gs>
              <a:gs pos="100000">
                <a:srgbClr val="0C8ED1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75569">
                    <a:alpha val="70000"/>
                  </a:srgbClr>
                </a:solidFill>
                <a:latin typeface="Roboto"/>
                <a:ea typeface="Microsoft YaHei"/>
              </a:rPr>
              <a:t>05 /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0F172A"/>
                </a:solidFill>
                <a:latin typeface="Roboto"/>
                <a:ea typeface="Microsoft YaHei"/>
              </a:rPr>
              <a:t>模型一：需求预测模型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0C8ED1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990599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990599"/>
            <a:ext cx="38099" cy="723900"/>
          </a:xfrm>
          <a:prstGeom prst="roundRect">
            <a:avLst/>
          </a:prstGeom>
          <a:solidFill>
            <a:srgbClr val="0C8ED1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8149" y="1143000"/>
            <a:ext cx="419099" cy="419100"/>
          </a:xfrm>
          <a:prstGeom prst="ellipse">
            <a:avLst/>
          </a:prstGeom>
          <a:noFill/>
          <a:ln w="1905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4824" y="1209674"/>
            <a:ext cx="285749" cy="285750"/>
          </a:xfrm>
          <a:prstGeom prst="ellipse">
            <a:avLst/>
          </a:prstGeom>
          <a:solidFill>
            <a:srgbClr val="0C8ED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949" y="12161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20A2E5"/>
                </a:solidFill>
                <a:latin typeface="Roboto"/>
                <a:ea typeface="Microsoft YaHei"/>
              </a:rPr>
              <a:t>01</a:t>
            </a:r>
          </a:p>
        </p:txBody>
      </p:sp>
      <p:sp>
        <p:nvSpPr>
          <p:cNvPr id="17" name="Oval 16"/>
          <p:cNvSpPr/>
          <p:nvPr/>
        </p:nvSpPr>
        <p:spPr>
          <a:xfrm>
            <a:off x="1009649" y="1333500"/>
            <a:ext cx="76199" cy="76200"/>
          </a:xfrm>
          <a:prstGeom prst="ellipse">
            <a:avLst/>
          </a:prstGeom>
          <a:solidFill>
            <a:srgbClr val="0C8ED1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1099" y="1113282"/>
            <a:ext cx="12944475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特征体系：时段、星期、区域属性、滞后需求、天气共 18 维特征</a:t>
            </a:r>
          </a:p>
        </p:txBody>
      </p:sp>
      <p:sp>
        <p:nvSpPr>
          <p:cNvPr id="19" name="Rectangle 18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1295399"/>
            <a:ext cx="57149" cy="114300"/>
          </a:xfrm>
          <a:noFill/>
          <a:ln w="2540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2899" y="18288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007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899" y="1828800"/>
            <a:ext cx="38099" cy="723900"/>
          </a:xfrm>
          <a:prstGeom prst="roundRect">
            <a:avLst/>
          </a:prstGeom>
          <a:solidFill>
            <a:srgbClr val="0070B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8149" y="1981199"/>
            <a:ext cx="419099" cy="419100"/>
          </a:xfrm>
          <a:prstGeom prst="ellipse">
            <a:avLst/>
          </a:prstGeom>
          <a:noFill/>
          <a:ln w="19050">
            <a:solidFill>
              <a:srgbClr val="007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4824" y="2047874"/>
            <a:ext cx="285749" cy="285750"/>
          </a:xfrm>
          <a:prstGeom prst="ellipse">
            <a:avLst/>
          </a:prstGeom>
          <a:solidFill>
            <a:srgbClr val="0070B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949" y="20543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0070B3"/>
                </a:solidFill>
                <a:latin typeface="Roboto"/>
                <a:ea typeface="Microsoft YaHei"/>
              </a:rPr>
              <a:t>02</a:t>
            </a:r>
          </a:p>
        </p:txBody>
      </p:sp>
      <p:sp>
        <p:nvSpPr>
          <p:cNvPr id="25" name="Oval 24"/>
          <p:cNvSpPr/>
          <p:nvPr/>
        </p:nvSpPr>
        <p:spPr>
          <a:xfrm>
            <a:off x="1009649" y="2171700"/>
            <a:ext cx="76199" cy="76200"/>
          </a:xfrm>
          <a:prstGeom prst="ellipse">
            <a:avLst/>
          </a:prstGeom>
          <a:solidFill>
            <a:srgbClr val="0070B3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1099" y="1951481"/>
            <a:ext cx="12515850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模型选择：梯度提升回归树（GBRT），擅长拟合非线性时空交互</a:t>
            </a:r>
          </a:p>
        </p:txBody>
      </p:sp>
      <p:sp>
        <p:nvSpPr>
          <p:cNvPr id="27" name="Rectangle 26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2133599"/>
            <a:ext cx="57149" cy="114300"/>
          </a:xfrm>
          <a:noFill/>
          <a:ln w="25400">
            <a:solidFill>
              <a:srgbClr val="007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2899" y="26670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34B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2899" y="2667000"/>
            <a:ext cx="38099" cy="723900"/>
          </a:xfrm>
          <a:prstGeom prst="roundRect">
            <a:avLst/>
          </a:prstGeom>
          <a:solidFill>
            <a:srgbClr val="34B6F9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8149" y="2819399"/>
            <a:ext cx="419099" cy="419100"/>
          </a:xfrm>
          <a:prstGeom prst="ellipse">
            <a:avLst/>
          </a:prstGeom>
          <a:noFill/>
          <a:ln w="19050">
            <a:solidFill>
              <a:srgbClr val="34B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4824" y="2886075"/>
            <a:ext cx="285749" cy="285750"/>
          </a:xfrm>
          <a:prstGeom prst="ellipse">
            <a:avLst/>
          </a:prstGeom>
          <a:solidFill>
            <a:srgbClr val="34B6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949" y="28925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20A2E5"/>
                </a:solidFill>
                <a:latin typeface="Roboto"/>
                <a:ea typeface="Microsoft YaHei"/>
              </a:rPr>
              <a:t>03</a:t>
            </a:r>
          </a:p>
        </p:txBody>
      </p:sp>
      <p:sp>
        <p:nvSpPr>
          <p:cNvPr id="33" name="Oval 32"/>
          <p:cNvSpPr/>
          <p:nvPr/>
        </p:nvSpPr>
        <p:spPr>
          <a:xfrm>
            <a:off x="1009649" y="3009900"/>
            <a:ext cx="76199" cy="76200"/>
          </a:xfrm>
          <a:prstGeom prst="ellipse">
            <a:avLst/>
          </a:prstGeom>
          <a:solidFill>
            <a:srgbClr val="34B6F9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1099" y="2789681"/>
            <a:ext cx="11701462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训练方式：前 3 周训练、第 4 周滚动验证，避免时间泄漏</a:t>
            </a:r>
          </a:p>
        </p:txBody>
      </p:sp>
      <p:sp>
        <p:nvSpPr>
          <p:cNvPr id="35" name="Rectangle 34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2971800"/>
            <a:ext cx="57149" cy="114300"/>
          </a:xfrm>
          <a:noFill/>
          <a:ln w="25400">
            <a:solidFill>
              <a:srgbClr val="34B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2899" y="3505199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42899" y="3505199"/>
            <a:ext cx="38099" cy="723900"/>
          </a:xfrm>
          <a:prstGeom prst="roundRect">
            <a:avLst/>
          </a:prstGeom>
          <a:solidFill>
            <a:srgbClr val="0C8ED1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8149" y="3657600"/>
            <a:ext cx="419099" cy="419100"/>
          </a:xfrm>
          <a:prstGeom prst="ellipse">
            <a:avLst/>
          </a:prstGeom>
          <a:noFill/>
          <a:ln w="1905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04824" y="3724274"/>
            <a:ext cx="285749" cy="285750"/>
          </a:xfrm>
          <a:prstGeom prst="ellipse">
            <a:avLst/>
          </a:prstGeom>
          <a:solidFill>
            <a:srgbClr val="0C8ED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949" y="37307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20A2E5"/>
                </a:solidFill>
                <a:latin typeface="Roboto"/>
                <a:ea typeface="Microsoft YaHei"/>
              </a:rPr>
              <a:t>04</a:t>
            </a:r>
          </a:p>
        </p:txBody>
      </p:sp>
      <p:sp>
        <p:nvSpPr>
          <p:cNvPr id="41" name="Oval 40"/>
          <p:cNvSpPr/>
          <p:nvPr/>
        </p:nvSpPr>
        <p:spPr>
          <a:xfrm>
            <a:off x="1009649" y="3848099"/>
            <a:ext cx="76199" cy="76200"/>
          </a:xfrm>
          <a:prstGeom prst="ellipse">
            <a:avLst/>
          </a:prstGeom>
          <a:solidFill>
            <a:srgbClr val="0C8ED1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81099" y="3627882"/>
            <a:ext cx="8229600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输出：各区域未来 24 个时段的需求矩阵</a:t>
            </a:r>
          </a:p>
        </p:txBody>
      </p:sp>
      <p:sp>
        <p:nvSpPr>
          <p:cNvPr id="43" name="Rectangle 42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3809999"/>
            <a:ext cx="57149" cy="114300"/>
          </a:xfrm>
          <a:noFill/>
          <a:ln w="2540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0284C7">
                  <a:alpha val="15000"/>
                </a:srgbClr>
              </a:gs>
              <a:gs pos="100000">
                <a:srgbClr val="0284C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2AACEF">
                  <a:alpha val="10000"/>
                </a:srgbClr>
              </a:gs>
              <a:gs pos="100000">
                <a:srgbClr val="2AAC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734799" y="0"/>
            <a:ext cx="457199" cy="6858000"/>
          </a:xfrm>
          <a:prstGeom prst="rect">
            <a:avLst/>
          </a:prstGeom>
          <a:solidFill>
            <a:srgbClr val="0284C7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0284C7">
                  <a:alpha val="40000"/>
                </a:srgbClr>
              </a:gs>
              <a:gs pos="50000">
                <a:srgbClr val="0284C7">
                  <a:alpha val="90000"/>
                </a:srgbClr>
              </a:gs>
              <a:gs pos="100000">
                <a:srgbClr val="0284C7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75569">
                    <a:alpha val="70000"/>
                  </a:srgbClr>
                </a:solidFill>
                <a:latin typeface="Roboto"/>
                <a:ea typeface="Microsoft YaHei"/>
              </a:rPr>
              <a:t>06 /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0F172A"/>
                </a:solidFill>
                <a:latin typeface="Roboto"/>
                <a:ea typeface="Microsoft YaHei"/>
              </a:rPr>
              <a:t>模型一求解结果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0284C7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990599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990599"/>
            <a:ext cx="38099" cy="723900"/>
          </a:xfrm>
          <a:prstGeom prst="roundRect">
            <a:avLst/>
          </a:prstGeom>
          <a:solidFill>
            <a:srgbClr val="0284C7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8149" y="1143000"/>
            <a:ext cx="419099" cy="419100"/>
          </a:xfrm>
          <a:prstGeom prst="ellipse">
            <a:avLst/>
          </a:prstGeom>
          <a:noFill/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4824" y="1209674"/>
            <a:ext cx="285749" cy="285750"/>
          </a:xfrm>
          <a:prstGeom prst="ellipse">
            <a:avLst/>
          </a:prstGeom>
          <a:solidFill>
            <a:srgbClr val="0284C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949" y="12161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20A2E5"/>
                </a:solidFill>
                <a:latin typeface="Roboto"/>
                <a:ea typeface="Microsoft YaHei"/>
              </a:rPr>
              <a:t>01</a:t>
            </a:r>
          </a:p>
        </p:txBody>
      </p:sp>
      <p:sp>
        <p:nvSpPr>
          <p:cNvPr id="17" name="Oval 16"/>
          <p:cNvSpPr/>
          <p:nvPr/>
        </p:nvSpPr>
        <p:spPr>
          <a:xfrm>
            <a:off x="1009649" y="1333500"/>
            <a:ext cx="76199" cy="76200"/>
          </a:xfrm>
          <a:prstGeom prst="ellipse">
            <a:avLst/>
          </a:prstGeom>
          <a:solidFill>
            <a:srgbClr val="0284C7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1099" y="1113282"/>
            <a:ext cx="9258300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测试集平均绝对误差 MAE 为 4.2 辆/区/时段</a:t>
            </a:r>
          </a:p>
        </p:txBody>
      </p:sp>
      <p:sp>
        <p:nvSpPr>
          <p:cNvPr id="19" name="Rectangle 18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1295399"/>
            <a:ext cx="57149" cy="114300"/>
          </a:xfrm>
          <a:noFill/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2899" y="18288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00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899" y="1828800"/>
            <a:ext cx="38099" cy="723900"/>
          </a:xfrm>
          <a:prstGeom prst="roundRect">
            <a:avLst/>
          </a:prstGeom>
          <a:solidFill>
            <a:srgbClr val="0066A9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8149" y="1981199"/>
            <a:ext cx="419099" cy="419100"/>
          </a:xfrm>
          <a:prstGeom prst="ellipse">
            <a:avLst/>
          </a:prstGeom>
          <a:noFill/>
          <a:ln w="19050">
            <a:solidFill>
              <a:srgbClr val="00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4824" y="2047874"/>
            <a:ext cx="285749" cy="285750"/>
          </a:xfrm>
          <a:prstGeom prst="ellipse">
            <a:avLst/>
          </a:prstGeom>
          <a:solidFill>
            <a:srgbClr val="0066A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949" y="20543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0066A9"/>
                </a:solidFill>
                <a:latin typeface="Roboto"/>
                <a:ea typeface="Microsoft YaHei"/>
              </a:rPr>
              <a:t>02</a:t>
            </a:r>
          </a:p>
        </p:txBody>
      </p:sp>
      <p:sp>
        <p:nvSpPr>
          <p:cNvPr id="25" name="Oval 24"/>
          <p:cNvSpPr/>
          <p:nvPr/>
        </p:nvSpPr>
        <p:spPr>
          <a:xfrm>
            <a:off x="1009649" y="2171700"/>
            <a:ext cx="76199" cy="76200"/>
          </a:xfrm>
          <a:prstGeom prst="ellipse">
            <a:avLst/>
          </a:prstGeom>
          <a:solidFill>
            <a:srgbClr val="0066A9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1099" y="1951481"/>
            <a:ext cx="10351293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相比历史同期均值法（MAE 7.6），误差下降 44.7%</a:t>
            </a:r>
          </a:p>
        </p:txBody>
      </p:sp>
      <p:sp>
        <p:nvSpPr>
          <p:cNvPr id="27" name="Rectangle 26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2133599"/>
            <a:ext cx="57149" cy="114300"/>
          </a:xfrm>
          <a:noFill/>
          <a:ln w="25400">
            <a:solidFill>
              <a:srgbClr val="00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2899" y="26670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2AA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2899" y="2667000"/>
            <a:ext cx="38099" cy="723900"/>
          </a:xfrm>
          <a:prstGeom prst="roundRect">
            <a:avLst/>
          </a:prstGeom>
          <a:solidFill>
            <a:srgbClr val="2AACE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8149" y="2819399"/>
            <a:ext cx="419099" cy="419100"/>
          </a:xfrm>
          <a:prstGeom prst="ellipse">
            <a:avLst/>
          </a:prstGeom>
          <a:noFill/>
          <a:ln w="19050">
            <a:solidFill>
              <a:srgbClr val="2AA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4824" y="2886075"/>
            <a:ext cx="285749" cy="285750"/>
          </a:xfrm>
          <a:prstGeom prst="ellipse">
            <a:avLst/>
          </a:prstGeom>
          <a:solidFill>
            <a:srgbClr val="2AACE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949" y="28925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20A2E5"/>
                </a:solidFill>
                <a:latin typeface="Roboto"/>
                <a:ea typeface="Microsoft YaHei"/>
              </a:rPr>
              <a:t>03</a:t>
            </a:r>
          </a:p>
        </p:txBody>
      </p:sp>
      <p:sp>
        <p:nvSpPr>
          <p:cNvPr id="33" name="Oval 32"/>
          <p:cNvSpPr/>
          <p:nvPr/>
        </p:nvSpPr>
        <p:spPr>
          <a:xfrm>
            <a:off x="1009649" y="3009900"/>
            <a:ext cx="76199" cy="76200"/>
          </a:xfrm>
          <a:prstGeom prst="ellipse">
            <a:avLst/>
          </a:prstGeom>
          <a:solidFill>
            <a:srgbClr val="2AACE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1099" y="2789681"/>
            <a:ext cx="10715625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早晚高峰需求峰值捕捉准确，地铁接驳区预测偏差最小</a:t>
            </a:r>
          </a:p>
        </p:txBody>
      </p:sp>
      <p:sp>
        <p:nvSpPr>
          <p:cNvPr id="35" name="Rectangle 34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2971800"/>
            <a:ext cx="57149" cy="114300"/>
          </a:xfrm>
          <a:noFill/>
          <a:ln w="25400">
            <a:solidFill>
              <a:srgbClr val="2AA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2899" y="3505199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42899" y="3505199"/>
            <a:ext cx="38099" cy="723900"/>
          </a:xfrm>
          <a:prstGeom prst="roundRect">
            <a:avLst/>
          </a:prstGeom>
          <a:solidFill>
            <a:srgbClr val="0284C7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8149" y="3657600"/>
            <a:ext cx="419099" cy="419100"/>
          </a:xfrm>
          <a:prstGeom prst="ellipse">
            <a:avLst/>
          </a:prstGeom>
          <a:noFill/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04824" y="3724274"/>
            <a:ext cx="285749" cy="285750"/>
          </a:xfrm>
          <a:prstGeom prst="ellipse">
            <a:avLst/>
          </a:prstGeom>
          <a:solidFill>
            <a:srgbClr val="0284C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949" y="37307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20A2E5"/>
                </a:solidFill>
                <a:latin typeface="Roboto"/>
                <a:ea typeface="Microsoft YaHei"/>
              </a:rPr>
              <a:t>04</a:t>
            </a:r>
          </a:p>
        </p:txBody>
      </p:sp>
      <p:sp>
        <p:nvSpPr>
          <p:cNvPr id="41" name="Oval 40"/>
          <p:cNvSpPr/>
          <p:nvPr/>
        </p:nvSpPr>
        <p:spPr>
          <a:xfrm>
            <a:off x="1009649" y="3848099"/>
            <a:ext cx="76199" cy="76200"/>
          </a:xfrm>
          <a:prstGeom prst="ellipse">
            <a:avLst/>
          </a:prstGeom>
          <a:solidFill>
            <a:srgbClr val="0284C7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81099" y="3627882"/>
            <a:ext cx="8186737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需求热力呈"早进城、晚出城"的潮汐结构</a:t>
            </a:r>
          </a:p>
        </p:txBody>
      </p:sp>
      <p:sp>
        <p:nvSpPr>
          <p:cNvPr id="43" name="Rectangle 42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3809999"/>
            <a:ext cx="57149" cy="114300"/>
          </a:xfrm>
          <a:noFill/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0C8ED1">
                  <a:alpha val="15000"/>
                </a:srgbClr>
              </a:gs>
              <a:gs pos="100000">
                <a:srgbClr val="0C8ED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34B6F9">
                  <a:alpha val="10000"/>
                </a:srgbClr>
              </a:gs>
              <a:gs pos="100000">
                <a:srgbClr val="34B6F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0C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0C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0C8ED1">
                  <a:alpha val="40000"/>
                </a:srgbClr>
              </a:gs>
              <a:gs pos="50000">
                <a:srgbClr val="0C8ED1">
                  <a:alpha val="90000"/>
                </a:srgbClr>
              </a:gs>
              <a:gs pos="100000">
                <a:srgbClr val="0C8ED1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75569">
                    <a:alpha val="70000"/>
                  </a:srgbClr>
                </a:solidFill>
                <a:latin typeface="Roboto"/>
                <a:ea typeface="Microsoft YaHei"/>
              </a:rPr>
              <a:t>07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899" y="136397"/>
            <a:ext cx="11391899" cy="642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050" b="1">
                <a:solidFill>
                  <a:srgbClr val="0F172A"/>
                </a:solidFill>
                <a:latin typeface="Roboto"/>
                <a:ea typeface="Microsoft YaHei"/>
              </a:rPr>
              <a:t>模型二：调度优化整数规划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0C8ED1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409699" y="3143250"/>
            <a:ext cx="9372600" cy="0"/>
          </a:xfrm>
          <a:prstGeom prst="line">
            <a:avLst/>
          </a:prstGeom>
          <a:ln w="25400">
            <a:solidFill>
              <a:srgbClr val="0C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14449" y="3047999"/>
            <a:ext cx="190499" cy="190499"/>
          </a:xfrm>
          <a:prstGeom prst="ellipse">
            <a:avLst/>
          </a:prstGeom>
          <a:solidFill>
            <a:srgbClr val="007EC1"/>
          </a:solidFill>
          <a:ln w="381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1600200"/>
            <a:ext cx="2133599" cy="112394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918" y="1804415"/>
            <a:ext cx="1071562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20A2E5"/>
                </a:solidFill>
                <a:latin typeface="Roboto"/>
                <a:ea typeface="Microsoft YaHei"/>
              </a:rPr>
              <a:t>决策变量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797" y="2154555"/>
            <a:ext cx="2437804" cy="5357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25" b="1">
                <a:solidFill>
                  <a:srgbClr val="0F172A"/>
                </a:solidFill>
                <a:latin typeface="Roboto"/>
                <a:ea typeface="Microsoft YaHei"/>
              </a:rPr>
              <a:t>x_ijt 为时段 t 由区域 i</a:t>
            </a:r>
          </a:p>
          <a:p>
            <a:pPr algn="ctr"/>
            <a:r>
              <a:rPr sz="1125" b="1">
                <a:solidFill>
                  <a:srgbClr val="0F172A"/>
                </a:solidFill>
                <a:latin typeface="Roboto"/>
                <a:ea typeface="Microsoft YaHei"/>
              </a:rPr>
              <a:t>调往区域 j 的单车数（非负</a:t>
            </a:r>
          </a:p>
          <a:p>
            <a:pPr algn="ctr"/>
            <a:r>
              <a:rPr sz="1125" b="1">
                <a:solidFill>
                  <a:srgbClr val="0F172A"/>
                </a:solidFill>
                <a:latin typeface="Roboto"/>
                <a:ea typeface="Microsoft YaHei"/>
              </a:rPr>
              <a:t>整数）</a:t>
            </a:r>
          </a:p>
        </p:txBody>
      </p:sp>
      <p:sp>
        <p:nvSpPr>
          <p:cNvPr id="16" name="Oval 15"/>
          <p:cNvSpPr/>
          <p:nvPr/>
        </p:nvSpPr>
        <p:spPr>
          <a:xfrm>
            <a:off x="4438649" y="3047999"/>
            <a:ext cx="190499" cy="190499"/>
          </a:xfrm>
          <a:prstGeom prst="ellipse">
            <a:avLst/>
          </a:prstGeom>
          <a:solidFill>
            <a:srgbClr val="0C8ED1"/>
          </a:solidFill>
          <a:ln w="381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67099" y="3562349"/>
            <a:ext cx="2133599" cy="112394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98118" y="3766565"/>
            <a:ext cx="1071562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20A2E5"/>
                </a:solidFill>
                <a:latin typeface="Roboto"/>
                <a:ea typeface="Microsoft YaHei"/>
              </a:rPr>
              <a:t>目标函数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5649" y="4107941"/>
            <a:ext cx="2476499" cy="380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Roboto"/>
                <a:ea typeface="Microsoft YaHei"/>
              </a:rPr>
              <a:t>调度成本与缺车损失加权和</a:t>
            </a:r>
          </a:p>
          <a:p>
            <a:pPr algn="ctr"/>
            <a:r>
              <a:rPr sz="1200" b="1">
                <a:solidFill>
                  <a:srgbClr val="0F172A"/>
                </a:solidFill>
                <a:latin typeface="Roboto"/>
                <a:ea typeface="Microsoft YaHei"/>
              </a:rPr>
              <a:t>最小化</a:t>
            </a:r>
          </a:p>
        </p:txBody>
      </p:sp>
      <p:sp>
        <p:nvSpPr>
          <p:cNvPr id="20" name="Oval 19"/>
          <p:cNvSpPr/>
          <p:nvPr/>
        </p:nvSpPr>
        <p:spPr>
          <a:xfrm>
            <a:off x="7562849" y="3047999"/>
            <a:ext cx="190499" cy="190499"/>
          </a:xfrm>
          <a:prstGeom prst="ellipse">
            <a:avLst/>
          </a:prstGeom>
          <a:solidFill>
            <a:srgbClr val="1C9EE1"/>
          </a:solidFill>
          <a:ln w="381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91299" y="1600200"/>
            <a:ext cx="2133599" cy="112394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9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8006" y="1804415"/>
            <a:ext cx="1500187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20A2E5"/>
                </a:solidFill>
                <a:latin typeface="Roboto"/>
                <a:ea typeface="Microsoft YaHei"/>
              </a:rPr>
              <a:t>库存平衡约束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0451" y="2154555"/>
            <a:ext cx="2375296" cy="3571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25" b="1">
                <a:solidFill>
                  <a:srgbClr val="0F172A"/>
                </a:solidFill>
                <a:latin typeface="Roboto"/>
                <a:ea typeface="Microsoft YaHei"/>
              </a:rPr>
              <a:t>下期库存 = 本期库存 − 骑</a:t>
            </a:r>
          </a:p>
          <a:p>
            <a:pPr algn="ctr"/>
            <a:r>
              <a:rPr sz="1125" b="1">
                <a:solidFill>
                  <a:srgbClr val="0F172A"/>
                </a:solidFill>
                <a:latin typeface="Roboto"/>
                <a:ea typeface="Microsoft YaHei"/>
              </a:rPr>
              <a:t>出 + 骑入 + 调入 − 调出</a:t>
            </a:r>
          </a:p>
        </p:txBody>
      </p:sp>
      <p:sp>
        <p:nvSpPr>
          <p:cNvPr id="24" name="Oval 23"/>
          <p:cNvSpPr/>
          <p:nvPr/>
        </p:nvSpPr>
        <p:spPr>
          <a:xfrm>
            <a:off x="10687049" y="3047999"/>
            <a:ext cx="190499" cy="190499"/>
          </a:xfrm>
          <a:prstGeom prst="ellipse">
            <a:avLst/>
          </a:prstGeom>
          <a:solidFill>
            <a:srgbClr val="2CAEF1"/>
          </a:solidFill>
          <a:ln w="381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715499" y="3562349"/>
            <a:ext cx="2133599" cy="112394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A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6518" y="3766565"/>
            <a:ext cx="1071562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20A2E5"/>
                </a:solidFill>
                <a:latin typeface="Roboto"/>
                <a:ea typeface="Microsoft YaHei"/>
              </a:rPr>
              <a:t>能力约束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7387" y="4107941"/>
            <a:ext cx="2409824" cy="380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Roboto"/>
                <a:ea typeface="Microsoft YaHei"/>
              </a:rPr>
              <a:t>车队 8 辆调度车，单程装</a:t>
            </a:r>
          </a:p>
          <a:p>
            <a:pPr algn="ctr"/>
            <a:r>
              <a:rPr sz="1200" b="1">
                <a:solidFill>
                  <a:srgbClr val="0F172A"/>
                </a:solidFill>
                <a:latin typeface="Roboto"/>
                <a:ea typeface="Microsoft YaHei"/>
              </a:rPr>
              <a:t>载不超过 20 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0284C7">
                  <a:alpha val="15000"/>
                </a:srgbClr>
              </a:gs>
              <a:gs pos="100000">
                <a:srgbClr val="0284C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2AACEF">
                  <a:alpha val="10000"/>
                </a:srgbClr>
              </a:gs>
              <a:gs pos="100000">
                <a:srgbClr val="2AAC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0284C7">
                  <a:alpha val="40000"/>
                </a:srgbClr>
              </a:gs>
              <a:gs pos="50000">
                <a:srgbClr val="0284C7">
                  <a:alpha val="90000"/>
                </a:srgbClr>
              </a:gs>
              <a:gs pos="100000">
                <a:srgbClr val="0284C7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75569">
                    <a:alpha val="70000"/>
                  </a:srgbClr>
                </a:solidFill>
                <a:latin typeface="Roboto"/>
                <a:ea typeface="Microsoft YaHei"/>
              </a:rPr>
              <a:t>08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899" y="136397"/>
            <a:ext cx="11391899" cy="642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050" b="1">
                <a:solidFill>
                  <a:srgbClr val="0F172A"/>
                </a:solidFill>
                <a:latin typeface="Roboto"/>
                <a:ea typeface="Microsoft YaHei"/>
              </a:rPr>
              <a:t>模型二：问题规模与精确解验证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0284C7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899" y="1428750"/>
            <a:ext cx="4876799" cy="32385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749" y="2087117"/>
            <a:ext cx="11068049" cy="1666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49" b="1">
                <a:solidFill>
                  <a:srgbClr val="20A2E5"/>
                </a:solidFill>
                <a:latin typeface="Roboto"/>
                <a:ea typeface="Microsoft YaHei"/>
              </a:rPr>
              <a:t>FRICTION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49" y="2611373"/>
            <a:ext cx="11068049" cy="619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900" b="1">
                <a:solidFill>
                  <a:srgbClr val="0F172A"/>
                </a:solidFill>
                <a:latin typeface="Roboto"/>
                <a:ea typeface="Microsoft YaHei"/>
              </a:rPr>
              <a:t>模型二：问题规模与精确解验证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49" y="4090415"/>
            <a:ext cx="11068049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0">
                <a:solidFill>
                  <a:srgbClr val="475569">
                    <a:alpha val="80000"/>
                  </a:srgbClr>
                </a:solidFill>
                <a:latin typeface="Roboto"/>
                <a:ea typeface="Microsoft YaHei"/>
              </a:rPr>
              <a:t>4 mapped signals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5999" y="1428750"/>
            <a:ext cx="5362574" cy="9144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FFFFF"/>
          </a:solidFill>
          <a:ln w="19050">
            <a:solidFill>
              <a:srgbClr val="0072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6499" y="1612391"/>
            <a:ext cx="5448299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0072B5"/>
                </a:solidFill>
                <a:latin typeface="Roboto"/>
                <a:ea typeface="Microsoft YaHei"/>
              </a:rPr>
              <a:t>!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499" y="1939290"/>
            <a:ext cx="5953125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99" b="1">
                <a:solidFill>
                  <a:srgbClr val="0F172A"/>
                </a:solidFill>
                <a:latin typeface="Roboto"/>
                <a:ea typeface="Microsoft YaHei"/>
              </a:rPr>
              <a:t>决策变量规模：30 × 30 × 24 ≈ 2.16 万个整数变量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5999" y="2514600"/>
            <a:ext cx="5362574" cy="9144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6499" y="2698242"/>
            <a:ext cx="5448299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20A2E5"/>
                </a:solidFill>
                <a:latin typeface="Roboto"/>
                <a:ea typeface="Microsoft YaHei"/>
              </a:rPr>
              <a:t>!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6499" y="3025140"/>
            <a:ext cx="5393531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99" b="1">
                <a:solidFill>
                  <a:srgbClr val="0F172A"/>
                </a:solidFill>
                <a:latin typeface="Roboto"/>
                <a:ea typeface="Microsoft YaHei"/>
              </a:rPr>
              <a:t>小算例（10 区）用分支定界法求精确解验证模型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5999" y="3600450"/>
            <a:ext cx="5362574" cy="9144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FFFFF"/>
          </a:solidFill>
          <a:ln w="19050">
            <a:solidFill>
              <a:srgbClr val="149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6499" y="3784091"/>
            <a:ext cx="5448299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20A2E5"/>
                </a:solidFill>
                <a:latin typeface="Roboto"/>
                <a:ea typeface="Microsoft YaHei"/>
              </a:rPr>
              <a:t>! 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499" y="4110990"/>
            <a:ext cx="4762499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99" b="1">
                <a:solidFill>
                  <a:srgbClr val="0F172A"/>
                </a:solidFill>
                <a:latin typeface="Roboto"/>
                <a:ea typeface="Microsoft YaHei"/>
              </a:rPr>
              <a:t>全规模问题精确求解超时，转入启发式算法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5999" y="4686300"/>
            <a:ext cx="5362574" cy="9144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FFFFF"/>
          </a:solidFill>
          <a:ln w="19050">
            <a:solidFill>
              <a:srgbClr val="26A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6499" y="4869941"/>
            <a:ext cx="5448299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20A2E5"/>
                </a:solidFill>
                <a:latin typeface="Roboto"/>
                <a:ea typeface="Microsoft YaHei"/>
              </a:rPr>
              <a:t>! 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6499" y="5196840"/>
            <a:ext cx="5179218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99" b="1">
                <a:solidFill>
                  <a:srgbClr val="0F172A"/>
                </a:solidFill>
                <a:latin typeface="Roboto"/>
                <a:ea typeface="Microsoft YaHei"/>
              </a:rPr>
              <a:t>小算例上启发式解与精确解目标值偏差仅 1.8%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0C8ED1">
                  <a:alpha val="15000"/>
                </a:srgbClr>
              </a:gs>
              <a:gs pos="100000">
                <a:srgbClr val="0C8ED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34B6F9">
                  <a:alpha val="10000"/>
                </a:srgbClr>
              </a:gs>
              <a:gs pos="100000">
                <a:srgbClr val="34B6F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0C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0C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734799" y="0"/>
            <a:ext cx="457199" cy="6858000"/>
          </a:xfrm>
          <a:prstGeom prst="rect">
            <a:avLst/>
          </a:prstGeom>
          <a:solidFill>
            <a:srgbClr val="0C8ED1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0C8ED1">
                  <a:alpha val="40000"/>
                </a:srgbClr>
              </a:gs>
              <a:gs pos="50000">
                <a:srgbClr val="0C8ED1">
                  <a:alpha val="90000"/>
                </a:srgbClr>
              </a:gs>
              <a:gs pos="100000">
                <a:srgbClr val="0C8ED1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75569">
                    <a:alpha val="70000"/>
                  </a:srgbClr>
                </a:solidFill>
                <a:latin typeface="Roboto"/>
                <a:ea typeface="Microsoft YaHei"/>
              </a:rPr>
              <a:t>09 /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0F172A"/>
                </a:solidFill>
                <a:latin typeface="Roboto"/>
                <a:ea typeface="Microsoft YaHei"/>
              </a:rPr>
              <a:t>求解算法：遗传算法设计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0C8ED1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990599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990599"/>
            <a:ext cx="38099" cy="723900"/>
          </a:xfrm>
          <a:prstGeom prst="roundRect">
            <a:avLst/>
          </a:prstGeom>
          <a:solidFill>
            <a:srgbClr val="0C8ED1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8149" y="1143000"/>
            <a:ext cx="419099" cy="419100"/>
          </a:xfrm>
          <a:prstGeom prst="ellipse">
            <a:avLst/>
          </a:prstGeom>
          <a:noFill/>
          <a:ln w="1905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4824" y="1209674"/>
            <a:ext cx="285749" cy="285750"/>
          </a:xfrm>
          <a:prstGeom prst="ellipse">
            <a:avLst/>
          </a:prstGeom>
          <a:solidFill>
            <a:srgbClr val="0C8ED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949" y="12161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20A2E5"/>
                </a:solidFill>
                <a:latin typeface="Roboto"/>
                <a:ea typeface="Microsoft YaHei"/>
              </a:rPr>
              <a:t>01</a:t>
            </a:r>
          </a:p>
        </p:txBody>
      </p:sp>
      <p:sp>
        <p:nvSpPr>
          <p:cNvPr id="17" name="Oval 16"/>
          <p:cNvSpPr/>
          <p:nvPr/>
        </p:nvSpPr>
        <p:spPr>
          <a:xfrm>
            <a:off x="1009649" y="1333500"/>
            <a:ext cx="76199" cy="76200"/>
          </a:xfrm>
          <a:prstGeom prst="ellipse">
            <a:avLst/>
          </a:prstGeom>
          <a:solidFill>
            <a:srgbClr val="0C8ED1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1099" y="1113282"/>
            <a:ext cx="10287000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编码：以时段为段、区域对为基因的整数编码染色体</a:t>
            </a:r>
          </a:p>
        </p:txBody>
      </p:sp>
      <p:sp>
        <p:nvSpPr>
          <p:cNvPr id="19" name="Rectangle 18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1295399"/>
            <a:ext cx="57149" cy="114300"/>
          </a:xfrm>
          <a:noFill/>
          <a:ln w="2540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2899" y="18288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007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899" y="1828800"/>
            <a:ext cx="38099" cy="723900"/>
          </a:xfrm>
          <a:prstGeom prst="roundRect">
            <a:avLst/>
          </a:prstGeom>
          <a:solidFill>
            <a:srgbClr val="0070B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8149" y="1981199"/>
            <a:ext cx="419099" cy="419100"/>
          </a:xfrm>
          <a:prstGeom prst="ellipse">
            <a:avLst/>
          </a:prstGeom>
          <a:noFill/>
          <a:ln w="19050">
            <a:solidFill>
              <a:srgbClr val="007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4824" y="2047874"/>
            <a:ext cx="285749" cy="285750"/>
          </a:xfrm>
          <a:prstGeom prst="ellipse">
            <a:avLst/>
          </a:prstGeom>
          <a:solidFill>
            <a:srgbClr val="0070B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949" y="20543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0070B3"/>
                </a:solidFill>
                <a:latin typeface="Roboto"/>
                <a:ea typeface="Microsoft YaHei"/>
              </a:rPr>
              <a:t>02</a:t>
            </a:r>
          </a:p>
        </p:txBody>
      </p:sp>
      <p:sp>
        <p:nvSpPr>
          <p:cNvPr id="25" name="Oval 24"/>
          <p:cNvSpPr/>
          <p:nvPr/>
        </p:nvSpPr>
        <p:spPr>
          <a:xfrm>
            <a:off x="1009649" y="2171700"/>
            <a:ext cx="76199" cy="76200"/>
          </a:xfrm>
          <a:prstGeom prst="ellipse">
            <a:avLst/>
          </a:prstGeom>
          <a:solidFill>
            <a:srgbClr val="0070B3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1099" y="1951481"/>
            <a:ext cx="13351668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参数：种群 200，锦标赛选择，两点交叉概率 0.8，变异概率 0.05</a:t>
            </a:r>
          </a:p>
        </p:txBody>
      </p:sp>
      <p:sp>
        <p:nvSpPr>
          <p:cNvPr id="27" name="Rectangle 26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2133599"/>
            <a:ext cx="57149" cy="114300"/>
          </a:xfrm>
          <a:noFill/>
          <a:ln w="25400">
            <a:solidFill>
              <a:srgbClr val="007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2899" y="26670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34B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2899" y="2667000"/>
            <a:ext cx="38099" cy="723900"/>
          </a:xfrm>
          <a:prstGeom prst="roundRect">
            <a:avLst/>
          </a:prstGeom>
          <a:solidFill>
            <a:srgbClr val="34B6F9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8149" y="2819399"/>
            <a:ext cx="419099" cy="419100"/>
          </a:xfrm>
          <a:prstGeom prst="ellipse">
            <a:avLst/>
          </a:prstGeom>
          <a:noFill/>
          <a:ln w="19050">
            <a:solidFill>
              <a:srgbClr val="34B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4824" y="2886075"/>
            <a:ext cx="285749" cy="285750"/>
          </a:xfrm>
          <a:prstGeom prst="ellipse">
            <a:avLst/>
          </a:prstGeom>
          <a:solidFill>
            <a:srgbClr val="34B6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949" y="28925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20A2E5"/>
                </a:solidFill>
                <a:latin typeface="Roboto"/>
                <a:ea typeface="Microsoft YaHei"/>
              </a:rPr>
              <a:t>03</a:t>
            </a:r>
          </a:p>
        </p:txBody>
      </p:sp>
      <p:sp>
        <p:nvSpPr>
          <p:cNvPr id="33" name="Oval 32"/>
          <p:cNvSpPr/>
          <p:nvPr/>
        </p:nvSpPr>
        <p:spPr>
          <a:xfrm>
            <a:off x="1009649" y="3009900"/>
            <a:ext cx="76199" cy="76200"/>
          </a:xfrm>
          <a:prstGeom prst="ellipse">
            <a:avLst/>
          </a:prstGeom>
          <a:solidFill>
            <a:srgbClr val="34B6F9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1099" y="2789681"/>
            <a:ext cx="9001125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适应度：目标函数取负，叠加约束违反惩罚项</a:t>
            </a:r>
          </a:p>
        </p:txBody>
      </p:sp>
      <p:sp>
        <p:nvSpPr>
          <p:cNvPr id="35" name="Rectangle 34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2971800"/>
            <a:ext cx="57149" cy="114300"/>
          </a:xfrm>
          <a:noFill/>
          <a:ln w="25400">
            <a:solidFill>
              <a:srgbClr val="34B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2899" y="3505199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42899" y="3505199"/>
            <a:ext cx="38099" cy="723900"/>
          </a:xfrm>
          <a:prstGeom prst="roundRect">
            <a:avLst/>
          </a:prstGeom>
          <a:solidFill>
            <a:srgbClr val="0C8ED1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8149" y="3657600"/>
            <a:ext cx="419099" cy="419100"/>
          </a:xfrm>
          <a:prstGeom prst="ellipse">
            <a:avLst/>
          </a:prstGeom>
          <a:noFill/>
          <a:ln w="1905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04824" y="3724274"/>
            <a:ext cx="285749" cy="285750"/>
          </a:xfrm>
          <a:prstGeom prst="ellipse">
            <a:avLst/>
          </a:prstGeom>
          <a:solidFill>
            <a:srgbClr val="0C8ED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949" y="37307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20A2E5"/>
                </a:solidFill>
                <a:latin typeface="Roboto"/>
                <a:ea typeface="Microsoft YaHei"/>
              </a:rPr>
              <a:t>04</a:t>
            </a:r>
          </a:p>
        </p:txBody>
      </p:sp>
      <p:sp>
        <p:nvSpPr>
          <p:cNvPr id="41" name="Oval 40"/>
          <p:cNvSpPr/>
          <p:nvPr/>
        </p:nvSpPr>
        <p:spPr>
          <a:xfrm>
            <a:off x="1009649" y="3848099"/>
            <a:ext cx="76199" cy="76200"/>
          </a:xfrm>
          <a:prstGeom prst="ellipse">
            <a:avLst/>
          </a:prstGeom>
          <a:solidFill>
            <a:srgbClr val="0C8ED1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81099" y="3627882"/>
            <a:ext cx="11015662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收敛判据：连续 50 代改善小于 0.1%，约 500 代收敛</a:t>
            </a:r>
          </a:p>
        </p:txBody>
      </p:sp>
      <p:sp>
        <p:nvSpPr>
          <p:cNvPr id="43" name="Rectangle 42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3809999"/>
            <a:ext cx="57149" cy="114300"/>
          </a:xfrm>
          <a:noFill/>
          <a:ln w="2540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0C8ED1">
                  <a:alpha val="15000"/>
                </a:srgbClr>
              </a:gs>
              <a:gs pos="100000">
                <a:srgbClr val="0C8ED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34B6F9">
                  <a:alpha val="10000"/>
                </a:srgbClr>
              </a:gs>
              <a:gs pos="100000">
                <a:srgbClr val="34B6F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0C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0C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0C8ED1">
                  <a:alpha val="40000"/>
                </a:srgbClr>
              </a:gs>
              <a:gs pos="50000">
                <a:srgbClr val="0C8ED1">
                  <a:alpha val="90000"/>
                </a:srgbClr>
              </a:gs>
              <a:gs pos="100000">
                <a:srgbClr val="0C8ED1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75569">
                    <a:alpha val="70000"/>
                  </a:srgbClr>
                </a:solidFill>
                <a:latin typeface="Roboto"/>
                <a:ea typeface="Microsoft YaHei"/>
              </a:rPr>
              <a:t>10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899" y="136397"/>
            <a:ext cx="11391899" cy="642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050" b="1">
                <a:solidFill>
                  <a:srgbClr val="0F172A"/>
                </a:solidFill>
                <a:latin typeface="Roboto"/>
                <a:ea typeface="Microsoft YaHei"/>
              </a:rPr>
              <a:t>求解结果：全天调度方案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0C8ED1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899" y="1352549"/>
            <a:ext cx="5629274" cy="173355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FFFFF"/>
          </a:solidFill>
          <a:ln w="19050">
            <a:solidFill>
              <a:srgbClr val="007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399" y="1536192"/>
            <a:ext cx="11201399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007CBF"/>
                </a:solidFill>
                <a:latin typeface="Roboto"/>
                <a:ea typeface="Microsoft YaHei"/>
              </a:rPr>
              <a:t>✓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399" y="1863089"/>
            <a:ext cx="6369843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99" b="1">
                <a:solidFill>
                  <a:srgbClr val="0F172A"/>
                </a:solidFill>
                <a:latin typeface="Roboto"/>
                <a:ea typeface="Microsoft YaHei"/>
              </a:rPr>
              <a:t>全天安排跨区调度 312 车次，集中于早晚高峰前两个窗口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9824" y="1352549"/>
            <a:ext cx="5629274" cy="173355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FFFFF"/>
          </a:solidFill>
          <a:ln w="1905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0324" y="1536192"/>
            <a:ext cx="5324474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20A2E5"/>
                </a:solidFill>
                <a:latin typeface="Roboto"/>
                <a:ea typeface="Microsoft YaHei"/>
              </a:rPr>
              <a:t>✓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0324" y="1863089"/>
            <a:ext cx="6500812" cy="4762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99" b="1">
                <a:solidFill>
                  <a:srgbClr val="0F172A"/>
                </a:solidFill>
                <a:latin typeface="Roboto"/>
                <a:ea typeface="Microsoft YaHei"/>
              </a:rPr>
              <a:t>主流向：居住区 → 地铁站（早高峰前），商务区 → 居住区</a:t>
            </a:r>
          </a:p>
          <a:p>
            <a:r>
              <a:rPr sz="1499" b="1">
                <a:solidFill>
                  <a:srgbClr val="0F172A"/>
                </a:solidFill>
                <a:latin typeface="Roboto"/>
                <a:ea typeface="Microsoft YaHei"/>
              </a:rPr>
              <a:t>（晚高峰前）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899" y="3333749"/>
            <a:ext cx="5629274" cy="173355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FFFFF"/>
          </a:solidFill>
          <a:ln w="19050">
            <a:solidFill>
              <a:srgbClr val="1EA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3399" y="3517392"/>
            <a:ext cx="11201399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20A2E5"/>
                </a:solidFill>
                <a:latin typeface="Roboto"/>
                <a:ea typeface="Microsoft YaHei"/>
              </a:rPr>
              <a:t>✓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399" y="3844290"/>
            <a:ext cx="6405562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99" b="1">
                <a:solidFill>
                  <a:srgbClr val="0F172A"/>
                </a:solidFill>
                <a:latin typeface="Roboto"/>
                <a:ea typeface="Microsoft YaHei"/>
              </a:rPr>
              <a:t>单日调度成本由 1.24 万元降至 0.98 万元，下降 21.0%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9824" y="3333749"/>
            <a:ext cx="5629274" cy="173355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FFFFF"/>
          </a:solidFill>
          <a:ln w="19050">
            <a:solidFill>
              <a:srgbClr val="30B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0324" y="3517392"/>
            <a:ext cx="5324474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20A2E5"/>
                </a:solidFill>
                <a:latin typeface="Roboto"/>
                <a:ea typeface="Microsoft YaHei"/>
              </a:rPr>
              <a:t>✓ 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0324" y="3844290"/>
            <a:ext cx="3643312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99" b="1">
                <a:solidFill>
                  <a:srgbClr val="0F172A"/>
                </a:solidFill>
                <a:latin typeface="Roboto"/>
                <a:ea typeface="Microsoft YaHei"/>
              </a:rPr>
              <a:t>调度车辆总行驶里程下降 21.8%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007CBF">
                  <a:alpha val="15000"/>
                </a:srgbClr>
              </a:gs>
              <a:gs pos="100000">
                <a:srgbClr val="007CB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28A4E7">
                  <a:alpha val="10000"/>
                </a:srgbClr>
              </a:gs>
              <a:gs pos="100000">
                <a:srgbClr val="28A4E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007C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007C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849099" y="0"/>
            <a:ext cx="342899" cy="6858000"/>
          </a:xfrm>
          <a:prstGeom prst="rect">
            <a:avLst/>
          </a:prstGeom>
          <a:solidFill>
            <a:srgbClr val="007CB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007CBF">
                  <a:alpha val="40000"/>
                </a:srgbClr>
              </a:gs>
              <a:gs pos="50000">
                <a:srgbClr val="007CBF">
                  <a:alpha val="90000"/>
                </a:srgbClr>
              </a:gs>
              <a:gs pos="100000">
                <a:srgbClr val="007CBF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75569">
                    <a:alpha val="70000"/>
                  </a:srgbClr>
                </a:solidFill>
                <a:latin typeface="Roboto"/>
                <a:ea typeface="Microsoft YaHei"/>
              </a:rPr>
              <a:t>11 /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0F172A"/>
                </a:solidFill>
                <a:latin typeface="Roboto"/>
                <a:ea typeface="Microsoft YaHei"/>
              </a:rPr>
              <a:t>结果分析：服务水平对比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007CB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1371600"/>
            <a:ext cx="11506199" cy="340995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5000"/>
                </a:srgbClr>
              </a:gs>
            </a:gsLst>
            <a:lin ang="0" scaled="0"/>
          </a:gradFill>
          <a:ln w="19050">
            <a:solidFill>
              <a:srgbClr val="007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1371600"/>
            <a:ext cx="38099" cy="3409950"/>
          </a:xfrm>
          <a:prstGeom prst="roundRect">
            <a:avLst/>
          </a:prstGeom>
          <a:solidFill>
            <a:srgbClr val="007CB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1695449"/>
            <a:ext cx="76199" cy="76200"/>
          </a:xfrm>
          <a:solidFill>
            <a:srgbClr val="007CB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8699" y="1608582"/>
            <a:ext cx="5422106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75569"/>
                </a:solidFill>
                <a:latin typeface="Roboto"/>
                <a:ea typeface="Microsoft YaHei"/>
              </a:rPr>
              <a:t>指标|调度前|优化后|变化</a:t>
            </a:r>
          </a:p>
        </p:txBody>
      </p:sp>
      <p:sp>
        <p:nvSpPr>
          <p:cNvPr id="16" name="Rectangle 15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2381250"/>
            <a:ext cx="76199" cy="76200"/>
          </a:xfrm>
          <a:solidFill>
            <a:srgbClr val="007CB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8699" y="2294381"/>
            <a:ext cx="9386887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75569"/>
                </a:solidFill>
                <a:latin typeface="Roboto"/>
                <a:ea typeface="Microsoft YaHei"/>
              </a:rPr>
              <a:t>高峰缺车率|18.6%|7.9%|下降 10.7 个百分点</a:t>
            </a:r>
          </a:p>
        </p:txBody>
      </p:sp>
      <p:sp>
        <p:nvSpPr>
          <p:cNvPr id="18" name="Rectangle 17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3067050"/>
            <a:ext cx="76199" cy="76200"/>
          </a:xfrm>
          <a:solidFill>
            <a:srgbClr val="007CB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699" y="2980181"/>
            <a:ext cx="10051256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75569"/>
                </a:solidFill>
                <a:latin typeface="Roboto"/>
                <a:ea typeface="Microsoft YaHei"/>
              </a:rPr>
              <a:t>日均调度成本|1.24 万元|0.98 万元|下降 21.0%</a:t>
            </a:r>
          </a:p>
        </p:txBody>
      </p:sp>
      <p:sp>
        <p:nvSpPr>
          <p:cNvPr id="20" name="Rectangle 19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3752849"/>
            <a:ext cx="76199" cy="76200"/>
          </a:xfrm>
          <a:solidFill>
            <a:srgbClr val="007CB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8699" y="3665981"/>
            <a:ext cx="10522743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75569"/>
                </a:solidFill>
                <a:latin typeface="Roboto"/>
                <a:ea typeface="Microsoft YaHei"/>
              </a:rPr>
              <a:t>日均借车失败次数|9,860 次|4,190 次|下降 57.5%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0C8ED1">
                  <a:alpha val="15000"/>
                </a:srgbClr>
              </a:gs>
              <a:gs pos="100000">
                <a:srgbClr val="0C8ED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34B6F9">
                  <a:alpha val="10000"/>
                </a:srgbClr>
              </a:gs>
              <a:gs pos="100000">
                <a:srgbClr val="34B6F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0C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0C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849099" y="0"/>
            <a:ext cx="342899" cy="6858000"/>
          </a:xfrm>
          <a:prstGeom prst="rect">
            <a:avLst/>
          </a:prstGeom>
          <a:solidFill>
            <a:srgbClr val="0C8ED1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0C8ED1">
                  <a:alpha val="40000"/>
                </a:srgbClr>
              </a:gs>
              <a:gs pos="50000">
                <a:srgbClr val="0C8ED1">
                  <a:alpha val="90000"/>
                </a:srgbClr>
              </a:gs>
              <a:gs pos="100000">
                <a:srgbClr val="0C8ED1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75569">
                    <a:alpha val="70000"/>
                  </a:srgbClr>
                </a:solidFill>
                <a:latin typeface="Roboto"/>
                <a:ea typeface="Microsoft YaHei"/>
              </a:rPr>
              <a:t>12 /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0F172A"/>
                </a:solidFill>
                <a:latin typeface="Roboto"/>
                <a:ea typeface="Microsoft YaHei"/>
              </a:rPr>
              <a:t>灵敏度分析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0C8ED1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1371600"/>
            <a:ext cx="367664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5000"/>
                </a:srgbClr>
              </a:gs>
            </a:gsLst>
            <a:lin ang="0" scaled="0"/>
          </a:gradFill>
          <a:ln w="1905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1371600"/>
            <a:ext cx="3676649" cy="38100"/>
          </a:xfrm>
          <a:prstGeom prst="roundRect">
            <a:avLst/>
          </a:prstGeom>
          <a:solidFill>
            <a:srgbClr val="0C8ED1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924049" y="1552574"/>
            <a:ext cx="514349" cy="514350"/>
          </a:xfrm>
          <a:prstGeom prst="ellipse">
            <a:avLst/>
          </a:prstGeom>
          <a:noFill/>
          <a:ln w="1270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962149" y="1590675"/>
            <a:ext cx="438149" cy="438149"/>
          </a:xfrm>
          <a:prstGeom prst="ellipse">
            <a:avLst/>
          </a:prstGeom>
          <a:solidFill>
            <a:srgbClr val="0C8ED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95474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20A2E5">
                    <a:alpha val="90000"/>
                  </a:srgbClr>
                </a:solidFill>
                <a:latin typeface="Roboto"/>
                <a:ea typeface="Microsoft YaHei"/>
              </a:rPr>
              <a:t>01</a:t>
            </a:r>
          </a:p>
        </p:txBody>
      </p:sp>
      <p:sp>
        <p:nvSpPr>
          <p:cNvPr id="17" name="Rectangle 16"/>
          <p:cNvSpPr/>
          <p:nvPr/>
        </p:nvSpPr>
        <p:spPr>
          <a:custGeom>
            <a:pathLst>
              <a:path w="3422649" h="285750">
                <a:moveTo>
                  <a:pt x="0" y="285750"/>
                </a:moveTo>
                <a:cubicBezTo>
                  <a:pt x="685799" y="158750"/>
                  <a:pt x="1438274" y="126999"/>
                  <a:pt x="2257424" y="190499"/>
                </a:cubicBezTo>
                <a:cubicBezTo>
                  <a:pt x="3076574" y="254000"/>
                  <a:pt x="3422649" y="190499"/>
                  <a:pt x="3295649" y="0"/>
                </a:cubicBezTo>
              </a:path>
            </a:pathLst>
          </a:custGeom>
          <a:xfrm>
            <a:off x="533399" y="4038599"/>
            <a:ext cx="3422649" cy="285750"/>
          </a:xfrm>
          <a:noFill/>
          <a:ln w="2540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800474" y="4010024"/>
            <a:ext cx="57149" cy="57150"/>
          </a:xfrm>
          <a:prstGeom prst="ellipse">
            <a:avLst/>
          </a:prstGeom>
          <a:solidFill>
            <a:srgbClr val="0C8ED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2587370"/>
            <a:ext cx="4439840" cy="7858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475" b="1">
                <a:latin typeface="Roboto"/>
                <a:ea typeface="Microsoft YaHei"/>
              </a:rPr>
              <a:t>7.1%-9.4% 区间，方</a:t>
            </a:r>
          </a:p>
          <a:p>
            <a:pPr algn="ctr"/>
            <a:r>
              <a:rPr sz="2475" b="1">
                <a:latin typeface="Roboto"/>
                <a:ea typeface="Microsoft YaHei"/>
              </a:rPr>
              <a:t>案稳健 需求扰动 ±20%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818" y="4166615"/>
            <a:ext cx="1928812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475569">
                    <a:alpha val="90000"/>
                  </a:srgbClr>
                </a:solidFill>
                <a:latin typeface="Roboto"/>
                <a:ea typeface="Microsoft YaHei"/>
              </a:rPr>
              <a:t>高峰缺车率维持在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48149" y="1371600"/>
            <a:ext cx="367664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5000"/>
                </a:srgbClr>
              </a:gs>
            </a:gsLst>
            <a:lin ang="0" scaled="0"/>
          </a:gradFill>
          <a:ln w="19050">
            <a:solidFill>
              <a:srgbClr val="006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48149" y="1371600"/>
            <a:ext cx="3676649" cy="38100"/>
          </a:xfrm>
          <a:prstGeom prst="roundRect">
            <a:avLst/>
          </a:prstGeom>
          <a:solidFill>
            <a:srgbClr val="006BAE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29299" y="1552574"/>
            <a:ext cx="514349" cy="514350"/>
          </a:xfrm>
          <a:prstGeom prst="ellipse">
            <a:avLst/>
          </a:prstGeom>
          <a:noFill/>
          <a:ln w="12700">
            <a:solidFill>
              <a:srgbClr val="006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67399" y="1590675"/>
            <a:ext cx="438149" cy="438149"/>
          </a:xfrm>
          <a:prstGeom prst="ellipse">
            <a:avLst/>
          </a:prstGeom>
          <a:solidFill>
            <a:srgbClr val="006BA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00724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006BAE">
                    <a:alpha val="90000"/>
                  </a:srgbClr>
                </a:solidFill>
                <a:latin typeface="Roboto"/>
                <a:ea typeface="Microsoft YaHei"/>
              </a:rPr>
              <a:t>02</a:t>
            </a:r>
          </a:p>
        </p:txBody>
      </p:sp>
      <p:sp>
        <p:nvSpPr>
          <p:cNvPr id="26" name="Rectangle 25"/>
          <p:cNvSpPr/>
          <p:nvPr/>
        </p:nvSpPr>
        <p:spPr>
          <a:custGeom>
            <a:pathLst>
              <a:path w="3422649" h="285750">
                <a:moveTo>
                  <a:pt x="0" y="285750"/>
                </a:moveTo>
                <a:cubicBezTo>
                  <a:pt x="685799" y="158750"/>
                  <a:pt x="1438274" y="126999"/>
                  <a:pt x="2257424" y="190499"/>
                </a:cubicBezTo>
                <a:cubicBezTo>
                  <a:pt x="3076574" y="254000"/>
                  <a:pt x="3422649" y="190499"/>
                  <a:pt x="3295649" y="0"/>
                </a:cubicBezTo>
              </a:path>
            </a:pathLst>
          </a:custGeom>
          <a:xfrm>
            <a:off x="4438649" y="4038599"/>
            <a:ext cx="3422649" cy="285750"/>
          </a:xfrm>
          <a:noFill/>
          <a:ln w="25400">
            <a:solidFill>
              <a:srgbClr val="006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05724" y="4010024"/>
            <a:ext cx="57149" cy="57150"/>
          </a:xfrm>
          <a:prstGeom prst="ellipse">
            <a:avLst/>
          </a:prstGeom>
          <a:solidFill>
            <a:srgbClr val="006BA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39257" y="2406777"/>
            <a:ext cx="3094434" cy="1095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450" b="1">
                <a:latin typeface="Roboto"/>
                <a:ea typeface="Microsoft YaHei"/>
              </a:rPr>
              <a:t>20 辆增至</a:t>
            </a:r>
          </a:p>
          <a:p>
            <a:pPr algn="ctr"/>
            <a:r>
              <a:rPr sz="3450" b="1">
                <a:latin typeface="Roboto"/>
                <a:ea typeface="Microsoft YaHei"/>
              </a:rPr>
              <a:t>30 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25515" y="3957065"/>
            <a:ext cx="3921918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475569">
                    <a:alpha val="90000"/>
                  </a:srgbClr>
                </a:solidFill>
                <a:latin typeface="Roboto"/>
                <a:ea typeface="Microsoft YaHei"/>
              </a:rPr>
              <a:t>总成本再降 6.3%，边际收益递减 调度</a:t>
            </a:r>
          </a:p>
          <a:p>
            <a:pPr algn="ctr"/>
            <a:r>
              <a:rPr sz="1350" b="0">
                <a:solidFill>
                  <a:srgbClr val="475569">
                    <a:alpha val="90000"/>
                  </a:srgbClr>
                </a:solidFill>
                <a:latin typeface="Roboto"/>
                <a:ea typeface="Microsoft YaHei"/>
              </a:rPr>
              <a:t>车容量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53399" y="1371600"/>
            <a:ext cx="367664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5000"/>
                </a:srgbClr>
              </a:gs>
            </a:gsLst>
            <a:lin ang="0" scaled="0"/>
          </a:gradFill>
          <a:ln w="19050">
            <a:solidFill>
              <a:srgbClr val="39B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53399" y="1371600"/>
            <a:ext cx="3676649" cy="38100"/>
          </a:xfrm>
          <a:prstGeom prst="roundRect">
            <a:avLst/>
          </a:prstGeom>
          <a:solidFill>
            <a:srgbClr val="39BBFE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734549" y="1552574"/>
            <a:ext cx="514349" cy="514350"/>
          </a:xfrm>
          <a:prstGeom prst="ellipse">
            <a:avLst/>
          </a:prstGeom>
          <a:noFill/>
          <a:ln w="12700">
            <a:solidFill>
              <a:srgbClr val="39B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772649" y="1590675"/>
            <a:ext cx="438149" cy="438149"/>
          </a:xfrm>
          <a:prstGeom prst="ellipse">
            <a:avLst/>
          </a:prstGeom>
          <a:solidFill>
            <a:srgbClr val="39BBF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05974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20A2E5">
                    <a:alpha val="90000"/>
                  </a:srgbClr>
                </a:solidFill>
                <a:latin typeface="Roboto"/>
                <a:ea typeface="Microsoft YaHei"/>
              </a:rPr>
              <a:t>03</a:t>
            </a:r>
          </a:p>
        </p:txBody>
      </p:sp>
      <p:sp>
        <p:nvSpPr>
          <p:cNvPr id="35" name="Rectangle 34"/>
          <p:cNvSpPr/>
          <p:nvPr/>
        </p:nvSpPr>
        <p:spPr>
          <a:custGeom>
            <a:pathLst>
              <a:path w="3422649" h="285750">
                <a:moveTo>
                  <a:pt x="0" y="285750"/>
                </a:moveTo>
                <a:cubicBezTo>
                  <a:pt x="685799" y="158750"/>
                  <a:pt x="1438274" y="126999"/>
                  <a:pt x="2257424" y="190499"/>
                </a:cubicBezTo>
                <a:cubicBezTo>
                  <a:pt x="3076574" y="254000"/>
                  <a:pt x="3422649" y="190499"/>
                  <a:pt x="3295649" y="0"/>
                </a:cubicBezTo>
              </a:path>
            </a:pathLst>
          </a:custGeom>
          <a:xfrm>
            <a:off x="8343899" y="4038599"/>
            <a:ext cx="3422649" cy="285750"/>
          </a:xfrm>
          <a:noFill/>
          <a:ln w="25400">
            <a:solidFill>
              <a:srgbClr val="39B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610974" y="4010024"/>
            <a:ext cx="57149" cy="57150"/>
          </a:xfrm>
          <a:prstGeom prst="ellipse">
            <a:avLst/>
          </a:prstGeom>
          <a:solidFill>
            <a:srgbClr val="39BBF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12881" y="2470784"/>
            <a:ext cx="4357687" cy="1071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50" b="1">
                <a:latin typeface="Roboto"/>
                <a:ea typeface="Microsoft YaHei"/>
              </a:rPr>
              <a:t>8 元区间内，最优调度总</a:t>
            </a:r>
          </a:p>
          <a:p>
            <a:pPr algn="ctr"/>
            <a:r>
              <a:rPr sz="2250" b="1">
                <a:latin typeface="Roboto"/>
                <a:ea typeface="Microsoft YaHei"/>
              </a:rPr>
              <a:t>量变化不超过 5% 缺车惩</a:t>
            </a:r>
          </a:p>
          <a:p>
            <a:pPr algn="ctr"/>
            <a:r>
              <a:rPr sz="2250" b="1">
                <a:latin typeface="Roboto"/>
                <a:ea typeface="Microsoft YaHei"/>
              </a:rPr>
              <a:t>罚系数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1668" y="4166615"/>
            <a:ext cx="900112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475569">
                    <a:alpha val="90000"/>
                  </a:srgbClr>
                </a:solidFill>
                <a:latin typeface="Roboto"/>
                <a:ea typeface="Microsoft YaHei"/>
              </a:rPr>
              <a:t>α 在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0284C7">
                  <a:alpha val="15000"/>
                </a:srgbClr>
              </a:gs>
              <a:gs pos="100000">
                <a:srgbClr val="0284C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2AACEF">
                  <a:alpha val="10000"/>
                </a:srgbClr>
              </a:gs>
              <a:gs pos="100000">
                <a:srgbClr val="2AAC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734799" y="0"/>
            <a:ext cx="457199" cy="6858000"/>
          </a:xfrm>
          <a:prstGeom prst="rect">
            <a:avLst/>
          </a:prstGeom>
          <a:solidFill>
            <a:srgbClr val="0284C7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0284C7">
                  <a:alpha val="40000"/>
                </a:srgbClr>
              </a:gs>
              <a:gs pos="50000">
                <a:srgbClr val="0284C7">
                  <a:alpha val="90000"/>
                </a:srgbClr>
              </a:gs>
              <a:gs pos="100000">
                <a:srgbClr val="0284C7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75569">
                    <a:alpha val="70000"/>
                  </a:srgbClr>
                </a:solidFill>
                <a:latin typeface="Roboto"/>
                <a:ea typeface="Microsoft YaHei"/>
              </a:rPr>
              <a:t>13 /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0F172A"/>
                </a:solidFill>
                <a:latin typeface="Roboto"/>
                <a:ea typeface="Microsoft YaHei"/>
              </a:rPr>
              <a:t>模型评价与改进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0284C7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990599"/>
            <a:ext cx="11506199" cy="12192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990599"/>
            <a:ext cx="38099" cy="1219200"/>
          </a:xfrm>
          <a:prstGeom prst="roundRect">
            <a:avLst/>
          </a:prstGeom>
          <a:solidFill>
            <a:srgbClr val="0284C7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8149" y="1390650"/>
            <a:ext cx="419099" cy="419100"/>
          </a:xfrm>
          <a:prstGeom prst="ellipse">
            <a:avLst/>
          </a:prstGeom>
          <a:noFill/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4824" y="1457325"/>
            <a:ext cx="285749" cy="285750"/>
          </a:xfrm>
          <a:prstGeom prst="ellipse">
            <a:avLst/>
          </a:prstGeom>
          <a:solidFill>
            <a:srgbClr val="0284C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949" y="146380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20A2E5"/>
                </a:solidFill>
                <a:latin typeface="Roboto"/>
                <a:ea typeface="Microsoft YaHei"/>
              </a:rPr>
              <a:t>01</a:t>
            </a:r>
          </a:p>
        </p:txBody>
      </p:sp>
      <p:sp>
        <p:nvSpPr>
          <p:cNvPr id="17" name="Oval 16"/>
          <p:cNvSpPr/>
          <p:nvPr/>
        </p:nvSpPr>
        <p:spPr>
          <a:xfrm>
            <a:off x="1009649" y="1333500"/>
            <a:ext cx="76199" cy="76200"/>
          </a:xfrm>
          <a:prstGeom prst="ellipse">
            <a:avLst/>
          </a:prstGeom>
          <a:solidFill>
            <a:srgbClr val="0284C7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1099" y="1113282"/>
            <a:ext cx="12280106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优点：预测与优化两阶段解耦，可解释性强；全城方案 3 分钟</a:t>
            </a:r>
          </a:p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内求出</a:t>
            </a:r>
          </a:p>
        </p:txBody>
      </p:sp>
      <p:sp>
        <p:nvSpPr>
          <p:cNvPr id="19" name="Rectangle 18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1543050"/>
            <a:ext cx="57149" cy="114300"/>
          </a:xfrm>
          <a:noFill/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2899" y="23241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00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899" y="2324100"/>
            <a:ext cx="38099" cy="723900"/>
          </a:xfrm>
          <a:prstGeom prst="roundRect">
            <a:avLst/>
          </a:prstGeom>
          <a:solidFill>
            <a:srgbClr val="0066A9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8149" y="2476499"/>
            <a:ext cx="419099" cy="419100"/>
          </a:xfrm>
          <a:prstGeom prst="ellipse">
            <a:avLst/>
          </a:prstGeom>
          <a:noFill/>
          <a:ln w="19050">
            <a:solidFill>
              <a:srgbClr val="00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4824" y="2543175"/>
            <a:ext cx="285749" cy="285750"/>
          </a:xfrm>
          <a:prstGeom prst="ellipse">
            <a:avLst/>
          </a:prstGeom>
          <a:solidFill>
            <a:srgbClr val="0066A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949" y="25496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0066A9"/>
                </a:solidFill>
                <a:latin typeface="Roboto"/>
                <a:ea typeface="Microsoft YaHei"/>
              </a:rPr>
              <a:t>02</a:t>
            </a:r>
          </a:p>
        </p:txBody>
      </p:sp>
      <p:sp>
        <p:nvSpPr>
          <p:cNvPr id="25" name="Oval 24"/>
          <p:cNvSpPr/>
          <p:nvPr/>
        </p:nvSpPr>
        <p:spPr>
          <a:xfrm>
            <a:off x="1009649" y="2667000"/>
            <a:ext cx="76199" cy="76200"/>
          </a:xfrm>
          <a:prstGeom prst="ellipse">
            <a:avLst/>
          </a:prstGeom>
          <a:solidFill>
            <a:srgbClr val="0066A9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1099" y="2446781"/>
            <a:ext cx="10287000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缺点：未建模调度车行驶路径顺序，成本估计偏保守</a:t>
            </a:r>
          </a:p>
        </p:txBody>
      </p:sp>
      <p:sp>
        <p:nvSpPr>
          <p:cNvPr id="27" name="Rectangle 26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2628900"/>
            <a:ext cx="57149" cy="114300"/>
          </a:xfrm>
          <a:noFill/>
          <a:ln w="25400">
            <a:solidFill>
              <a:srgbClr val="00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2899" y="3162299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2AA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2899" y="3162299"/>
            <a:ext cx="38099" cy="723900"/>
          </a:xfrm>
          <a:prstGeom prst="roundRect">
            <a:avLst/>
          </a:prstGeom>
          <a:solidFill>
            <a:srgbClr val="2AACE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8149" y="3314700"/>
            <a:ext cx="419099" cy="419100"/>
          </a:xfrm>
          <a:prstGeom prst="ellipse">
            <a:avLst/>
          </a:prstGeom>
          <a:noFill/>
          <a:ln w="19050">
            <a:solidFill>
              <a:srgbClr val="2AA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4824" y="3381375"/>
            <a:ext cx="285749" cy="285750"/>
          </a:xfrm>
          <a:prstGeom prst="ellipse">
            <a:avLst/>
          </a:prstGeom>
          <a:solidFill>
            <a:srgbClr val="2AACE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949" y="33878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20A2E5"/>
                </a:solidFill>
                <a:latin typeface="Roboto"/>
                <a:ea typeface="Microsoft YaHei"/>
              </a:rPr>
              <a:t>03</a:t>
            </a:r>
          </a:p>
        </p:txBody>
      </p:sp>
      <p:sp>
        <p:nvSpPr>
          <p:cNvPr id="33" name="Oval 32"/>
          <p:cNvSpPr/>
          <p:nvPr/>
        </p:nvSpPr>
        <p:spPr>
          <a:xfrm>
            <a:off x="1009649" y="3505199"/>
            <a:ext cx="76199" cy="76200"/>
          </a:xfrm>
          <a:prstGeom prst="ellipse">
            <a:avLst/>
          </a:prstGeom>
          <a:solidFill>
            <a:srgbClr val="2AACE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1099" y="3284982"/>
            <a:ext cx="12430125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改进：引入滚动时域优化应对需求突变，联合电子围栏容量约束</a:t>
            </a:r>
          </a:p>
        </p:txBody>
      </p:sp>
      <p:sp>
        <p:nvSpPr>
          <p:cNvPr id="35" name="Rectangle 34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3467100"/>
            <a:ext cx="57149" cy="114300"/>
          </a:xfrm>
          <a:noFill/>
          <a:ln w="25400">
            <a:solidFill>
              <a:srgbClr val="2AA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2899" y="40005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42899" y="4000500"/>
            <a:ext cx="38099" cy="723900"/>
          </a:xfrm>
          <a:prstGeom prst="roundRect">
            <a:avLst/>
          </a:prstGeom>
          <a:solidFill>
            <a:srgbClr val="0284C7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8149" y="4152899"/>
            <a:ext cx="419099" cy="419100"/>
          </a:xfrm>
          <a:prstGeom prst="ellipse">
            <a:avLst/>
          </a:prstGeom>
          <a:noFill/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04824" y="4219575"/>
            <a:ext cx="285749" cy="285750"/>
          </a:xfrm>
          <a:prstGeom prst="ellipse">
            <a:avLst/>
          </a:prstGeom>
          <a:solidFill>
            <a:srgbClr val="0284C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949" y="4226051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20A2E5"/>
                </a:solidFill>
                <a:latin typeface="Roboto"/>
                <a:ea typeface="Microsoft YaHei"/>
              </a:rPr>
              <a:t>04</a:t>
            </a:r>
          </a:p>
        </p:txBody>
      </p:sp>
      <p:sp>
        <p:nvSpPr>
          <p:cNvPr id="41" name="Oval 40"/>
          <p:cNvSpPr/>
          <p:nvPr/>
        </p:nvSpPr>
        <p:spPr>
          <a:xfrm>
            <a:off x="1009649" y="4343400"/>
            <a:ext cx="76199" cy="76200"/>
          </a:xfrm>
          <a:prstGeom prst="ellipse">
            <a:avLst/>
          </a:prstGeom>
          <a:solidFill>
            <a:srgbClr val="0284C7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81099" y="4123181"/>
            <a:ext cx="10715625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推广：框架可迁移至共享电单车、网约车运力调度场景</a:t>
            </a:r>
          </a:p>
        </p:txBody>
      </p:sp>
      <p:sp>
        <p:nvSpPr>
          <p:cNvPr id="43" name="Rectangle 42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4305300"/>
            <a:ext cx="57149" cy="114300"/>
          </a:xfrm>
          <a:noFill/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0C8ED1">
                  <a:alpha val="15000"/>
                </a:srgbClr>
              </a:gs>
              <a:gs pos="100000">
                <a:srgbClr val="0C8ED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34B6F9">
                  <a:alpha val="10000"/>
                </a:srgbClr>
              </a:gs>
              <a:gs pos="100000">
                <a:srgbClr val="34B6F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0C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0C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-1447799" y="-1047749"/>
            <a:ext cx="3047999" cy="3047999"/>
          </a:xfrm>
          <a:prstGeom prst="ellipse">
            <a:avLst/>
          </a:prstGeom>
          <a:noFill/>
          <a:ln w="1524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647699" y="-1047749"/>
            <a:ext cx="3047999" cy="3047999"/>
          </a:xfrm>
          <a:prstGeom prst="ellipse">
            <a:avLst/>
          </a:prstGeom>
          <a:noFill/>
          <a:ln w="1524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custGeom>
            <a:pathLst>
              <a:path w="9591674" h="95">
                <a:moveTo>
                  <a:pt x="0" y="0"/>
                </a:moveTo>
                <a:lnTo>
                  <a:pt x="9591674" y="0"/>
                </a:lnTo>
              </a:path>
            </a:pathLst>
          </a:custGeom>
          <a:xfrm>
            <a:off x="1304924" y="4819650"/>
            <a:ext cx="9591674" cy="95"/>
          </a:xfrm>
          <a:noFill/>
          <a:ln w="1905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0C8ED1">
                  <a:alpha val="40000"/>
                </a:srgbClr>
              </a:gs>
              <a:gs pos="50000">
                <a:srgbClr val="0C8ED1">
                  <a:alpha val="90000"/>
                </a:srgbClr>
              </a:gs>
              <a:gs pos="100000">
                <a:srgbClr val="0C8ED1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75569">
                    <a:alpha val="70000"/>
                  </a:srgbClr>
                </a:solidFill>
                <a:latin typeface="Roboto"/>
                <a:ea typeface="Microsoft YaHei"/>
              </a:rPr>
              <a:t>14 / 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1074" y="1714500"/>
            <a:ext cx="10239374" cy="34290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90000"/>
                </a:srgbClr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7274" y="1790700"/>
            <a:ext cx="10086974" cy="327659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noFill/>
          <a:ln w="1524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24499" y="2019299"/>
            <a:ext cx="1142999" cy="228600"/>
          </a:xfrm>
          <a:prstGeom prst="roundRect">
            <a:avLst/>
          </a:prstGeom>
          <a:solidFill>
            <a:srgbClr val="0C8ED1">
              <a:alpha val="10000"/>
            </a:srgbClr>
          </a:solidFill>
          <a:ln w="1270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22999" y="2005203"/>
            <a:ext cx="1346001" cy="2262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25" b="1">
                <a:solidFill>
                  <a:srgbClr val="0C8ED1"/>
                </a:solidFill>
                <a:latin typeface="Roboto"/>
                <a:ea typeface="Microsoft YaHei"/>
              </a:rPr>
              <a:t>THANK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8718" y="2552319"/>
            <a:ext cx="2214562" cy="7381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4649" b="1">
                <a:solidFill>
                  <a:srgbClr val="0F172A"/>
                </a:solidFill>
                <a:latin typeface="Roboto"/>
                <a:ea typeface="Microsoft YaHei"/>
              </a:rPr>
              <a:t>总结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85354" y="3426713"/>
            <a:ext cx="8421290" cy="10477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50" b="0">
                <a:solidFill>
                  <a:srgbClr val="475569"/>
                </a:solidFill>
                <a:latin typeface="Roboto"/>
                <a:ea typeface="Microsoft YaHei"/>
              </a:rPr>
              <a:t>构建"GBRT 需求预测 + 整数规划调度 + 遗传算法求解"完整建模链条</a:t>
            </a:r>
          </a:p>
          <a:p>
            <a:pPr algn="ctr"/>
            <a:r>
              <a:rPr sz="1650" b="0">
                <a:solidFill>
                  <a:srgbClr val="475569"/>
                </a:solidFill>
                <a:latin typeface="Roboto"/>
                <a:ea typeface="Microsoft YaHei"/>
              </a:rPr>
              <a:t>高峰缺车率由 18.6% 降至 7.9%，调度成本下降 21.0%</a:t>
            </a:r>
          </a:p>
          <a:p>
            <a:pPr algn="ctr"/>
            <a:r>
              <a:rPr sz="1650" b="0">
                <a:solidFill>
                  <a:srgbClr val="475569"/>
                </a:solidFill>
                <a:latin typeface="Roboto"/>
                <a:ea typeface="Microsoft YaHei"/>
              </a:rPr>
              <a:t>灵敏度分析验证方案在需求波动下依然稳健</a:t>
            </a:r>
          </a:p>
          <a:p>
            <a:pPr algn="ctr"/>
            <a:r>
              <a:rPr sz="1650" b="0">
                <a:solidFill>
                  <a:srgbClr val="475569"/>
                </a:solidFill>
                <a:latin typeface="Roboto"/>
                <a:ea typeface="Microsoft YaHei"/>
              </a:rPr>
              <a:t>感谢评委老师，敬请批评指正！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